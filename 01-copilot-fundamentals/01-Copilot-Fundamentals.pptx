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C39A"/>
          </a:solidFill>
          <a:ln w="12700">
            <a:solidFill>
              <a:srgbClr val="02C39A"/>
            </a:solidFill>
            <a:prstDash val="solid"/>
          </a:ln>
        </p:spPr>
      </p:sp>
      <p:sp>
        <p:nvSpPr>
          <p:cNvPr id="3" name="Shape 1"/>
          <p:cNvSpPr/>
          <p:nvPr/>
        </p:nvSpPr>
        <p:spPr>
          <a:xfrm>
            <a:off x="7132320" y="-548640"/>
            <a:ext cx="3200400" cy="3200400"/>
          </a:xfrm>
          <a:prstGeom prst="ellipse">
            <a:avLst/>
          </a:prstGeom>
          <a:solidFill>
            <a:srgbClr val="028090">
              <a:alpha val="18000"/>
            </a:srgbClr>
          </a:solidFill>
          <a:ln w="12700">
            <a:solidFill>
              <a:srgbClr val="028090">
                <a:alpha val="18000"/>
              </a:srgbClr>
            </a:solidFill>
            <a:prstDash val="solid"/>
          </a:ln>
        </p:spPr>
      </p:sp>
      <p:sp>
        <p:nvSpPr>
          <p:cNvPr id="4" name="Shape 2"/>
          <p:cNvSpPr/>
          <p:nvPr/>
        </p:nvSpPr>
        <p:spPr>
          <a:xfrm>
            <a:off x="7772400" y="2926080"/>
            <a:ext cx="2011680" cy="2011680"/>
          </a:xfrm>
          <a:prstGeom prst="ellipse">
            <a:avLst/>
          </a:prstGeom>
          <a:solidFill>
            <a:srgbClr val="02C39A">
              <a:alpha val="12000"/>
            </a:srgbClr>
          </a:solidFill>
          <a:ln w="12700">
            <a:solidFill>
              <a:srgbClr val="02C39A">
                <a:alpha val="12000"/>
              </a:srgbClr>
            </a:solidFill>
            <a:prstDash val="solid"/>
          </a:ln>
        </p:spPr>
      </p:sp>
      <p:sp>
        <p:nvSpPr>
          <p:cNvPr id="5" name="Shape 3"/>
          <p:cNvSpPr/>
          <p:nvPr/>
        </p:nvSpPr>
        <p:spPr>
          <a:xfrm>
            <a:off x="640080" y="1280160"/>
            <a:ext cx="2926080" cy="292608"/>
          </a:xfrm>
          <a:prstGeom prst="rect">
            <a:avLst/>
          </a:prstGeom>
          <a:solidFill>
            <a:srgbClr val="028090"/>
          </a:solidFill>
          <a:ln w="12700">
            <a:solidFill>
              <a:srgbClr val="028090"/>
            </a:solidFill>
            <a:prstDash val="solid"/>
          </a:ln>
        </p:spPr>
      </p:sp>
      <p:sp>
        <p:nvSpPr>
          <p:cNvPr id="6" name="Text 4"/>
          <p:cNvSpPr/>
          <p:nvPr/>
        </p:nvSpPr>
        <p:spPr>
          <a:xfrm>
            <a:off x="640080" y="1280160"/>
            <a:ext cx="29260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M365 COPILOT WORKSHOP</a:t>
            </a:r>
            <a:endParaRPr lang="en-US" sz="900" dirty="0"/>
          </a:p>
        </p:txBody>
      </p:sp>
      <p:sp>
        <p:nvSpPr>
          <p:cNvPr id="7" name="Text 5"/>
          <p:cNvSpPr/>
          <p:nvPr/>
        </p:nvSpPr>
        <p:spPr>
          <a:xfrm>
            <a:off x="640080" y="1691640"/>
            <a:ext cx="6858000" cy="1691640"/>
          </a:xfrm>
          <a:prstGeom prst="rect">
            <a:avLst/>
          </a:prstGeom>
          <a:noFill/>
          <a:ln/>
        </p:spPr>
        <p:txBody>
          <a:bodyPr wrap="square" rtlCol="0" anchor="ctr"/>
          <a:lstStyle/>
          <a:p>
            <a:pPr indent="0" marL="0">
              <a:buNone/>
            </a:pPr>
            <a:r>
              <a:rPr lang="en-US" sz="5400" b="1" dirty="0">
                <a:solidFill>
                  <a:srgbClr val="FFFFFF"/>
                </a:solidFill>
                <a:latin typeface="Trebuchet MS" pitchFamily="34" charset="0"/>
                <a:ea typeface="Trebuchet MS" pitchFamily="34" charset="-122"/>
                <a:cs typeface="Trebuchet MS" pitchFamily="34" charset="-120"/>
              </a:rPr>
              <a:t>Copilot</a:t>
            </a:r>
            <a:endParaRPr lang="en-US" sz="5400" dirty="0"/>
          </a:p>
          <a:p>
            <a:pPr indent="0" marL="0">
              <a:buNone/>
            </a:pPr>
            <a:r>
              <a:rPr lang="en-US" sz="5400" b="1" dirty="0">
                <a:solidFill>
                  <a:srgbClr val="FFFFFF"/>
                </a:solidFill>
                <a:latin typeface="Trebuchet MS" pitchFamily="34" charset="0"/>
                <a:ea typeface="Trebuchet MS" pitchFamily="34" charset="-122"/>
                <a:cs typeface="Trebuchet MS" pitchFamily="34" charset="-120"/>
              </a:rPr>
              <a:t>Fundamentals</a:t>
            </a:r>
            <a:endParaRPr lang="en-US" sz="5400" dirty="0"/>
          </a:p>
        </p:txBody>
      </p:sp>
      <p:sp>
        <p:nvSpPr>
          <p:cNvPr id="8" name="Text 6"/>
          <p:cNvSpPr/>
          <p:nvPr/>
        </p:nvSpPr>
        <p:spPr>
          <a:xfrm>
            <a:off x="640080" y="3429000"/>
            <a:ext cx="18288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Topic 01</a:t>
            </a:r>
            <a:endParaRPr lang="en-US" sz="1300" dirty="0"/>
          </a:p>
        </p:txBody>
      </p:sp>
      <p:sp>
        <p:nvSpPr>
          <p:cNvPr id="9" name="Text 7"/>
          <p:cNvSpPr/>
          <p:nvPr/>
        </p:nvSpPr>
        <p:spPr>
          <a:xfrm>
            <a:off x="640080" y="3794760"/>
            <a:ext cx="7315200" cy="320040"/>
          </a:xfrm>
          <a:prstGeom prst="rect">
            <a:avLst/>
          </a:prstGeom>
          <a:noFill/>
          <a:ln/>
        </p:spPr>
        <p:txBody>
          <a:bodyPr wrap="square" rtlCol="0" anchor="ctr"/>
          <a:lstStyle/>
          <a:p>
            <a:pPr indent="0" marL="0">
              <a:buNone/>
            </a:pPr>
            <a:r>
              <a:rPr lang="en-US" sz="1300" i="1" dirty="0">
                <a:solidFill>
                  <a:srgbClr val="8A9BB0"/>
                </a:solidFill>
                <a:latin typeface="Calibri" pitchFamily="34" charset="0"/>
                <a:ea typeface="Calibri" pitchFamily="34" charset="-122"/>
                <a:cs typeface="Calibri" pitchFamily="34" charset="-120"/>
              </a:rPr>
              <a:t>What Copilot is · Licensing · Key AI terms</a:t>
            </a:r>
            <a:endParaRPr lang="en-US" sz="1300" dirty="0"/>
          </a:p>
        </p:txBody>
      </p:sp>
      <p:sp>
        <p:nvSpPr>
          <p:cNvPr id="10" name="Text 8"/>
          <p:cNvSpPr/>
          <p:nvPr/>
        </p:nvSpPr>
        <p:spPr>
          <a:xfrm>
            <a:off x="640080" y="4663440"/>
            <a:ext cx="4572000" cy="228600"/>
          </a:xfrm>
          <a:prstGeom prst="rect">
            <a:avLst/>
          </a:prstGeom>
          <a:noFill/>
          <a:ln/>
        </p:spPr>
        <p:txBody>
          <a:bodyPr wrap="square" rtlCol="0" anchor="ctr"/>
          <a:lstStyle/>
          <a:p>
            <a:pPr indent="0" marL="0">
              <a:buNone/>
            </a:pPr>
            <a:r>
              <a:rPr lang="en-US" sz="900" dirty="0">
                <a:solidFill>
                  <a:srgbClr val="8A9BB0"/>
                </a:solidFill>
                <a:latin typeface="Calibri" pitchFamily="34" charset="0"/>
                <a:ea typeface="Calibri" pitchFamily="34" charset="-122"/>
                <a:cs typeface="Calibri" pitchFamily="34" charset="-120"/>
              </a:rPr>
              <a:t>Trainer: Asraf  |  May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TOPIC 01 — COPILOT FUNDAMENTALS</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What We Will Cover</a:t>
            </a:r>
            <a:endParaRPr lang="en-US" sz="2800" dirty="0"/>
          </a:p>
        </p:txBody>
      </p:sp>
      <p:sp>
        <p:nvSpPr>
          <p:cNvPr id="5" name="Text 3"/>
          <p:cNvSpPr/>
          <p:nvPr/>
        </p:nvSpPr>
        <p:spPr>
          <a:xfrm>
            <a:off x="457200" y="1078992"/>
            <a:ext cx="8229600" cy="320040"/>
          </a:xfrm>
          <a:prstGeom prst="rect">
            <a:avLst/>
          </a:prstGeom>
          <a:noFill/>
          <a:ln/>
        </p:spPr>
        <p:txBody>
          <a:bodyPr wrap="square" lIns="0" tIns="0" rIns="0" bIns="0" rtlCol="0" anchor="ctr"/>
          <a:lstStyle/>
          <a:p>
            <a:pPr indent="0" marL="0">
              <a:buNone/>
            </a:pPr>
            <a:r>
              <a:rPr lang="en-US" sz="1400" i="1" dirty="0">
                <a:solidFill>
                  <a:srgbClr val="4A5568"/>
                </a:solidFill>
                <a:latin typeface="Calibri" pitchFamily="34" charset="0"/>
                <a:ea typeface="Calibri" pitchFamily="34" charset="-122"/>
                <a:cs typeface="Calibri" pitchFamily="34" charset="-120"/>
              </a:rPr>
              <a:t>Three building blocks for everything that follows</a:t>
            </a:r>
            <a:endParaRPr lang="en-US" sz="1400" dirty="0"/>
          </a:p>
        </p:txBody>
      </p:sp>
      <p:sp>
        <p:nvSpPr>
          <p:cNvPr id="6" name="Shape 4"/>
          <p:cNvSpPr/>
          <p:nvPr/>
        </p:nvSpPr>
        <p:spPr>
          <a:xfrm>
            <a:off x="457200" y="1417320"/>
            <a:ext cx="8229600" cy="22860"/>
          </a:xfrm>
          <a:prstGeom prst="rect">
            <a:avLst/>
          </a:prstGeom>
          <a:solidFill>
            <a:srgbClr val="CADCFC"/>
          </a:solidFill>
          <a:ln w="12700">
            <a:solidFill>
              <a:srgbClr val="CADCFC"/>
            </a:solidFill>
            <a:prstDash val="solid"/>
          </a:ln>
        </p:spPr>
      </p:sp>
      <p:sp>
        <p:nvSpPr>
          <p:cNvPr id="7" name="Shape 5"/>
          <p:cNvSpPr/>
          <p:nvPr/>
        </p:nvSpPr>
        <p:spPr>
          <a:xfrm>
            <a:off x="457200" y="1645920"/>
            <a:ext cx="594360" cy="594360"/>
          </a:xfrm>
          <a:prstGeom prst="ellipse">
            <a:avLst/>
          </a:prstGeom>
          <a:solidFill>
            <a:srgbClr val="1E2761"/>
          </a:solidFill>
          <a:ln w="12700">
            <a:solidFill>
              <a:srgbClr val="1E2761"/>
            </a:solidFill>
            <a:prstDash val="solid"/>
          </a:ln>
        </p:spPr>
      </p:sp>
      <p:sp>
        <p:nvSpPr>
          <p:cNvPr id="8" name="Text 6"/>
          <p:cNvSpPr/>
          <p:nvPr/>
        </p:nvSpPr>
        <p:spPr>
          <a:xfrm>
            <a:off x="457200" y="1645920"/>
            <a:ext cx="594360" cy="594360"/>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01</a:t>
            </a:r>
            <a:endParaRPr lang="en-US" sz="1500" dirty="0"/>
          </a:p>
        </p:txBody>
      </p:sp>
      <p:sp>
        <p:nvSpPr>
          <p:cNvPr id="9" name="Text 7"/>
          <p:cNvSpPr/>
          <p:nvPr/>
        </p:nvSpPr>
        <p:spPr>
          <a:xfrm>
            <a:off x="1234440" y="1600200"/>
            <a:ext cx="7406640" cy="329184"/>
          </a:xfrm>
          <a:prstGeom prst="rect">
            <a:avLst/>
          </a:prstGeom>
          <a:noFill/>
          <a:ln/>
        </p:spPr>
        <p:txBody>
          <a:bodyPr wrap="square" lIns="0" tIns="0" rIns="0" bIns="0" rtlCol="0" anchor="ctr"/>
          <a:lstStyle/>
          <a:p>
            <a:pPr indent="0" marL="0">
              <a:buNone/>
            </a:pPr>
            <a:r>
              <a:rPr lang="en-US" sz="1700" b="1" dirty="0">
                <a:solidFill>
                  <a:srgbClr val="1E2761"/>
                </a:solidFill>
                <a:latin typeface="Trebuchet MS" pitchFamily="34" charset="0"/>
                <a:ea typeface="Trebuchet MS" pitchFamily="34" charset="-122"/>
                <a:cs typeface="Trebuchet MS" pitchFamily="34" charset="-120"/>
              </a:rPr>
              <a:t>What is Microsoft 365 Copilot?</a:t>
            </a:r>
            <a:endParaRPr lang="en-US" sz="1700" dirty="0"/>
          </a:p>
        </p:txBody>
      </p:sp>
      <p:sp>
        <p:nvSpPr>
          <p:cNvPr id="10" name="Text 8"/>
          <p:cNvSpPr/>
          <p:nvPr/>
        </p:nvSpPr>
        <p:spPr>
          <a:xfrm>
            <a:off x="1234440" y="1947672"/>
            <a:ext cx="7406640" cy="292608"/>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Where it lives, what it does, how it connects to your Microsoft 365 data</a:t>
            </a:r>
            <a:endParaRPr lang="en-US" sz="1200" dirty="0"/>
          </a:p>
        </p:txBody>
      </p:sp>
      <p:sp>
        <p:nvSpPr>
          <p:cNvPr id="11" name="Shape 9"/>
          <p:cNvSpPr/>
          <p:nvPr/>
        </p:nvSpPr>
        <p:spPr>
          <a:xfrm>
            <a:off x="457200" y="2743200"/>
            <a:ext cx="594360" cy="594360"/>
          </a:xfrm>
          <a:prstGeom prst="ellipse">
            <a:avLst/>
          </a:prstGeom>
          <a:solidFill>
            <a:srgbClr val="1E2761"/>
          </a:solidFill>
          <a:ln w="12700">
            <a:solidFill>
              <a:srgbClr val="1E2761"/>
            </a:solidFill>
            <a:prstDash val="solid"/>
          </a:ln>
        </p:spPr>
      </p:sp>
      <p:sp>
        <p:nvSpPr>
          <p:cNvPr id="12" name="Text 10"/>
          <p:cNvSpPr/>
          <p:nvPr/>
        </p:nvSpPr>
        <p:spPr>
          <a:xfrm>
            <a:off x="457200" y="2743200"/>
            <a:ext cx="594360" cy="594360"/>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02</a:t>
            </a:r>
            <a:endParaRPr lang="en-US" sz="1500" dirty="0"/>
          </a:p>
        </p:txBody>
      </p:sp>
      <p:sp>
        <p:nvSpPr>
          <p:cNvPr id="13" name="Text 11"/>
          <p:cNvSpPr/>
          <p:nvPr/>
        </p:nvSpPr>
        <p:spPr>
          <a:xfrm>
            <a:off x="1234440" y="2697480"/>
            <a:ext cx="7406640" cy="329184"/>
          </a:xfrm>
          <a:prstGeom prst="rect">
            <a:avLst/>
          </a:prstGeom>
          <a:noFill/>
          <a:ln/>
        </p:spPr>
        <p:txBody>
          <a:bodyPr wrap="square" lIns="0" tIns="0" rIns="0" bIns="0" rtlCol="0" anchor="ctr"/>
          <a:lstStyle/>
          <a:p>
            <a:pPr indent="0" marL="0">
              <a:buNone/>
            </a:pPr>
            <a:r>
              <a:rPr lang="en-US" sz="1700" b="1" dirty="0">
                <a:solidFill>
                  <a:srgbClr val="1E2761"/>
                </a:solidFill>
                <a:latin typeface="Trebuchet MS" pitchFamily="34" charset="0"/>
                <a:ea typeface="Trebuchet MS" pitchFamily="34" charset="-122"/>
                <a:cs typeface="Trebuchet MS" pitchFamily="34" charset="-120"/>
              </a:rPr>
              <a:t>Licensing Tiers</a:t>
            </a:r>
            <a:endParaRPr lang="en-US" sz="1700" dirty="0"/>
          </a:p>
        </p:txBody>
      </p:sp>
      <p:sp>
        <p:nvSpPr>
          <p:cNvPr id="14" name="Text 12"/>
          <p:cNvSpPr/>
          <p:nvPr/>
        </p:nvSpPr>
        <p:spPr>
          <a:xfrm>
            <a:off x="1234440" y="3044952"/>
            <a:ext cx="7406640" cy="292608"/>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Free vs paid — what you actually get with each, and why the difference matters</a:t>
            </a:r>
            <a:endParaRPr lang="en-US" sz="1200" dirty="0"/>
          </a:p>
        </p:txBody>
      </p:sp>
      <p:sp>
        <p:nvSpPr>
          <p:cNvPr id="15" name="Shape 13"/>
          <p:cNvSpPr/>
          <p:nvPr/>
        </p:nvSpPr>
        <p:spPr>
          <a:xfrm>
            <a:off x="457200" y="3840480"/>
            <a:ext cx="594360" cy="594360"/>
          </a:xfrm>
          <a:prstGeom prst="ellipse">
            <a:avLst/>
          </a:prstGeom>
          <a:solidFill>
            <a:srgbClr val="1E2761"/>
          </a:solidFill>
          <a:ln w="12700">
            <a:solidFill>
              <a:srgbClr val="1E2761"/>
            </a:solidFill>
            <a:prstDash val="solid"/>
          </a:ln>
        </p:spPr>
      </p:sp>
      <p:sp>
        <p:nvSpPr>
          <p:cNvPr id="16" name="Text 14"/>
          <p:cNvSpPr/>
          <p:nvPr/>
        </p:nvSpPr>
        <p:spPr>
          <a:xfrm>
            <a:off x="457200" y="3840480"/>
            <a:ext cx="594360" cy="594360"/>
          </a:xfrm>
          <a:prstGeom prst="rect">
            <a:avLst/>
          </a:prstGeom>
          <a:noFill/>
          <a:ln/>
        </p:spPr>
        <p:txBody>
          <a:bodyPr wrap="square" lIns="0" tIns="0" rIns="0" bIns="0"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03</a:t>
            </a:r>
            <a:endParaRPr lang="en-US" sz="1500" dirty="0"/>
          </a:p>
        </p:txBody>
      </p:sp>
      <p:sp>
        <p:nvSpPr>
          <p:cNvPr id="17" name="Text 15"/>
          <p:cNvSpPr/>
          <p:nvPr/>
        </p:nvSpPr>
        <p:spPr>
          <a:xfrm>
            <a:off x="1234440" y="3794760"/>
            <a:ext cx="7406640" cy="329184"/>
          </a:xfrm>
          <a:prstGeom prst="rect">
            <a:avLst/>
          </a:prstGeom>
          <a:noFill/>
          <a:ln/>
        </p:spPr>
        <p:txBody>
          <a:bodyPr wrap="square" lIns="0" tIns="0" rIns="0" bIns="0" rtlCol="0" anchor="ctr"/>
          <a:lstStyle/>
          <a:p>
            <a:pPr indent="0" marL="0">
              <a:buNone/>
            </a:pPr>
            <a:r>
              <a:rPr lang="en-US" sz="1700" b="1" dirty="0">
                <a:solidFill>
                  <a:srgbClr val="1E2761"/>
                </a:solidFill>
                <a:latin typeface="Trebuchet MS" pitchFamily="34" charset="0"/>
                <a:ea typeface="Trebuchet MS" pitchFamily="34" charset="-122"/>
                <a:cs typeface="Trebuchet MS" pitchFamily="34" charset="-120"/>
              </a:rPr>
              <a:t>Key AI Terminology</a:t>
            </a:r>
            <a:endParaRPr lang="en-US" sz="1700" dirty="0"/>
          </a:p>
        </p:txBody>
      </p:sp>
      <p:sp>
        <p:nvSpPr>
          <p:cNvPr id="18" name="Text 16"/>
          <p:cNvSpPr/>
          <p:nvPr/>
        </p:nvSpPr>
        <p:spPr>
          <a:xfrm>
            <a:off x="1234440" y="4142232"/>
            <a:ext cx="7406640" cy="292608"/>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LLM, GenAI, RAG, tokens, hallucination, agentic AI — in plain language</a:t>
            </a:r>
            <a:endParaRPr lang="en-US" sz="1200" dirty="0"/>
          </a:p>
        </p:txBody>
      </p:sp>
      <p:sp>
        <p:nvSpPr>
          <p:cNvPr id="19" name="Text 17"/>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WHAT IS COPILOT?</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Your AI Assistant, Built Into Your Apps</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Text 4"/>
          <p:cNvSpPr/>
          <p:nvPr/>
        </p:nvSpPr>
        <p:spPr>
          <a:xfrm>
            <a:off x="457200" y="1554480"/>
            <a:ext cx="4114800" cy="822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Microsoft 365 Copilot is an AI assistant embedded directly into the apps you already use — Word, Excel, Outlook, PowerPoint, Teams, and more.</a:t>
            </a:r>
            <a:endParaRPr lang="en-US" sz="1300" dirty="0"/>
          </a:p>
        </p:txBody>
      </p:sp>
      <p:sp>
        <p:nvSpPr>
          <p:cNvPr id="7" name="Text 5"/>
          <p:cNvSpPr/>
          <p:nvPr/>
        </p:nvSpPr>
        <p:spPr>
          <a:xfrm>
            <a:off x="457200" y="2395728"/>
            <a:ext cx="4114800" cy="5486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It understands natural language. You describe what you want, it does the work.</a:t>
            </a:r>
            <a:endParaRPr lang="en-US" sz="1300" dirty="0"/>
          </a:p>
        </p:txBody>
      </p:sp>
      <p:sp>
        <p:nvSpPr>
          <p:cNvPr id="8" name="Shape 6"/>
          <p:cNvSpPr/>
          <p:nvPr/>
        </p:nvSpPr>
        <p:spPr>
          <a:xfrm>
            <a:off x="457200" y="3017520"/>
            <a:ext cx="4114800" cy="1371600"/>
          </a:xfrm>
          <a:prstGeom prst="rect">
            <a:avLst/>
          </a:prstGeom>
          <a:solidFill>
            <a:srgbClr val="E0F4F7"/>
          </a:solidFill>
          <a:ln w="12700">
            <a:solidFill>
              <a:srgbClr val="028090"/>
            </a:solidFill>
            <a:prstDash val="solid"/>
          </a:ln>
        </p:spPr>
      </p:sp>
      <p:sp>
        <p:nvSpPr>
          <p:cNvPr id="9" name="Shape 7"/>
          <p:cNvSpPr/>
          <p:nvPr/>
        </p:nvSpPr>
        <p:spPr>
          <a:xfrm>
            <a:off x="457200" y="3017520"/>
            <a:ext cx="91440" cy="1371600"/>
          </a:xfrm>
          <a:prstGeom prst="rect">
            <a:avLst/>
          </a:prstGeom>
          <a:solidFill>
            <a:srgbClr val="028090"/>
          </a:solidFill>
          <a:ln w="12700">
            <a:solidFill>
              <a:srgbClr val="028090"/>
            </a:solidFill>
            <a:prstDash val="solid"/>
          </a:ln>
        </p:spPr>
      </p:sp>
      <p:sp>
        <p:nvSpPr>
          <p:cNvPr id="10" name="Text 8"/>
          <p:cNvSpPr/>
          <p:nvPr/>
        </p:nvSpPr>
        <p:spPr>
          <a:xfrm>
            <a:off x="640080" y="3108960"/>
            <a:ext cx="3840480" cy="1188720"/>
          </a:xfrm>
          <a:prstGeom prst="rect">
            <a:avLst/>
          </a:prstGeom>
          <a:noFill/>
          <a:ln/>
        </p:spPr>
        <p:txBody>
          <a:bodyPr wrap="square" rtlCol="0" anchor="ctr"/>
          <a:lstStyle/>
          <a:p>
            <a:pPr indent="0" marL="0">
              <a:buNone/>
            </a:pPr>
            <a:r>
              <a:rPr lang="en-US" sz="1200" i="1" dirty="0">
                <a:solidFill>
                  <a:srgbClr val="1A1A2E"/>
                </a:solidFill>
                <a:latin typeface="Calibri" pitchFamily="34" charset="0"/>
                <a:ea typeface="Calibri" pitchFamily="34" charset="-122"/>
                <a:cs typeface="Calibri" pitchFamily="34" charset="-120"/>
              </a:rPr>
              <a:t>Think of it as a smart assistant that reads your emails, knows your files, and helps you write, summarise, and analyse — all without leaving your app.</a:t>
            </a:r>
            <a:endParaRPr lang="en-US" sz="1200" dirty="0"/>
          </a:p>
        </p:txBody>
      </p:sp>
      <p:sp>
        <p:nvSpPr>
          <p:cNvPr id="11" name="Text 9"/>
          <p:cNvSpPr/>
          <p:nvPr/>
        </p:nvSpPr>
        <p:spPr>
          <a:xfrm>
            <a:off x="4937760" y="1554480"/>
            <a:ext cx="3657600" cy="274320"/>
          </a:xfrm>
          <a:prstGeom prst="rect">
            <a:avLst/>
          </a:prstGeom>
          <a:noFill/>
          <a:ln/>
        </p:spPr>
        <p:txBody>
          <a:bodyPr wrap="square" rtlCol="0" anchor="ctr"/>
          <a:lstStyle/>
          <a:p>
            <a:pPr indent="0" marL="0">
              <a:buNone/>
            </a:pPr>
            <a:r>
              <a:rPr lang="en-US" sz="1200" b="1" dirty="0">
                <a:solidFill>
                  <a:srgbClr val="4A5568"/>
                </a:solidFill>
                <a:latin typeface="Calibri" pitchFamily="34" charset="0"/>
                <a:ea typeface="Calibri" pitchFamily="34" charset="-122"/>
                <a:cs typeface="Calibri" pitchFamily="34" charset="-120"/>
              </a:rPr>
              <a:t>Works across:</a:t>
            </a:r>
            <a:endParaRPr lang="en-US" sz="1200" dirty="0"/>
          </a:p>
        </p:txBody>
      </p:sp>
      <p:sp>
        <p:nvSpPr>
          <p:cNvPr id="12" name="Shape 10"/>
          <p:cNvSpPr/>
          <p:nvPr/>
        </p:nvSpPr>
        <p:spPr>
          <a:xfrm>
            <a:off x="4937760" y="1920240"/>
            <a:ext cx="1783080" cy="658368"/>
          </a:xfrm>
          <a:prstGeom prst="rect">
            <a:avLst/>
          </a:prstGeom>
          <a:solidFill>
            <a:srgbClr val="1E2761"/>
          </a:solidFill>
          <a:ln w="12700">
            <a:solidFill>
              <a:srgbClr val="1E2761"/>
            </a:solidFill>
            <a:prstDash val="solid"/>
          </a:ln>
          <a:effectLst>
            <a:outerShdw sx="100000" sy="100000" kx="0" ky="0" algn="bl" rotWithShape="0" blurRad="50800" dist="25400" dir="8100000">
              <a:srgbClr val="000000">
                <a:alpha val="10000"/>
              </a:srgbClr>
            </a:outerShdw>
          </a:effectLst>
        </p:spPr>
      </p:sp>
      <p:sp>
        <p:nvSpPr>
          <p:cNvPr id="13" name="Text 11"/>
          <p:cNvSpPr/>
          <p:nvPr/>
        </p:nvSpPr>
        <p:spPr>
          <a:xfrm>
            <a:off x="4937760" y="192024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Word</a:t>
            </a:r>
            <a:endParaRPr lang="en-US" sz="1300" dirty="0"/>
          </a:p>
        </p:txBody>
      </p:sp>
      <p:sp>
        <p:nvSpPr>
          <p:cNvPr id="14" name="Shape 12"/>
          <p:cNvSpPr/>
          <p:nvPr/>
        </p:nvSpPr>
        <p:spPr>
          <a:xfrm>
            <a:off x="6903720" y="1920240"/>
            <a:ext cx="1783080" cy="658368"/>
          </a:xfrm>
          <a:prstGeom prst="rect">
            <a:avLst/>
          </a:prstGeom>
          <a:solidFill>
            <a:srgbClr val="1D6F42"/>
          </a:solidFill>
          <a:ln w="12700">
            <a:solidFill>
              <a:srgbClr val="1D6F42"/>
            </a:solidFill>
            <a:prstDash val="solid"/>
          </a:ln>
          <a:effectLst>
            <a:outerShdw sx="100000" sy="100000" kx="0" ky="0" algn="bl" rotWithShape="0" blurRad="50800" dist="25400" dir="8100000">
              <a:srgbClr val="000000">
                <a:alpha val="10000"/>
              </a:srgbClr>
            </a:outerShdw>
          </a:effectLst>
        </p:spPr>
      </p:sp>
      <p:sp>
        <p:nvSpPr>
          <p:cNvPr id="15" name="Text 13"/>
          <p:cNvSpPr/>
          <p:nvPr/>
        </p:nvSpPr>
        <p:spPr>
          <a:xfrm>
            <a:off x="6903720" y="192024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Excel</a:t>
            </a:r>
            <a:endParaRPr lang="en-US" sz="1300" dirty="0"/>
          </a:p>
        </p:txBody>
      </p:sp>
      <p:sp>
        <p:nvSpPr>
          <p:cNvPr id="16" name="Shape 14"/>
          <p:cNvSpPr/>
          <p:nvPr/>
        </p:nvSpPr>
        <p:spPr>
          <a:xfrm>
            <a:off x="4937760" y="2788920"/>
            <a:ext cx="1783080" cy="658368"/>
          </a:xfrm>
          <a:prstGeom prst="rect">
            <a:avLst/>
          </a:prstGeom>
          <a:solidFill>
            <a:srgbClr val="0078D4"/>
          </a:solidFill>
          <a:ln w="12700">
            <a:solidFill>
              <a:srgbClr val="0078D4"/>
            </a:solidFill>
            <a:prstDash val="solid"/>
          </a:ln>
          <a:effectLst>
            <a:outerShdw sx="100000" sy="100000" kx="0" ky="0" algn="bl" rotWithShape="0" blurRad="50800" dist="25400" dir="8100000">
              <a:srgbClr val="000000">
                <a:alpha val="10000"/>
              </a:srgbClr>
            </a:outerShdw>
          </a:effectLst>
        </p:spPr>
      </p:sp>
      <p:sp>
        <p:nvSpPr>
          <p:cNvPr id="17" name="Text 15"/>
          <p:cNvSpPr/>
          <p:nvPr/>
        </p:nvSpPr>
        <p:spPr>
          <a:xfrm>
            <a:off x="4937760" y="278892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Outlook</a:t>
            </a:r>
            <a:endParaRPr lang="en-US" sz="1300" dirty="0"/>
          </a:p>
        </p:txBody>
      </p:sp>
      <p:sp>
        <p:nvSpPr>
          <p:cNvPr id="18" name="Shape 16"/>
          <p:cNvSpPr/>
          <p:nvPr/>
        </p:nvSpPr>
        <p:spPr>
          <a:xfrm>
            <a:off x="6903720" y="2788920"/>
            <a:ext cx="1783080" cy="658368"/>
          </a:xfrm>
          <a:prstGeom prst="rect">
            <a:avLst/>
          </a:prstGeom>
          <a:solidFill>
            <a:srgbClr val="C43E1C"/>
          </a:solidFill>
          <a:ln w="12700">
            <a:solidFill>
              <a:srgbClr val="C43E1C"/>
            </a:solidFill>
            <a:prstDash val="solid"/>
          </a:ln>
          <a:effectLst>
            <a:outerShdw sx="100000" sy="100000" kx="0" ky="0" algn="bl" rotWithShape="0" blurRad="50800" dist="25400" dir="8100000">
              <a:srgbClr val="000000">
                <a:alpha val="10000"/>
              </a:srgbClr>
            </a:outerShdw>
          </a:effectLst>
        </p:spPr>
      </p:sp>
      <p:sp>
        <p:nvSpPr>
          <p:cNvPr id="19" name="Text 17"/>
          <p:cNvSpPr/>
          <p:nvPr/>
        </p:nvSpPr>
        <p:spPr>
          <a:xfrm>
            <a:off x="6903720" y="278892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PowerPoint</a:t>
            </a:r>
            <a:endParaRPr lang="en-US" sz="1300" dirty="0"/>
          </a:p>
        </p:txBody>
      </p:sp>
      <p:sp>
        <p:nvSpPr>
          <p:cNvPr id="20" name="Shape 18"/>
          <p:cNvSpPr/>
          <p:nvPr/>
        </p:nvSpPr>
        <p:spPr>
          <a:xfrm>
            <a:off x="4937760" y="3657600"/>
            <a:ext cx="1783080" cy="658368"/>
          </a:xfrm>
          <a:prstGeom prst="rect">
            <a:avLst/>
          </a:prstGeom>
          <a:solidFill>
            <a:srgbClr val="5558AF"/>
          </a:solidFill>
          <a:ln w="12700">
            <a:solidFill>
              <a:srgbClr val="5558AF"/>
            </a:solidFill>
            <a:prstDash val="solid"/>
          </a:ln>
          <a:effectLst>
            <a:outerShdw sx="100000" sy="100000" kx="0" ky="0" algn="bl" rotWithShape="0" blurRad="50800" dist="25400" dir="8100000">
              <a:srgbClr val="000000">
                <a:alpha val="10000"/>
              </a:srgbClr>
            </a:outerShdw>
          </a:effectLst>
        </p:spPr>
      </p:sp>
      <p:sp>
        <p:nvSpPr>
          <p:cNvPr id="21" name="Text 19"/>
          <p:cNvSpPr/>
          <p:nvPr/>
        </p:nvSpPr>
        <p:spPr>
          <a:xfrm>
            <a:off x="4937760" y="365760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Teams</a:t>
            </a:r>
            <a:endParaRPr lang="en-US" sz="1300" dirty="0"/>
          </a:p>
        </p:txBody>
      </p:sp>
      <p:sp>
        <p:nvSpPr>
          <p:cNvPr id="22" name="Shape 20"/>
          <p:cNvSpPr/>
          <p:nvPr/>
        </p:nvSpPr>
        <p:spPr>
          <a:xfrm>
            <a:off x="6903720" y="3657600"/>
            <a:ext cx="1783080" cy="658368"/>
          </a:xfrm>
          <a:prstGeom prst="rect">
            <a:avLst/>
          </a:prstGeom>
          <a:solidFill>
            <a:srgbClr val="028090"/>
          </a:solidFill>
          <a:ln w="12700">
            <a:solidFill>
              <a:srgbClr val="028090"/>
            </a:solidFill>
            <a:prstDash val="solid"/>
          </a:ln>
          <a:effectLst>
            <a:outerShdw sx="100000" sy="100000" kx="0" ky="0" algn="bl" rotWithShape="0" blurRad="50800" dist="25400" dir="8100000">
              <a:srgbClr val="000000">
                <a:alpha val="10000"/>
              </a:srgbClr>
            </a:outerShdw>
          </a:effectLst>
        </p:spPr>
      </p:sp>
      <p:sp>
        <p:nvSpPr>
          <p:cNvPr id="23" name="Text 21"/>
          <p:cNvSpPr/>
          <p:nvPr/>
        </p:nvSpPr>
        <p:spPr>
          <a:xfrm>
            <a:off x="6903720" y="3657600"/>
            <a:ext cx="17830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Copilot Chat</a:t>
            </a:r>
            <a:endParaRPr lang="en-US" sz="1300" dirty="0"/>
          </a:p>
        </p:txBody>
      </p:sp>
      <p:sp>
        <p:nvSpPr>
          <p:cNvPr id="24" name="Text 22"/>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LICENSING</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Two Tiers — One Big Difference</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54480"/>
            <a:ext cx="3931920" cy="3246120"/>
          </a:xfrm>
          <a:prstGeom prst="rect">
            <a:avLst/>
          </a:prstGeom>
          <a:solidFill>
            <a:srgbClr val="FFFFFF"/>
          </a:solidFill>
          <a:ln w="12700">
            <a:solidFill>
              <a:srgbClr val="D1D5DB"/>
            </a:solidFill>
            <a:prstDash val="solid"/>
          </a:ln>
          <a:effectLst>
            <a:outerShdw sx="100000" sy="100000" kx="0" ky="0" algn="bl" rotWithShape="0" blurRad="63500" dist="25400" dir="8100000">
              <a:srgbClr val="000000">
                <a:alpha val="8000"/>
              </a:srgbClr>
            </a:outerShdw>
          </a:effectLst>
        </p:spPr>
      </p:sp>
      <p:sp>
        <p:nvSpPr>
          <p:cNvPr id="7" name="Shape 5"/>
          <p:cNvSpPr/>
          <p:nvPr/>
        </p:nvSpPr>
        <p:spPr>
          <a:xfrm>
            <a:off x="457200" y="1554480"/>
            <a:ext cx="3931920" cy="475488"/>
          </a:xfrm>
          <a:prstGeom prst="rect">
            <a:avLst/>
          </a:prstGeom>
          <a:solidFill>
            <a:srgbClr val="E5E7EB"/>
          </a:solidFill>
          <a:ln w="12700">
            <a:solidFill>
              <a:srgbClr val="D1D5DB"/>
            </a:solidFill>
            <a:prstDash val="solid"/>
          </a:ln>
        </p:spPr>
      </p:sp>
      <p:sp>
        <p:nvSpPr>
          <p:cNvPr id="8" name="Text 6"/>
          <p:cNvSpPr/>
          <p:nvPr/>
        </p:nvSpPr>
        <p:spPr>
          <a:xfrm>
            <a:off x="548640" y="1572768"/>
            <a:ext cx="3474720" cy="228600"/>
          </a:xfrm>
          <a:prstGeom prst="rect">
            <a:avLst/>
          </a:prstGeom>
          <a:noFill/>
          <a:ln/>
        </p:spPr>
        <p:txBody>
          <a:bodyPr wrap="square" lIns="0" tIns="0" rIns="0" bIns="0" rtlCol="0" anchor="ctr"/>
          <a:lstStyle/>
          <a:p>
            <a:pPr indent="0" marL="0">
              <a:buNone/>
            </a:pPr>
            <a:r>
              <a:rPr lang="en-US" sz="1500" b="1" dirty="0">
                <a:solidFill>
                  <a:srgbClr val="1A1A2E"/>
                </a:solidFill>
                <a:latin typeface="Trebuchet MS" pitchFamily="34" charset="0"/>
                <a:ea typeface="Trebuchet MS" pitchFamily="34" charset="-122"/>
                <a:cs typeface="Trebuchet MS" pitchFamily="34" charset="-120"/>
              </a:rPr>
              <a:t>Microsoft Copilot</a:t>
            </a:r>
            <a:endParaRPr lang="en-US" sz="1500" dirty="0"/>
          </a:p>
        </p:txBody>
      </p:sp>
      <p:sp>
        <p:nvSpPr>
          <p:cNvPr id="9" name="Text 7"/>
          <p:cNvSpPr/>
          <p:nvPr/>
        </p:nvSpPr>
        <p:spPr>
          <a:xfrm>
            <a:off x="548640" y="1801368"/>
            <a:ext cx="3474720" cy="182880"/>
          </a:xfrm>
          <a:prstGeom prst="rect">
            <a:avLst/>
          </a:prstGeom>
          <a:noFill/>
          <a:ln/>
        </p:spPr>
        <p:txBody>
          <a:bodyPr wrap="square" lIns="0" tIns="0" rIns="0" bIns="0" rtlCol="0" anchor="ctr"/>
          <a:lstStyle/>
          <a:p>
            <a:pPr indent="0" marL="0">
              <a:buNone/>
            </a:pPr>
            <a:r>
              <a:rPr lang="en-US" sz="1000" dirty="0">
                <a:solidFill>
                  <a:srgbClr val="4A5568"/>
                </a:solidFill>
                <a:latin typeface="Calibri" pitchFamily="34" charset="0"/>
                <a:ea typeface="Calibri" pitchFamily="34" charset="-122"/>
                <a:cs typeface="Calibri" pitchFamily="34" charset="-120"/>
              </a:rPr>
              <a:t>Free / Default</a:t>
            </a:r>
            <a:endParaRPr lang="en-US" sz="1000" dirty="0"/>
          </a:p>
        </p:txBody>
      </p:sp>
      <p:sp>
        <p:nvSpPr>
          <p:cNvPr id="10" name="Shape 8"/>
          <p:cNvSpPr/>
          <p:nvPr/>
        </p:nvSpPr>
        <p:spPr>
          <a:xfrm>
            <a:off x="594360" y="2167128"/>
            <a:ext cx="164592" cy="164592"/>
          </a:xfrm>
          <a:prstGeom prst="ellipse">
            <a:avLst/>
          </a:prstGeom>
          <a:solidFill>
            <a:srgbClr val="9CA3AF"/>
          </a:solidFill>
          <a:ln w="12700">
            <a:solidFill>
              <a:srgbClr val="9CA3AF"/>
            </a:solidFill>
            <a:prstDash val="solid"/>
          </a:ln>
        </p:spPr>
      </p:sp>
      <p:sp>
        <p:nvSpPr>
          <p:cNvPr id="11" name="Text 9"/>
          <p:cNvSpPr/>
          <p:nvPr/>
        </p:nvSpPr>
        <p:spPr>
          <a:xfrm>
            <a:off x="868680" y="2121408"/>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Available to anyone with a Microsoft account</a:t>
            </a:r>
            <a:endParaRPr lang="en-US" sz="1100" dirty="0"/>
          </a:p>
        </p:txBody>
      </p:sp>
      <p:sp>
        <p:nvSpPr>
          <p:cNvPr id="12" name="Shape 10"/>
          <p:cNvSpPr/>
          <p:nvPr/>
        </p:nvSpPr>
        <p:spPr>
          <a:xfrm>
            <a:off x="594360" y="2642616"/>
            <a:ext cx="164592" cy="164592"/>
          </a:xfrm>
          <a:prstGeom prst="ellipse">
            <a:avLst/>
          </a:prstGeom>
          <a:solidFill>
            <a:srgbClr val="9CA3AF"/>
          </a:solidFill>
          <a:ln w="12700">
            <a:solidFill>
              <a:srgbClr val="9CA3AF"/>
            </a:solidFill>
            <a:prstDash val="solid"/>
          </a:ln>
        </p:spPr>
      </p:sp>
      <p:sp>
        <p:nvSpPr>
          <p:cNvPr id="13" name="Text 11"/>
          <p:cNvSpPr/>
          <p:nvPr/>
        </p:nvSpPr>
        <p:spPr>
          <a:xfrm>
            <a:off x="868680" y="2596896"/>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Access via copilot.microsoft.com</a:t>
            </a:r>
            <a:endParaRPr lang="en-US" sz="1100" dirty="0"/>
          </a:p>
        </p:txBody>
      </p:sp>
      <p:sp>
        <p:nvSpPr>
          <p:cNvPr id="14" name="Shape 12"/>
          <p:cNvSpPr/>
          <p:nvPr/>
        </p:nvSpPr>
        <p:spPr>
          <a:xfrm>
            <a:off x="594360" y="3118104"/>
            <a:ext cx="164592" cy="164592"/>
          </a:xfrm>
          <a:prstGeom prst="ellipse">
            <a:avLst/>
          </a:prstGeom>
          <a:solidFill>
            <a:srgbClr val="9CA3AF"/>
          </a:solidFill>
          <a:ln w="12700">
            <a:solidFill>
              <a:srgbClr val="9CA3AF"/>
            </a:solidFill>
            <a:prstDash val="solid"/>
          </a:ln>
        </p:spPr>
      </p:sp>
      <p:sp>
        <p:nvSpPr>
          <p:cNvPr id="15" name="Text 13"/>
          <p:cNvSpPr/>
          <p:nvPr/>
        </p:nvSpPr>
        <p:spPr>
          <a:xfrm>
            <a:off x="868680" y="3072384"/>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Can search the web for current info</a:t>
            </a:r>
            <a:endParaRPr lang="en-US" sz="1100" dirty="0"/>
          </a:p>
        </p:txBody>
      </p:sp>
      <p:sp>
        <p:nvSpPr>
          <p:cNvPr id="16" name="Shape 14"/>
          <p:cNvSpPr/>
          <p:nvPr/>
        </p:nvSpPr>
        <p:spPr>
          <a:xfrm>
            <a:off x="594360" y="3593592"/>
            <a:ext cx="164592" cy="164592"/>
          </a:xfrm>
          <a:prstGeom prst="ellipse">
            <a:avLst/>
          </a:prstGeom>
          <a:solidFill>
            <a:srgbClr val="9CA3AF"/>
          </a:solidFill>
          <a:ln w="12700">
            <a:solidFill>
              <a:srgbClr val="9CA3AF"/>
            </a:solidFill>
            <a:prstDash val="solid"/>
          </a:ln>
        </p:spPr>
      </p:sp>
      <p:sp>
        <p:nvSpPr>
          <p:cNvPr id="17" name="Text 15"/>
          <p:cNvSpPr/>
          <p:nvPr/>
        </p:nvSpPr>
        <p:spPr>
          <a:xfrm>
            <a:off x="868680" y="3547872"/>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Good for general tasks: writing, summarising, brainstorming</a:t>
            </a:r>
            <a:endParaRPr lang="en-US" sz="1100" dirty="0"/>
          </a:p>
        </p:txBody>
      </p:sp>
      <p:sp>
        <p:nvSpPr>
          <p:cNvPr id="18" name="Shape 16"/>
          <p:cNvSpPr/>
          <p:nvPr/>
        </p:nvSpPr>
        <p:spPr>
          <a:xfrm>
            <a:off x="594360" y="4069080"/>
            <a:ext cx="164592" cy="164592"/>
          </a:xfrm>
          <a:prstGeom prst="ellipse">
            <a:avLst/>
          </a:prstGeom>
          <a:solidFill>
            <a:srgbClr val="9CA3AF"/>
          </a:solidFill>
          <a:ln w="12700">
            <a:solidFill>
              <a:srgbClr val="9CA3AF"/>
            </a:solidFill>
            <a:prstDash val="solid"/>
          </a:ln>
        </p:spPr>
      </p:sp>
      <p:sp>
        <p:nvSpPr>
          <p:cNvPr id="19" name="Text 17"/>
          <p:cNvSpPr/>
          <p:nvPr/>
        </p:nvSpPr>
        <p:spPr>
          <a:xfrm>
            <a:off x="868680" y="4023360"/>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Does NOT access your M365 data (emails, files, calendar)</a:t>
            </a:r>
            <a:endParaRPr lang="en-US" sz="1100" dirty="0"/>
          </a:p>
        </p:txBody>
      </p:sp>
      <p:sp>
        <p:nvSpPr>
          <p:cNvPr id="20" name="Shape 18"/>
          <p:cNvSpPr/>
          <p:nvPr/>
        </p:nvSpPr>
        <p:spPr>
          <a:xfrm>
            <a:off x="4754880" y="1554480"/>
            <a:ext cx="3931920" cy="3246120"/>
          </a:xfrm>
          <a:prstGeom prst="rect">
            <a:avLst/>
          </a:prstGeom>
          <a:solidFill>
            <a:srgbClr val="FFFFFF"/>
          </a:solidFill>
          <a:ln w="19050">
            <a:solidFill>
              <a:srgbClr val="028090"/>
            </a:solidFill>
            <a:prstDash val="solid"/>
          </a:ln>
          <a:effectLst>
            <a:outerShdw sx="100000" sy="100000" kx="0" ky="0" algn="bl" rotWithShape="0" blurRad="76200" dist="38100" dir="8100000">
              <a:srgbClr val="000000">
                <a:alpha val="12000"/>
              </a:srgbClr>
            </a:outerShdw>
          </a:effectLst>
        </p:spPr>
      </p:sp>
      <p:sp>
        <p:nvSpPr>
          <p:cNvPr id="21" name="Shape 19"/>
          <p:cNvSpPr/>
          <p:nvPr/>
        </p:nvSpPr>
        <p:spPr>
          <a:xfrm>
            <a:off x="4754880" y="1554480"/>
            <a:ext cx="3931920" cy="475488"/>
          </a:xfrm>
          <a:prstGeom prst="rect">
            <a:avLst/>
          </a:prstGeom>
          <a:solidFill>
            <a:srgbClr val="1E2761"/>
          </a:solidFill>
          <a:ln w="12700">
            <a:solidFill>
              <a:srgbClr val="1E2761"/>
            </a:solidFill>
            <a:prstDash val="solid"/>
          </a:ln>
        </p:spPr>
      </p:sp>
      <p:sp>
        <p:nvSpPr>
          <p:cNvPr id="22" name="Text 20"/>
          <p:cNvSpPr/>
          <p:nvPr/>
        </p:nvSpPr>
        <p:spPr>
          <a:xfrm>
            <a:off x="4846320" y="1572768"/>
            <a:ext cx="3474720" cy="22860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Microsoft 365 Copilot</a:t>
            </a:r>
            <a:endParaRPr lang="en-US" sz="1500" dirty="0"/>
          </a:p>
        </p:txBody>
      </p:sp>
      <p:sp>
        <p:nvSpPr>
          <p:cNvPr id="23" name="Text 21"/>
          <p:cNvSpPr/>
          <p:nvPr/>
        </p:nvSpPr>
        <p:spPr>
          <a:xfrm>
            <a:off x="4846320" y="1801368"/>
            <a:ext cx="3657600" cy="18288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Paid — Per User Licence  ★ Used in this workshop</a:t>
            </a:r>
            <a:endParaRPr lang="en-US" sz="1000" dirty="0"/>
          </a:p>
        </p:txBody>
      </p:sp>
      <p:sp>
        <p:nvSpPr>
          <p:cNvPr id="24" name="Shape 22"/>
          <p:cNvSpPr/>
          <p:nvPr/>
        </p:nvSpPr>
        <p:spPr>
          <a:xfrm>
            <a:off x="4892040" y="2167128"/>
            <a:ext cx="164592" cy="164592"/>
          </a:xfrm>
          <a:prstGeom prst="ellipse">
            <a:avLst/>
          </a:prstGeom>
          <a:solidFill>
            <a:srgbClr val="02C39A"/>
          </a:solidFill>
          <a:ln w="12700">
            <a:solidFill>
              <a:srgbClr val="02C39A"/>
            </a:solidFill>
            <a:prstDash val="solid"/>
          </a:ln>
        </p:spPr>
      </p:sp>
      <p:sp>
        <p:nvSpPr>
          <p:cNvPr id="25" name="Text 23"/>
          <p:cNvSpPr/>
          <p:nvPr/>
        </p:nvSpPr>
        <p:spPr>
          <a:xfrm>
            <a:off x="5166360" y="2121408"/>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Requires M365 subscription + Copilot add-on licence</a:t>
            </a:r>
            <a:endParaRPr lang="en-US" sz="1100" dirty="0"/>
          </a:p>
        </p:txBody>
      </p:sp>
      <p:sp>
        <p:nvSpPr>
          <p:cNvPr id="26" name="Shape 24"/>
          <p:cNvSpPr/>
          <p:nvPr/>
        </p:nvSpPr>
        <p:spPr>
          <a:xfrm>
            <a:off x="4892040" y="2642616"/>
            <a:ext cx="164592" cy="164592"/>
          </a:xfrm>
          <a:prstGeom prst="ellipse">
            <a:avLst/>
          </a:prstGeom>
          <a:solidFill>
            <a:srgbClr val="02C39A"/>
          </a:solidFill>
          <a:ln w="12700">
            <a:solidFill>
              <a:srgbClr val="02C39A"/>
            </a:solidFill>
            <a:prstDash val="solid"/>
          </a:ln>
        </p:spPr>
      </p:sp>
      <p:sp>
        <p:nvSpPr>
          <p:cNvPr id="27" name="Text 25"/>
          <p:cNvSpPr/>
          <p:nvPr/>
        </p:nvSpPr>
        <p:spPr>
          <a:xfrm>
            <a:off x="5166360" y="2596896"/>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Deeply integrated with your emails, files, and calendar</a:t>
            </a:r>
            <a:endParaRPr lang="en-US" sz="1100" dirty="0"/>
          </a:p>
        </p:txBody>
      </p:sp>
      <p:sp>
        <p:nvSpPr>
          <p:cNvPr id="28" name="Shape 26"/>
          <p:cNvSpPr/>
          <p:nvPr/>
        </p:nvSpPr>
        <p:spPr>
          <a:xfrm>
            <a:off x="4892040" y="3118104"/>
            <a:ext cx="164592" cy="164592"/>
          </a:xfrm>
          <a:prstGeom prst="ellipse">
            <a:avLst/>
          </a:prstGeom>
          <a:solidFill>
            <a:srgbClr val="02C39A"/>
          </a:solidFill>
          <a:ln w="12700">
            <a:solidFill>
              <a:srgbClr val="02C39A"/>
            </a:solidFill>
            <a:prstDash val="solid"/>
          </a:ln>
        </p:spPr>
      </p:sp>
      <p:sp>
        <p:nvSpPr>
          <p:cNvPr id="29" name="Text 27"/>
          <p:cNvSpPr/>
          <p:nvPr/>
        </p:nvSpPr>
        <p:spPr>
          <a:xfrm>
            <a:off x="5166360" y="3072384"/>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Works inside Word, Excel, Outlook, PowerPoint, Teams</a:t>
            </a:r>
            <a:endParaRPr lang="en-US" sz="1100" dirty="0"/>
          </a:p>
        </p:txBody>
      </p:sp>
      <p:sp>
        <p:nvSpPr>
          <p:cNvPr id="30" name="Shape 28"/>
          <p:cNvSpPr/>
          <p:nvPr/>
        </p:nvSpPr>
        <p:spPr>
          <a:xfrm>
            <a:off x="4892040" y="3593592"/>
            <a:ext cx="164592" cy="164592"/>
          </a:xfrm>
          <a:prstGeom prst="ellipse">
            <a:avLst/>
          </a:prstGeom>
          <a:solidFill>
            <a:srgbClr val="02C39A"/>
          </a:solidFill>
          <a:ln w="12700">
            <a:solidFill>
              <a:srgbClr val="02C39A"/>
            </a:solidFill>
            <a:prstDash val="solid"/>
          </a:ln>
        </p:spPr>
      </p:sp>
      <p:sp>
        <p:nvSpPr>
          <p:cNvPr id="31" name="Text 29"/>
          <p:cNvSpPr/>
          <p:nvPr/>
        </p:nvSpPr>
        <p:spPr>
          <a:xfrm>
            <a:off x="5166360" y="3547872"/>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Can reference your organisation's SharePoint documents</a:t>
            </a:r>
            <a:endParaRPr lang="en-US" sz="1100" dirty="0"/>
          </a:p>
        </p:txBody>
      </p:sp>
      <p:sp>
        <p:nvSpPr>
          <p:cNvPr id="32" name="Shape 30"/>
          <p:cNvSpPr/>
          <p:nvPr/>
        </p:nvSpPr>
        <p:spPr>
          <a:xfrm>
            <a:off x="4892040" y="4069080"/>
            <a:ext cx="164592" cy="164592"/>
          </a:xfrm>
          <a:prstGeom prst="ellipse">
            <a:avLst/>
          </a:prstGeom>
          <a:solidFill>
            <a:srgbClr val="02C39A"/>
          </a:solidFill>
          <a:ln w="12700">
            <a:solidFill>
              <a:srgbClr val="02C39A"/>
            </a:solidFill>
            <a:prstDash val="solid"/>
          </a:ln>
        </p:spPr>
      </p:sp>
      <p:sp>
        <p:nvSpPr>
          <p:cNvPr id="33" name="Text 31"/>
          <p:cNvSpPr/>
          <p:nvPr/>
        </p:nvSpPr>
        <p:spPr>
          <a:xfrm>
            <a:off x="5166360" y="4023360"/>
            <a:ext cx="3337560" cy="384048"/>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This is where the real productivity gains happen</a:t>
            </a:r>
            <a:endParaRPr lang="en-US" sz="1100" dirty="0"/>
          </a:p>
        </p:txBody>
      </p:sp>
      <p:sp>
        <p:nvSpPr>
          <p:cNvPr id="34" name="Text 32"/>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KEY AI TERMINOLOGY  —  PART 1 OF 2</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Terms You Will Keep Hearing</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72768"/>
            <a:ext cx="402336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6000"/>
              </a:srgbClr>
            </a:outerShdw>
          </a:effectLst>
        </p:spPr>
      </p:sp>
      <p:sp>
        <p:nvSpPr>
          <p:cNvPr id="7" name="Shape 5"/>
          <p:cNvSpPr/>
          <p:nvPr/>
        </p:nvSpPr>
        <p:spPr>
          <a:xfrm>
            <a:off x="457200" y="1572768"/>
            <a:ext cx="91440" cy="1572768"/>
          </a:xfrm>
          <a:prstGeom prst="rect">
            <a:avLst/>
          </a:prstGeom>
          <a:solidFill>
            <a:srgbClr val="1E2761"/>
          </a:solidFill>
          <a:ln w="12700">
            <a:solidFill>
              <a:srgbClr val="1E2761"/>
            </a:solidFill>
            <a:prstDash val="solid"/>
          </a:ln>
        </p:spPr>
      </p:sp>
      <p:sp>
        <p:nvSpPr>
          <p:cNvPr id="8" name="Text 6"/>
          <p:cNvSpPr/>
          <p:nvPr/>
        </p:nvSpPr>
        <p:spPr>
          <a:xfrm>
            <a:off x="621792" y="1664208"/>
            <a:ext cx="1005840" cy="292608"/>
          </a:xfrm>
          <a:prstGeom prst="rect">
            <a:avLst/>
          </a:prstGeom>
          <a:noFill/>
          <a:ln/>
        </p:spPr>
        <p:txBody>
          <a:bodyPr wrap="square" lIns="0" tIns="0" rIns="0" bIns="0" rtlCol="0" anchor="ctr"/>
          <a:lstStyle/>
          <a:p>
            <a:pPr indent="0" marL="0">
              <a:buNone/>
            </a:pPr>
            <a:r>
              <a:rPr lang="en-US" sz="1800" b="1" dirty="0">
                <a:solidFill>
                  <a:srgbClr val="1E2761"/>
                </a:solidFill>
                <a:latin typeface="Trebuchet MS" pitchFamily="34" charset="0"/>
                <a:ea typeface="Trebuchet MS" pitchFamily="34" charset="-122"/>
                <a:cs typeface="Trebuchet MS" pitchFamily="34" charset="-120"/>
              </a:rPr>
              <a:t>LLM</a:t>
            </a:r>
            <a:endParaRPr lang="en-US" sz="1800" dirty="0"/>
          </a:p>
        </p:txBody>
      </p:sp>
      <p:sp>
        <p:nvSpPr>
          <p:cNvPr id="9" name="Text 7"/>
          <p:cNvSpPr/>
          <p:nvPr/>
        </p:nvSpPr>
        <p:spPr>
          <a:xfrm>
            <a:off x="621792" y="1956816"/>
            <a:ext cx="3749040" cy="228600"/>
          </a:xfrm>
          <a:prstGeom prst="rect">
            <a:avLst/>
          </a:prstGeom>
          <a:noFill/>
          <a:ln/>
        </p:spPr>
        <p:txBody>
          <a:bodyPr wrap="square" lIns="0" tIns="0" rIns="0" bIns="0" rtlCol="0" anchor="ctr"/>
          <a:lstStyle/>
          <a:p>
            <a:pPr indent="0" marL="0">
              <a:buNone/>
            </a:pPr>
            <a:r>
              <a:rPr lang="en-US" sz="1100" i="1" dirty="0">
                <a:solidFill>
                  <a:srgbClr val="4A5568"/>
                </a:solidFill>
                <a:latin typeface="Calibri" pitchFamily="34" charset="0"/>
                <a:ea typeface="Calibri" pitchFamily="34" charset="-122"/>
                <a:cs typeface="Calibri" pitchFamily="34" charset="-120"/>
              </a:rPr>
              <a:t>Large Language Model</a:t>
            </a:r>
            <a:endParaRPr lang="en-US" sz="1100" dirty="0"/>
          </a:p>
        </p:txBody>
      </p:sp>
      <p:sp>
        <p:nvSpPr>
          <p:cNvPr id="10" name="Text 8"/>
          <p:cNvSpPr/>
          <p:nvPr/>
        </p:nvSpPr>
        <p:spPr>
          <a:xfrm>
            <a:off x="621792" y="2194560"/>
            <a:ext cx="3749040" cy="8229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AI trained on massive amounts of text. It learns patterns in language to generate responses. Examples: GPT (OpenAI), Claude (Anthropic), Gemini (Google). M365 Copilot is powered by GPT.</a:t>
            </a:r>
            <a:endParaRPr lang="en-US" sz="1100" dirty="0"/>
          </a:p>
        </p:txBody>
      </p:sp>
      <p:sp>
        <p:nvSpPr>
          <p:cNvPr id="11" name="Shape 9"/>
          <p:cNvSpPr/>
          <p:nvPr/>
        </p:nvSpPr>
        <p:spPr>
          <a:xfrm>
            <a:off x="4800600" y="1572768"/>
            <a:ext cx="402336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6000"/>
              </a:srgbClr>
            </a:outerShdw>
          </a:effectLst>
        </p:spPr>
      </p:sp>
      <p:sp>
        <p:nvSpPr>
          <p:cNvPr id="12" name="Shape 10"/>
          <p:cNvSpPr/>
          <p:nvPr/>
        </p:nvSpPr>
        <p:spPr>
          <a:xfrm>
            <a:off x="4800600" y="1572768"/>
            <a:ext cx="91440" cy="1572768"/>
          </a:xfrm>
          <a:prstGeom prst="rect">
            <a:avLst/>
          </a:prstGeom>
          <a:solidFill>
            <a:srgbClr val="028090"/>
          </a:solidFill>
          <a:ln w="12700">
            <a:solidFill>
              <a:srgbClr val="028090"/>
            </a:solidFill>
            <a:prstDash val="solid"/>
          </a:ln>
        </p:spPr>
      </p:sp>
      <p:sp>
        <p:nvSpPr>
          <p:cNvPr id="13" name="Text 11"/>
          <p:cNvSpPr/>
          <p:nvPr/>
        </p:nvSpPr>
        <p:spPr>
          <a:xfrm>
            <a:off x="4965192" y="1664208"/>
            <a:ext cx="1005840" cy="292608"/>
          </a:xfrm>
          <a:prstGeom prst="rect">
            <a:avLst/>
          </a:prstGeom>
          <a:noFill/>
          <a:ln/>
        </p:spPr>
        <p:txBody>
          <a:bodyPr wrap="square" lIns="0" tIns="0" rIns="0" bIns="0" rtlCol="0" anchor="ctr"/>
          <a:lstStyle/>
          <a:p>
            <a:pPr indent="0" marL="0">
              <a:buNone/>
            </a:pPr>
            <a:r>
              <a:rPr lang="en-US" sz="1800" b="1" dirty="0">
                <a:solidFill>
                  <a:srgbClr val="028090"/>
                </a:solidFill>
                <a:latin typeface="Trebuchet MS" pitchFamily="34" charset="0"/>
                <a:ea typeface="Trebuchet MS" pitchFamily="34" charset="-122"/>
                <a:cs typeface="Trebuchet MS" pitchFamily="34" charset="-120"/>
              </a:rPr>
              <a:t>GenAI</a:t>
            </a:r>
            <a:endParaRPr lang="en-US" sz="1800" dirty="0"/>
          </a:p>
        </p:txBody>
      </p:sp>
      <p:sp>
        <p:nvSpPr>
          <p:cNvPr id="14" name="Text 12"/>
          <p:cNvSpPr/>
          <p:nvPr/>
        </p:nvSpPr>
        <p:spPr>
          <a:xfrm>
            <a:off x="4965192" y="1956816"/>
            <a:ext cx="3749040" cy="228600"/>
          </a:xfrm>
          <a:prstGeom prst="rect">
            <a:avLst/>
          </a:prstGeom>
          <a:noFill/>
          <a:ln/>
        </p:spPr>
        <p:txBody>
          <a:bodyPr wrap="square" lIns="0" tIns="0" rIns="0" bIns="0" rtlCol="0" anchor="ctr"/>
          <a:lstStyle/>
          <a:p>
            <a:pPr indent="0" marL="0">
              <a:buNone/>
            </a:pPr>
            <a:r>
              <a:rPr lang="en-US" sz="1100" i="1" dirty="0">
                <a:solidFill>
                  <a:srgbClr val="4A5568"/>
                </a:solidFill>
                <a:latin typeface="Calibri" pitchFamily="34" charset="0"/>
                <a:ea typeface="Calibri" pitchFamily="34" charset="-122"/>
                <a:cs typeface="Calibri" pitchFamily="34" charset="-120"/>
              </a:rPr>
              <a:t>Generative AI</a:t>
            </a:r>
            <a:endParaRPr lang="en-US" sz="1100" dirty="0"/>
          </a:p>
        </p:txBody>
      </p:sp>
      <p:sp>
        <p:nvSpPr>
          <p:cNvPr id="15" name="Text 13"/>
          <p:cNvSpPr/>
          <p:nvPr/>
        </p:nvSpPr>
        <p:spPr>
          <a:xfrm>
            <a:off x="4965192" y="2194560"/>
            <a:ext cx="3749040" cy="8229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AI that can create new content — text, images, code, summaries — rather than just analysing existing data. Copilot is a generative AI tool.</a:t>
            </a:r>
            <a:endParaRPr lang="en-US" sz="1100" dirty="0"/>
          </a:p>
        </p:txBody>
      </p:sp>
      <p:sp>
        <p:nvSpPr>
          <p:cNvPr id="16" name="Shape 14"/>
          <p:cNvSpPr/>
          <p:nvPr/>
        </p:nvSpPr>
        <p:spPr>
          <a:xfrm>
            <a:off x="457200" y="3310128"/>
            <a:ext cx="402336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6000"/>
              </a:srgbClr>
            </a:outerShdw>
          </a:effectLst>
        </p:spPr>
      </p:sp>
      <p:sp>
        <p:nvSpPr>
          <p:cNvPr id="17" name="Shape 15"/>
          <p:cNvSpPr/>
          <p:nvPr/>
        </p:nvSpPr>
        <p:spPr>
          <a:xfrm>
            <a:off x="457200" y="3310128"/>
            <a:ext cx="91440" cy="1572768"/>
          </a:xfrm>
          <a:prstGeom prst="rect">
            <a:avLst/>
          </a:prstGeom>
          <a:solidFill>
            <a:srgbClr val="5558AF"/>
          </a:solidFill>
          <a:ln w="12700">
            <a:solidFill>
              <a:srgbClr val="5558AF"/>
            </a:solidFill>
            <a:prstDash val="solid"/>
          </a:ln>
        </p:spPr>
      </p:sp>
      <p:sp>
        <p:nvSpPr>
          <p:cNvPr id="18" name="Text 16"/>
          <p:cNvSpPr/>
          <p:nvPr/>
        </p:nvSpPr>
        <p:spPr>
          <a:xfrm>
            <a:off x="621792" y="3401568"/>
            <a:ext cx="1005840" cy="292608"/>
          </a:xfrm>
          <a:prstGeom prst="rect">
            <a:avLst/>
          </a:prstGeom>
          <a:noFill/>
          <a:ln/>
        </p:spPr>
        <p:txBody>
          <a:bodyPr wrap="square" lIns="0" tIns="0" rIns="0" bIns="0" rtlCol="0" anchor="ctr"/>
          <a:lstStyle/>
          <a:p>
            <a:pPr indent="0" marL="0">
              <a:buNone/>
            </a:pPr>
            <a:r>
              <a:rPr lang="en-US" sz="1800" b="1" dirty="0">
                <a:solidFill>
                  <a:srgbClr val="5558AF"/>
                </a:solidFill>
                <a:latin typeface="Trebuchet MS" pitchFamily="34" charset="0"/>
                <a:ea typeface="Trebuchet MS" pitchFamily="34" charset="-122"/>
                <a:cs typeface="Trebuchet MS" pitchFamily="34" charset="-120"/>
              </a:rPr>
              <a:t>NLP</a:t>
            </a:r>
            <a:endParaRPr lang="en-US" sz="1800" dirty="0"/>
          </a:p>
        </p:txBody>
      </p:sp>
      <p:sp>
        <p:nvSpPr>
          <p:cNvPr id="19" name="Text 17"/>
          <p:cNvSpPr/>
          <p:nvPr/>
        </p:nvSpPr>
        <p:spPr>
          <a:xfrm>
            <a:off x="621792" y="3694176"/>
            <a:ext cx="3749040" cy="228600"/>
          </a:xfrm>
          <a:prstGeom prst="rect">
            <a:avLst/>
          </a:prstGeom>
          <a:noFill/>
          <a:ln/>
        </p:spPr>
        <p:txBody>
          <a:bodyPr wrap="square" lIns="0" tIns="0" rIns="0" bIns="0" rtlCol="0" anchor="ctr"/>
          <a:lstStyle/>
          <a:p>
            <a:pPr indent="0" marL="0">
              <a:buNone/>
            </a:pPr>
            <a:r>
              <a:rPr lang="en-US" sz="1100" i="1" dirty="0">
                <a:solidFill>
                  <a:srgbClr val="4A5568"/>
                </a:solidFill>
                <a:latin typeface="Calibri" pitchFamily="34" charset="0"/>
                <a:ea typeface="Calibri" pitchFamily="34" charset="-122"/>
                <a:cs typeface="Calibri" pitchFamily="34" charset="-120"/>
              </a:rPr>
              <a:t>Natural Language Processing</a:t>
            </a:r>
            <a:endParaRPr lang="en-US" sz="1100" dirty="0"/>
          </a:p>
        </p:txBody>
      </p:sp>
      <p:sp>
        <p:nvSpPr>
          <p:cNvPr id="20" name="Text 18"/>
          <p:cNvSpPr/>
          <p:nvPr/>
        </p:nvSpPr>
        <p:spPr>
          <a:xfrm>
            <a:off x="621792" y="3931920"/>
            <a:ext cx="3749040" cy="8229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technology that allows AI to understand and process human language. When you type in plain English and Copilot understands what you mean, that is NLP.</a:t>
            </a:r>
            <a:endParaRPr lang="en-US" sz="1100" dirty="0"/>
          </a:p>
        </p:txBody>
      </p:sp>
      <p:sp>
        <p:nvSpPr>
          <p:cNvPr id="21" name="Shape 19"/>
          <p:cNvSpPr/>
          <p:nvPr/>
        </p:nvSpPr>
        <p:spPr>
          <a:xfrm>
            <a:off x="4800600" y="3310128"/>
            <a:ext cx="402336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6000"/>
              </a:srgbClr>
            </a:outerShdw>
          </a:effectLst>
        </p:spPr>
      </p:sp>
      <p:sp>
        <p:nvSpPr>
          <p:cNvPr id="22" name="Shape 20"/>
          <p:cNvSpPr/>
          <p:nvPr/>
        </p:nvSpPr>
        <p:spPr>
          <a:xfrm>
            <a:off x="4800600" y="3310128"/>
            <a:ext cx="91440" cy="1572768"/>
          </a:xfrm>
          <a:prstGeom prst="rect">
            <a:avLst/>
          </a:prstGeom>
          <a:solidFill>
            <a:srgbClr val="1D6F42"/>
          </a:solidFill>
          <a:ln w="12700">
            <a:solidFill>
              <a:srgbClr val="1D6F42"/>
            </a:solidFill>
            <a:prstDash val="solid"/>
          </a:ln>
        </p:spPr>
      </p:sp>
      <p:sp>
        <p:nvSpPr>
          <p:cNvPr id="23" name="Text 21"/>
          <p:cNvSpPr/>
          <p:nvPr/>
        </p:nvSpPr>
        <p:spPr>
          <a:xfrm>
            <a:off x="4965192" y="3401568"/>
            <a:ext cx="1005840" cy="292608"/>
          </a:xfrm>
          <a:prstGeom prst="rect">
            <a:avLst/>
          </a:prstGeom>
          <a:noFill/>
          <a:ln/>
        </p:spPr>
        <p:txBody>
          <a:bodyPr wrap="square" lIns="0" tIns="0" rIns="0" bIns="0" rtlCol="0" anchor="ctr"/>
          <a:lstStyle/>
          <a:p>
            <a:pPr indent="0" marL="0">
              <a:buNone/>
            </a:pPr>
            <a:r>
              <a:rPr lang="en-US" sz="1800" b="1" dirty="0">
                <a:solidFill>
                  <a:srgbClr val="1D6F42"/>
                </a:solidFill>
                <a:latin typeface="Trebuchet MS" pitchFamily="34" charset="0"/>
                <a:ea typeface="Trebuchet MS" pitchFamily="34" charset="-122"/>
                <a:cs typeface="Trebuchet MS" pitchFamily="34" charset="-120"/>
              </a:rPr>
              <a:t>Prompt</a:t>
            </a:r>
            <a:endParaRPr lang="en-US" sz="1800" dirty="0"/>
          </a:p>
        </p:txBody>
      </p:sp>
      <p:sp>
        <p:nvSpPr>
          <p:cNvPr id="24" name="Text 22"/>
          <p:cNvSpPr/>
          <p:nvPr/>
        </p:nvSpPr>
        <p:spPr>
          <a:xfrm>
            <a:off x="4965192" y="3694176"/>
            <a:ext cx="3749040" cy="228600"/>
          </a:xfrm>
          <a:prstGeom prst="rect">
            <a:avLst/>
          </a:prstGeom>
          <a:noFill/>
          <a:ln/>
        </p:spPr>
        <p:txBody>
          <a:bodyPr wrap="square" lIns="0" tIns="0" rIns="0" bIns="0" rtlCol="0" anchor="ctr"/>
          <a:lstStyle/>
          <a:p>
            <a:pPr indent="0" marL="0">
              <a:buNone/>
            </a:pPr>
            <a:r>
              <a:rPr lang="en-US" sz="1100" i="1" dirty="0">
                <a:solidFill>
                  <a:srgbClr val="4A5568"/>
                </a:solidFill>
                <a:latin typeface="Calibri" pitchFamily="34" charset="0"/>
                <a:ea typeface="Calibri" pitchFamily="34" charset="-122"/>
                <a:cs typeface="Calibri" pitchFamily="34" charset="-120"/>
              </a:rPr>
              <a:t>Your Instruction to the AI</a:t>
            </a:r>
            <a:endParaRPr lang="en-US" sz="1100" dirty="0"/>
          </a:p>
        </p:txBody>
      </p:sp>
      <p:sp>
        <p:nvSpPr>
          <p:cNvPr id="25" name="Text 23"/>
          <p:cNvSpPr/>
          <p:nvPr/>
        </p:nvSpPr>
        <p:spPr>
          <a:xfrm>
            <a:off x="4965192" y="3931920"/>
            <a:ext cx="3749040" cy="8229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question or instruction you give to Copilot. The quality of your prompt directly affects the quality of the output. We cover this in detail in Topic 02.</a:t>
            </a:r>
            <a:endParaRPr lang="en-US" sz="1100" dirty="0"/>
          </a:p>
        </p:txBody>
      </p:sp>
      <p:sp>
        <p:nvSpPr>
          <p:cNvPr id="26" name="Text 2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KEY AI TERMINOLOGY  —  PART 2 OF 2</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A Few More You Need to Know</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72768"/>
            <a:ext cx="2697480" cy="1261872"/>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7" name="Shape 5"/>
          <p:cNvSpPr/>
          <p:nvPr/>
        </p:nvSpPr>
        <p:spPr>
          <a:xfrm>
            <a:off x="457200" y="1572768"/>
            <a:ext cx="2697480" cy="73152"/>
          </a:xfrm>
          <a:prstGeom prst="rect">
            <a:avLst/>
          </a:prstGeom>
          <a:solidFill>
            <a:srgbClr val="028090"/>
          </a:solidFill>
          <a:ln w="12700">
            <a:solidFill>
              <a:srgbClr val="028090"/>
            </a:solidFill>
            <a:prstDash val="solid"/>
          </a:ln>
        </p:spPr>
      </p:sp>
      <p:sp>
        <p:nvSpPr>
          <p:cNvPr id="8" name="Text 6"/>
          <p:cNvSpPr/>
          <p:nvPr/>
        </p:nvSpPr>
        <p:spPr>
          <a:xfrm>
            <a:off x="566928" y="1682496"/>
            <a:ext cx="2514600" cy="274320"/>
          </a:xfrm>
          <a:prstGeom prst="rect">
            <a:avLst/>
          </a:prstGeom>
          <a:noFill/>
          <a:ln/>
        </p:spPr>
        <p:txBody>
          <a:bodyPr wrap="square" lIns="0" tIns="0" rIns="0" bIns="0" rtlCol="0" anchor="ctr"/>
          <a:lstStyle/>
          <a:p>
            <a:pPr indent="0" marL="0">
              <a:buNone/>
            </a:pPr>
            <a:r>
              <a:rPr lang="en-US" sz="1400" b="1" dirty="0">
                <a:solidFill>
                  <a:srgbClr val="028090"/>
                </a:solidFill>
                <a:latin typeface="Trebuchet MS" pitchFamily="34" charset="0"/>
                <a:ea typeface="Trebuchet MS" pitchFamily="34" charset="-122"/>
                <a:cs typeface="Trebuchet MS" pitchFamily="34" charset="-120"/>
              </a:rPr>
              <a:t>Context</a:t>
            </a:r>
            <a:endParaRPr lang="en-US" sz="1400" dirty="0"/>
          </a:p>
        </p:txBody>
      </p:sp>
      <p:sp>
        <p:nvSpPr>
          <p:cNvPr id="9" name="Text 7"/>
          <p:cNvSpPr/>
          <p:nvPr/>
        </p:nvSpPr>
        <p:spPr>
          <a:xfrm>
            <a:off x="566928" y="1975104"/>
            <a:ext cx="2514600" cy="77724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The background information you provide alongside your prompt. More relevant context = better output from Copilot.</a:t>
            </a:r>
            <a:endParaRPr lang="en-US" sz="1050" dirty="0"/>
          </a:p>
        </p:txBody>
      </p:sp>
      <p:sp>
        <p:nvSpPr>
          <p:cNvPr id="10" name="Shape 8"/>
          <p:cNvSpPr/>
          <p:nvPr/>
        </p:nvSpPr>
        <p:spPr>
          <a:xfrm>
            <a:off x="3337560" y="1572768"/>
            <a:ext cx="2697480" cy="1261872"/>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1" name="Shape 9"/>
          <p:cNvSpPr/>
          <p:nvPr/>
        </p:nvSpPr>
        <p:spPr>
          <a:xfrm>
            <a:off x="3337560" y="1572768"/>
            <a:ext cx="2697480" cy="73152"/>
          </a:xfrm>
          <a:prstGeom prst="rect">
            <a:avLst/>
          </a:prstGeom>
          <a:solidFill>
            <a:srgbClr val="E07B39"/>
          </a:solidFill>
          <a:ln w="12700">
            <a:solidFill>
              <a:srgbClr val="E07B39"/>
            </a:solidFill>
            <a:prstDash val="solid"/>
          </a:ln>
        </p:spPr>
      </p:sp>
      <p:sp>
        <p:nvSpPr>
          <p:cNvPr id="12" name="Text 10"/>
          <p:cNvSpPr/>
          <p:nvPr/>
        </p:nvSpPr>
        <p:spPr>
          <a:xfrm>
            <a:off x="3447288" y="1682496"/>
            <a:ext cx="2514600" cy="274320"/>
          </a:xfrm>
          <a:prstGeom prst="rect">
            <a:avLst/>
          </a:prstGeom>
          <a:noFill/>
          <a:ln/>
        </p:spPr>
        <p:txBody>
          <a:bodyPr wrap="square" lIns="0" tIns="0" rIns="0" bIns="0" rtlCol="0" anchor="ctr"/>
          <a:lstStyle/>
          <a:p>
            <a:pPr indent="0" marL="0">
              <a:buNone/>
            </a:pPr>
            <a:r>
              <a:rPr lang="en-US" sz="1400" b="1" dirty="0">
                <a:solidFill>
                  <a:srgbClr val="E07B39"/>
                </a:solidFill>
                <a:latin typeface="Trebuchet MS" pitchFamily="34" charset="0"/>
                <a:ea typeface="Trebuchet MS" pitchFamily="34" charset="-122"/>
                <a:cs typeface="Trebuchet MS" pitchFamily="34" charset="-120"/>
              </a:rPr>
              <a:t>Hallucination</a:t>
            </a:r>
            <a:endParaRPr lang="en-US" sz="1400" dirty="0"/>
          </a:p>
        </p:txBody>
      </p:sp>
      <p:sp>
        <p:nvSpPr>
          <p:cNvPr id="13" name="Text 11"/>
          <p:cNvSpPr/>
          <p:nvPr/>
        </p:nvSpPr>
        <p:spPr>
          <a:xfrm>
            <a:off x="3447288" y="1975104"/>
            <a:ext cx="2514600" cy="77724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When AI confidently generates something incorrect or made up. Always verify important Copilot outputs against reliable sources.</a:t>
            </a:r>
            <a:endParaRPr lang="en-US" sz="1050" dirty="0"/>
          </a:p>
        </p:txBody>
      </p:sp>
      <p:sp>
        <p:nvSpPr>
          <p:cNvPr id="14" name="Shape 12"/>
          <p:cNvSpPr/>
          <p:nvPr/>
        </p:nvSpPr>
        <p:spPr>
          <a:xfrm>
            <a:off x="6217920" y="1572768"/>
            <a:ext cx="2697480" cy="1261872"/>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5" name="Shape 13"/>
          <p:cNvSpPr/>
          <p:nvPr/>
        </p:nvSpPr>
        <p:spPr>
          <a:xfrm>
            <a:off x="6217920" y="1572768"/>
            <a:ext cx="2697480" cy="73152"/>
          </a:xfrm>
          <a:prstGeom prst="rect">
            <a:avLst/>
          </a:prstGeom>
          <a:solidFill>
            <a:srgbClr val="5558AF"/>
          </a:solidFill>
          <a:ln w="12700">
            <a:solidFill>
              <a:srgbClr val="5558AF"/>
            </a:solidFill>
            <a:prstDash val="solid"/>
          </a:ln>
        </p:spPr>
      </p:sp>
      <p:sp>
        <p:nvSpPr>
          <p:cNvPr id="16" name="Text 14"/>
          <p:cNvSpPr/>
          <p:nvPr/>
        </p:nvSpPr>
        <p:spPr>
          <a:xfrm>
            <a:off x="6327648" y="1682496"/>
            <a:ext cx="2514600" cy="274320"/>
          </a:xfrm>
          <a:prstGeom prst="rect">
            <a:avLst/>
          </a:prstGeom>
          <a:noFill/>
          <a:ln/>
        </p:spPr>
        <p:txBody>
          <a:bodyPr wrap="square" lIns="0" tIns="0" rIns="0" bIns="0" rtlCol="0" anchor="ctr"/>
          <a:lstStyle/>
          <a:p>
            <a:pPr indent="0" marL="0">
              <a:buNone/>
            </a:pPr>
            <a:r>
              <a:rPr lang="en-US" sz="1400" b="1" dirty="0">
                <a:solidFill>
                  <a:srgbClr val="5558AF"/>
                </a:solidFill>
                <a:latin typeface="Trebuchet MS" pitchFamily="34" charset="0"/>
                <a:ea typeface="Trebuchet MS" pitchFamily="34" charset="-122"/>
                <a:cs typeface="Trebuchet MS" pitchFamily="34" charset="-120"/>
              </a:rPr>
              <a:t>Agentic AI</a:t>
            </a:r>
            <a:endParaRPr lang="en-US" sz="1400" dirty="0"/>
          </a:p>
        </p:txBody>
      </p:sp>
      <p:sp>
        <p:nvSpPr>
          <p:cNvPr id="17" name="Text 15"/>
          <p:cNvSpPr/>
          <p:nvPr/>
        </p:nvSpPr>
        <p:spPr>
          <a:xfrm>
            <a:off x="6327648" y="1975104"/>
            <a:ext cx="2514600" cy="77724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AI that can take actions on your behalf — not just respond. Copilot Studio agents (Topic 10) are an example.</a:t>
            </a:r>
            <a:endParaRPr lang="en-US" sz="1050" dirty="0"/>
          </a:p>
        </p:txBody>
      </p:sp>
      <p:sp>
        <p:nvSpPr>
          <p:cNvPr id="18" name="Shape 16"/>
          <p:cNvSpPr/>
          <p:nvPr/>
        </p:nvSpPr>
        <p:spPr>
          <a:xfrm>
            <a:off x="1645920" y="3017520"/>
            <a:ext cx="3108960" cy="1261872"/>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9" name="Shape 17"/>
          <p:cNvSpPr/>
          <p:nvPr/>
        </p:nvSpPr>
        <p:spPr>
          <a:xfrm>
            <a:off x="1645920" y="3017520"/>
            <a:ext cx="3108960" cy="73152"/>
          </a:xfrm>
          <a:prstGeom prst="rect">
            <a:avLst/>
          </a:prstGeom>
          <a:solidFill>
            <a:srgbClr val="1E2761"/>
          </a:solidFill>
          <a:ln w="12700">
            <a:solidFill>
              <a:srgbClr val="1E2761"/>
            </a:solidFill>
            <a:prstDash val="solid"/>
          </a:ln>
        </p:spPr>
      </p:sp>
      <p:sp>
        <p:nvSpPr>
          <p:cNvPr id="20" name="Text 18"/>
          <p:cNvSpPr/>
          <p:nvPr/>
        </p:nvSpPr>
        <p:spPr>
          <a:xfrm>
            <a:off x="1755648" y="3127248"/>
            <a:ext cx="2926080" cy="274320"/>
          </a:xfrm>
          <a:prstGeom prst="rect">
            <a:avLst/>
          </a:prstGeom>
          <a:noFill/>
          <a:ln/>
        </p:spPr>
        <p:txBody>
          <a:bodyPr wrap="square" lIns="0" tIns="0" rIns="0" bIns="0" rtlCol="0" anchor="ctr"/>
          <a:lstStyle/>
          <a:p>
            <a:pPr indent="0" marL="0">
              <a:buNone/>
            </a:pPr>
            <a:r>
              <a:rPr lang="en-US" sz="1400" b="1" dirty="0">
                <a:solidFill>
                  <a:srgbClr val="1E2761"/>
                </a:solidFill>
                <a:latin typeface="Trebuchet MS" pitchFamily="34" charset="0"/>
                <a:ea typeface="Trebuchet MS" pitchFamily="34" charset="-122"/>
                <a:cs typeface="Trebuchet MS" pitchFamily="34" charset="-120"/>
              </a:rPr>
              <a:t>RAG</a:t>
            </a:r>
            <a:endParaRPr lang="en-US" sz="1400" dirty="0"/>
          </a:p>
        </p:txBody>
      </p:sp>
      <p:sp>
        <p:nvSpPr>
          <p:cNvPr id="21" name="Text 19"/>
          <p:cNvSpPr/>
          <p:nvPr/>
        </p:nvSpPr>
        <p:spPr>
          <a:xfrm>
            <a:off x="1755648" y="3419856"/>
            <a:ext cx="2926080" cy="77724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Retrieval-Augmented Generation. AI retrieves from a specific knowledge source (your SharePoint) before generating. This is what makes M365 Copilot different from a generic chatbot.</a:t>
            </a:r>
            <a:endParaRPr lang="en-US" sz="1050" dirty="0"/>
          </a:p>
        </p:txBody>
      </p:sp>
      <p:sp>
        <p:nvSpPr>
          <p:cNvPr id="22" name="Shape 20"/>
          <p:cNvSpPr/>
          <p:nvPr/>
        </p:nvSpPr>
        <p:spPr>
          <a:xfrm>
            <a:off x="5029200" y="3017520"/>
            <a:ext cx="3108960" cy="1261872"/>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23" name="Shape 21"/>
          <p:cNvSpPr/>
          <p:nvPr/>
        </p:nvSpPr>
        <p:spPr>
          <a:xfrm>
            <a:off x="5029200" y="3017520"/>
            <a:ext cx="3108960" cy="73152"/>
          </a:xfrm>
          <a:prstGeom prst="rect">
            <a:avLst/>
          </a:prstGeom>
          <a:solidFill>
            <a:srgbClr val="1D6F42"/>
          </a:solidFill>
          <a:ln w="12700">
            <a:solidFill>
              <a:srgbClr val="1D6F42"/>
            </a:solidFill>
            <a:prstDash val="solid"/>
          </a:ln>
        </p:spPr>
      </p:sp>
      <p:sp>
        <p:nvSpPr>
          <p:cNvPr id="24" name="Text 22"/>
          <p:cNvSpPr/>
          <p:nvPr/>
        </p:nvSpPr>
        <p:spPr>
          <a:xfrm>
            <a:off x="5138928" y="3127248"/>
            <a:ext cx="2926080" cy="274320"/>
          </a:xfrm>
          <a:prstGeom prst="rect">
            <a:avLst/>
          </a:prstGeom>
          <a:noFill/>
          <a:ln/>
        </p:spPr>
        <p:txBody>
          <a:bodyPr wrap="square" lIns="0" tIns="0" rIns="0" bIns="0" rtlCol="0" anchor="ctr"/>
          <a:lstStyle/>
          <a:p>
            <a:pPr indent="0" marL="0">
              <a:buNone/>
            </a:pPr>
            <a:r>
              <a:rPr lang="en-US" sz="1400" b="1" dirty="0">
                <a:solidFill>
                  <a:srgbClr val="1D6F42"/>
                </a:solidFill>
                <a:latin typeface="Trebuchet MS" pitchFamily="34" charset="0"/>
                <a:ea typeface="Trebuchet MS" pitchFamily="34" charset="-122"/>
                <a:cs typeface="Trebuchet MS" pitchFamily="34" charset="-120"/>
              </a:rPr>
              <a:t>Token</a:t>
            </a:r>
            <a:endParaRPr lang="en-US" sz="1400" dirty="0"/>
          </a:p>
        </p:txBody>
      </p:sp>
      <p:sp>
        <p:nvSpPr>
          <p:cNvPr id="25" name="Text 23"/>
          <p:cNvSpPr/>
          <p:nvPr/>
        </p:nvSpPr>
        <p:spPr>
          <a:xfrm>
            <a:off x="5138928" y="3419856"/>
            <a:ext cx="2926080" cy="77724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The unit of text that LLMs process. ≈ 0.75 words per token. Models have a token limit — very long documents may need to be split, and very long conversations may cause Copilot to 'forget' earlier context.</a:t>
            </a:r>
            <a:endParaRPr lang="en-US" sz="1050" dirty="0"/>
          </a:p>
        </p:txBody>
      </p:sp>
      <p:sp>
        <p:nvSpPr>
          <p:cNvPr id="26" name="Text 2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IMPORTANT — HALLUCINATION</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AI Can Get Things Wrong. Here's What to Do.</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54480"/>
            <a:ext cx="8229600" cy="685800"/>
          </a:xfrm>
          <a:prstGeom prst="rect">
            <a:avLst/>
          </a:prstGeom>
          <a:solidFill>
            <a:srgbClr val="FEF3C7"/>
          </a:solidFill>
          <a:ln w="12700">
            <a:solidFill>
              <a:srgbClr val="E07B39"/>
            </a:solidFill>
            <a:prstDash val="solid"/>
          </a:ln>
        </p:spPr>
      </p:sp>
      <p:sp>
        <p:nvSpPr>
          <p:cNvPr id="7" name="Shape 5"/>
          <p:cNvSpPr/>
          <p:nvPr/>
        </p:nvSpPr>
        <p:spPr>
          <a:xfrm>
            <a:off x="457200" y="1554480"/>
            <a:ext cx="91440" cy="685800"/>
          </a:xfrm>
          <a:prstGeom prst="rect">
            <a:avLst/>
          </a:prstGeom>
          <a:solidFill>
            <a:srgbClr val="E07B39"/>
          </a:solidFill>
          <a:ln w="12700">
            <a:solidFill>
              <a:srgbClr val="E07B39"/>
            </a:solidFill>
            <a:prstDash val="solid"/>
          </a:ln>
        </p:spPr>
      </p:sp>
      <p:sp>
        <p:nvSpPr>
          <p:cNvPr id="8" name="Text 6"/>
          <p:cNvSpPr/>
          <p:nvPr/>
        </p:nvSpPr>
        <p:spPr>
          <a:xfrm>
            <a:off x="685800" y="1618488"/>
            <a:ext cx="7863840" cy="548640"/>
          </a:xfrm>
          <a:prstGeom prst="rect">
            <a:avLst/>
          </a:prstGeom>
          <a:noFill/>
          <a:ln/>
        </p:spPr>
        <p:txBody>
          <a:bodyPr wrap="square" rtlCol="0" anchor="ctr"/>
          <a:lstStyle/>
          <a:p>
            <a:pPr indent="0" marL="0">
              <a:buNone/>
            </a:pPr>
            <a:r>
              <a:rPr lang="en-US" sz="1300" i="1" dirty="0">
                <a:solidFill>
                  <a:srgbClr val="92400E"/>
                </a:solidFill>
                <a:latin typeface="Calibri" pitchFamily="34" charset="0"/>
                <a:ea typeface="Calibri" pitchFamily="34" charset="-122"/>
                <a:cs typeface="Calibri" pitchFamily="34" charset="-120"/>
              </a:rPr>
              <a:t>A hallucination is when AI confidently states something that is factually incorrect or completely made up — delivered in fluent, convincing language.</a:t>
            </a:r>
            <a:endParaRPr lang="en-US" sz="1300" dirty="0"/>
          </a:p>
        </p:txBody>
      </p:sp>
      <p:sp>
        <p:nvSpPr>
          <p:cNvPr id="9" name="Shape 7"/>
          <p:cNvSpPr/>
          <p:nvPr/>
        </p:nvSpPr>
        <p:spPr>
          <a:xfrm>
            <a:off x="457200" y="2377440"/>
            <a:ext cx="2651760" cy="2468880"/>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0" name="Shape 8"/>
          <p:cNvSpPr/>
          <p:nvPr/>
        </p:nvSpPr>
        <p:spPr>
          <a:xfrm>
            <a:off x="457200" y="2377440"/>
            <a:ext cx="2651760" cy="402336"/>
          </a:xfrm>
          <a:prstGeom prst="rect">
            <a:avLst/>
          </a:prstGeom>
          <a:solidFill>
            <a:srgbClr val="1E2761"/>
          </a:solidFill>
          <a:ln w="12700">
            <a:solidFill>
              <a:srgbClr val="1E2761"/>
            </a:solidFill>
            <a:prstDash val="solid"/>
          </a:ln>
        </p:spPr>
      </p:sp>
      <p:sp>
        <p:nvSpPr>
          <p:cNvPr id="11" name="Text 9"/>
          <p:cNvSpPr/>
          <p:nvPr/>
        </p:nvSpPr>
        <p:spPr>
          <a:xfrm>
            <a:off x="566928" y="2395728"/>
            <a:ext cx="2468880" cy="36576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Why it happens</a:t>
            </a:r>
            <a:endParaRPr lang="en-US" sz="1300" dirty="0"/>
          </a:p>
        </p:txBody>
      </p:sp>
      <p:sp>
        <p:nvSpPr>
          <p:cNvPr id="12" name="Shape 10"/>
          <p:cNvSpPr/>
          <p:nvPr/>
        </p:nvSpPr>
        <p:spPr>
          <a:xfrm>
            <a:off x="621792" y="2907792"/>
            <a:ext cx="128016" cy="128016"/>
          </a:xfrm>
          <a:prstGeom prst="ellipse">
            <a:avLst/>
          </a:prstGeom>
          <a:solidFill>
            <a:srgbClr val="1E2761"/>
          </a:solidFill>
          <a:ln w="12700">
            <a:solidFill>
              <a:srgbClr val="1E2761"/>
            </a:solidFill>
            <a:prstDash val="solid"/>
          </a:ln>
        </p:spPr>
      </p:sp>
      <p:sp>
        <p:nvSpPr>
          <p:cNvPr id="13" name="Text 11"/>
          <p:cNvSpPr/>
          <p:nvPr/>
        </p:nvSpPr>
        <p:spPr>
          <a:xfrm>
            <a:off x="822960" y="2862072"/>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LLMs predict the next likely word based on patterns</a:t>
            </a:r>
            <a:endParaRPr lang="en-US" sz="1100" dirty="0"/>
          </a:p>
        </p:txBody>
      </p:sp>
      <p:sp>
        <p:nvSpPr>
          <p:cNvPr id="14" name="Shape 12"/>
          <p:cNvSpPr/>
          <p:nvPr/>
        </p:nvSpPr>
        <p:spPr>
          <a:xfrm>
            <a:off x="621792" y="3474720"/>
            <a:ext cx="128016" cy="128016"/>
          </a:xfrm>
          <a:prstGeom prst="ellipse">
            <a:avLst/>
          </a:prstGeom>
          <a:solidFill>
            <a:srgbClr val="1E2761"/>
          </a:solidFill>
          <a:ln w="12700">
            <a:solidFill>
              <a:srgbClr val="1E2761"/>
            </a:solidFill>
            <a:prstDash val="solid"/>
          </a:ln>
        </p:spPr>
      </p:sp>
      <p:sp>
        <p:nvSpPr>
          <p:cNvPr id="15" name="Text 13"/>
          <p:cNvSpPr/>
          <p:nvPr/>
        </p:nvSpPr>
        <p:spPr>
          <a:xfrm>
            <a:off x="822960" y="3429000"/>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They do not 'know' facts — they generate plausible text</a:t>
            </a:r>
            <a:endParaRPr lang="en-US" sz="1100" dirty="0"/>
          </a:p>
        </p:txBody>
      </p:sp>
      <p:sp>
        <p:nvSpPr>
          <p:cNvPr id="16" name="Shape 14"/>
          <p:cNvSpPr/>
          <p:nvPr/>
        </p:nvSpPr>
        <p:spPr>
          <a:xfrm>
            <a:off x="621792" y="4041648"/>
            <a:ext cx="128016" cy="128016"/>
          </a:xfrm>
          <a:prstGeom prst="ellipse">
            <a:avLst/>
          </a:prstGeom>
          <a:solidFill>
            <a:srgbClr val="1E2761"/>
          </a:solidFill>
          <a:ln w="12700">
            <a:solidFill>
              <a:srgbClr val="1E2761"/>
            </a:solidFill>
            <a:prstDash val="solid"/>
          </a:ln>
        </p:spPr>
      </p:sp>
      <p:sp>
        <p:nvSpPr>
          <p:cNvPr id="17" name="Text 15"/>
          <p:cNvSpPr/>
          <p:nvPr/>
        </p:nvSpPr>
        <p:spPr>
          <a:xfrm>
            <a:off x="822960" y="3995928"/>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No built-in fact-checker — it fills gaps with confidence</a:t>
            </a:r>
            <a:endParaRPr lang="en-US" sz="1100" dirty="0"/>
          </a:p>
        </p:txBody>
      </p:sp>
      <p:sp>
        <p:nvSpPr>
          <p:cNvPr id="18" name="Shape 16"/>
          <p:cNvSpPr/>
          <p:nvPr/>
        </p:nvSpPr>
        <p:spPr>
          <a:xfrm>
            <a:off x="3291840" y="2377440"/>
            <a:ext cx="2651760" cy="2468880"/>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9" name="Shape 17"/>
          <p:cNvSpPr/>
          <p:nvPr/>
        </p:nvSpPr>
        <p:spPr>
          <a:xfrm>
            <a:off x="3291840" y="2377440"/>
            <a:ext cx="2651760" cy="402336"/>
          </a:xfrm>
          <a:prstGeom prst="rect">
            <a:avLst/>
          </a:prstGeom>
          <a:solidFill>
            <a:srgbClr val="028090"/>
          </a:solidFill>
          <a:ln w="12700">
            <a:solidFill>
              <a:srgbClr val="028090"/>
            </a:solidFill>
            <a:prstDash val="solid"/>
          </a:ln>
        </p:spPr>
      </p:sp>
      <p:sp>
        <p:nvSpPr>
          <p:cNvPr id="20" name="Text 18"/>
          <p:cNvSpPr/>
          <p:nvPr/>
        </p:nvSpPr>
        <p:spPr>
          <a:xfrm>
            <a:off x="3401568" y="2395728"/>
            <a:ext cx="2468880" cy="36576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How to spot it</a:t>
            </a:r>
            <a:endParaRPr lang="en-US" sz="1300" dirty="0"/>
          </a:p>
        </p:txBody>
      </p:sp>
      <p:sp>
        <p:nvSpPr>
          <p:cNvPr id="21" name="Shape 19"/>
          <p:cNvSpPr/>
          <p:nvPr/>
        </p:nvSpPr>
        <p:spPr>
          <a:xfrm>
            <a:off x="3456432" y="2907792"/>
            <a:ext cx="128016" cy="128016"/>
          </a:xfrm>
          <a:prstGeom prst="ellipse">
            <a:avLst/>
          </a:prstGeom>
          <a:solidFill>
            <a:srgbClr val="028090"/>
          </a:solidFill>
          <a:ln w="12700">
            <a:solidFill>
              <a:srgbClr val="028090"/>
            </a:solidFill>
            <a:prstDash val="solid"/>
          </a:ln>
        </p:spPr>
      </p:sp>
      <p:sp>
        <p:nvSpPr>
          <p:cNvPr id="22" name="Text 20"/>
          <p:cNvSpPr/>
          <p:nvPr/>
        </p:nvSpPr>
        <p:spPr>
          <a:xfrm>
            <a:off x="3657600" y="2862072"/>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Something sounds too convenient or perfectly phrased</a:t>
            </a:r>
            <a:endParaRPr lang="en-US" sz="1100" dirty="0"/>
          </a:p>
        </p:txBody>
      </p:sp>
      <p:sp>
        <p:nvSpPr>
          <p:cNvPr id="23" name="Shape 21"/>
          <p:cNvSpPr/>
          <p:nvPr/>
        </p:nvSpPr>
        <p:spPr>
          <a:xfrm>
            <a:off x="3456432" y="3474720"/>
            <a:ext cx="128016" cy="128016"/>
          </a:xfrm>
          <a:prstGeom prst="ellipse">
            <a:avLst/>
          </a:prstGeom>
          <a:solidFill>
            <a:srgbClr val="028090"/>
          </a:solidFill>
          <a:ln w="12700">
            <a:solidFill>
              <a:srgbClr val="028090"/>
            </a:solidFill>
            <a:prstDash val="solid"/>
          </a:ln>
        </p:spPr>
      </p:sp>
      <p:sp>
        <p:nvSpPr>
          <p:cNvPr id="24" name="Text 22"/>
          <p:cNvSpPr/>
          <p:nvPr/>
        </p:nvSpPr>
        <p:spPr>
          <a:xfrm>
            <a:off x="3657600" y="3429000"/>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Statistics, dates, or names that seem specific</a:t>
            </a:r>
            <a:endParaRPr lang="en-US" sz="1100" dirty="0"/>
          </a:p>
        </p:txBody>
      </p:sp>
      <p:sp>
        <p:nvSpPr>
          <p:cNvPr id="25" name="Shape 23"/>
          <p:cNvSpPr/>
          <p:nvPr/>
        </p:nvSpPr>
        <p:spPr>
          <a:xfrm>
            <a:off x="3456432" y="4041648"/>
            <a:ext cx="128016" cy="128016"/>
          </a:xfrm>
          <a:prstGeom prst="ellipse">
            <a:avLst/>
          </a:prstGeom>
          <a:solidFill>
            <a:srgbClr val="028090"/>
          </a:solidFill>
          <a:ln w="12700">
            <a:solidFill>
              <a:srgbClr val="028090"/>
            </a:solidFill>
            <a:prstDash val="solid"/>
          </a:ln>
        </p:spPr>
      </p:sp>
      <p:sp>
        <p:nvSpPr>
          <p:cNvPr id="26" name="Text 24"/>
          <p:cNvSpPr/>
          <p:nvPr/>
        </p:nvSpPr>
        <p:spPr>
          <a:xfrm>
            <a:off x="3657600" y="3995928"/>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Claims about things Copilot cannot actually know</a:t>
            </a:r>
            <a:endParaRPr lang="en-US" sz="1100" dirty="0"/>
          </a:p>
        </p:txBody>
      </p:sp>
      <p:sp>
        <p:nvSpPr>
          <p:cNvPr id="27" name="Shape 25"/>
          <p:cNvSpPr/>
          <p:nvPr/>
        </p:nvSpPr>
        <p:spPr>
          <a:xfrm>
            <a:off x="6126480" y="2377440"/>
            <a:ext cx="2651760" cy="2468880"/>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28" name="Shape 26"/>
          <p:cNvSpPr/>
          <p:nvPr/>
        </p:nvSpPr>
        <p:spPr>
          <a:xfrm>
            <a:off x="6126480" y="2377440"/>
            <a:ext cx="2651760" cy="402336"/>
          </a:xfrm>
          <a:prstGeom prst="rect">
            <a:avLst/>
          </a:prstGeom>
          <a:solidFill>
            <a:srgbClr val="1D6F42"/>
          </a:solidFill>
          <a:ln w="12700">
            <a:solidFill>
              <a:srgbClr val="1D6F42"/>
            </a:solidFill>
            <a:prstDash val="solid"/>
          </a:ln>
        </p:spPr>
      </p:sp>
      <p:sp>
        <p:nvSpPr>
          <p:cNvPr id="29" name="Text 27"/>
          <p:cNvSpPr/>
          <p:nvPr/>
        </p:nvSpPr>
        <p:spPr>
          <a:xfrm>
            <a:off x="6236208" y="2395728"/>
            <a:ext cx="2468880" cy="36576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What to do</a:t>
            </a:r>
            <a:endParaRPr lang="en-US" sz="1300" dirty="0"/>
          </a:p>
        </p:txBody>
      </p:sp>
      <p:sp>
        <p:nvSpPr>
          <p:cNvPr id="30" name="Shape 28"/>
          <p:cNvSpPr/>
          <p:nvPr/>
        </p:nvSpPr>
        <p:spPr>
          <a:xfrm>
            <a:off x="6291072" y="2907792"/>
            <a:ext cx="128016" cy="128016"/>
          </a:xfrm>
          <a:prstGeom prst="ellipse">
            <a:avLst/>
          </a:prstGeom>
          <a:solidFill>
            <a:srgbClr val="1D6F42"/>
          </a:solidFill>
          <a:ln w="12700">
            <a:solidFill>
              <a:srgbClr val="1D6F42"/>
            </a:solidFill>
            <a:prstDash val="solid"/>
          </a:ln>
        </p:spPr>
      </p:sp>
      <p:sp>
        <p:nvSpPr>
          <p:cNvPr id="31" name="Text 29"/>
          <p:cNvSpPr/>
          <p:nvPr/>
        </p:nvSpPr>
        <p:spPr>
          <a:xfrm>
            <a:off x="6492240" y="2862072"/>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Never copy Copilot output into a report without checking</a:t>
            </a:r>
            <a:endParaRPr lang="en-US" sz="1100" dirty="0"/>
          </a:p>
        </p:txBody>
      </p:sp>
      <p:sp>
        <p:nvSpPr>
          <p:cNvPr id="32" name="Shape 30"/>
          <p:cNvSpPr/>
          <p:nvPr/>
        </p:nvSpPr>
        <p:spPr>
          <a:xfrm>
            <a:off x="6291072" y="3474720"/>
            <a:ext cx="128016" cy="128016"/>
          </a:xfrm>
          <a:prstGeom prst="ellipse">
            <a:avLst/>
          </a:prstGeom>
          <a:solidFill>
            <a:srgbClr val="1D6F42"/>
          </a:solidFill>
          <a:ln w="12700">
            <a:solidFill>
              <a:srgbClr val="1D6F42"/>
            </a:solidFill>
            <a:prstDash val="solid"/>
          </a:ln>
        </p:spPr>
      </p:sp>
      <p:sp>
        <p:nvSpPr>
          <p:cNvPr id="33" name="Text 31"/>
          <p:cNvSpPr/>
          <p:nvPr/>
        </p:nvSpPr>
        <p:spPr>
          <a:xfrm>
            <a:off x="6492240" y="3429000"/>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Verify facts, figures, and names from original sources</a:t>
            </a:r>
            <a:endParaRPr lang="en-US" sz="1100" dirty="0"/>
          </a:p>
        </p:txBody>
      </p:sp>
      <p:sp>
        <p:nvSpPr>
          <p:cNvPr id="34" name="Shape 32"/>
          <p:cNvSpPr/>
          <p:nvPr/>
        </p:nvSpPr>
        <p:spPr>
          <a:xfrm>
            <a:off x="6291072" y="4041648"/>
            <a:ext cx="128016" cy="128016"/>
          </a:xfrm>
          <a:prstGeom prst="ellipse">
            <a:avLst/>
          </a:prstGeom>
          <a:solidFill>
            <a:srgbClr val="1D6F42"/>
          </a:solidFill>
          <a:ln w="12700">
            <a:solidFill>
              <a:srgbClr val="1D6F42"/>
            </a:solidFill>
            <a:prstDash val="solid"/>
          </a:ln>
        </p:spPr>
      </p:sp>
      <p:sp>
        <p:nvSpPr>
          <p:cNvPr id="35" name="Text 33"/>
          <p:cNvSpPr/>
          <p:nvPr/>
        </p:nvSpPr>
        <p:spPr>
          <a:xfrm>
            <a:off x="6492240" y="3995928"/>
            <a:ext cx="2176272" cy="45720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Use Copilot for drafting — you are the expert reviewer</a:t>
            </a:r>
            <a:endParaRPr lang="en-US" sz="1100" dirty="0"/>
          </a:p>
        </p:txBody>
      </p:sp>
      <p:sp>
        <p:nvSpPr>
          <p:cNvPr id="36" name="Text 3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KEY CONCEPT — RAG</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Why M365 Copilot Knows Your Work Context</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548640" y="1828800"/>
            <a:ext cx="1828800" cy="1371600"/>
          </a:xfrm>
          <a:prstGeom prst="rect">
            <a:avLst/>
          </a:prstGeom>
          <a:solidFill>
            <a:srgbClr val="1E2761"/>
          </a:solidFill>
          <a:ln w="12700">
            <a:solidFill>
              <a:srgbClr val="1E2761"/>
            </a:solidFill>
            <a:prstDash val="solid"/>
          </a:ln>
          <a:effectLst>
            <a:outerShdw sx="100000" sy="100000" kx="0" ky="0" algn="bl" rotWithShape="0" blurRad="63500" dist="25400" dir="8100000">
              <a:srgbClr val="000000">
                <a:alpha val="12000"/>
              </a:srgbClr>
            </a:outerShdw>
          </a:effectLst>
        </p:spPr>
      </p:sp>
      <p:sp>
        <p:nvSpPr>
          <p:cNvPr id="7" name="Text 5"/>
          <p:cNvSpPr/>
          <p:nvPr/>
        </p:nvSpPr>
        <p:spPr>
          <a:xfrm>
            <a:off x="548640" y="1874520"/>
            <a:ext cx="36576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8" name="Text 6"/>
          <p:cNvSpPr/>
          <p:nvPr/>
        </p:nvSpPr>
        <p:spPr>
          <a:xfrm>
            <a:off x="621792" y="2240280"/>
            <a:ext cx="1691640" cy="8686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You ask</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a question</a:t>
            </a:r>
            <a:endParaRPr lang="en-US" sz="1300" dirty="0"/>
          </a:p>
        </p:txBody>
      </p:sp>
      <p:sp>
        <p:nvSpPr>
          <p:cNvPr id="9" name="Shape 7"/>
          <p:cNvSpPr/>
          <p:nvPr/>
        </p:nvSpPr>
        <p:spPr>
          <a:xfrm>
            <a:off x="2395728" y="2459736"/>
            <a:ext cx="228600" cy="54864"/>
          </a:xfrm>
          <a:prstGeom prst="rect">
            <a:avLst/>
          </a:prstGeom>
          <a:solidFill>
            <a:srgbClr val="1E2761"/>
          </a:solidFill>
          <a:ln w="12700">
            <a:solidFill>
              <a:srgbClr val="1E2761"/>
            </a:solidFill>
            <a:prstDash val="solid"/>
          </a:ln>
        </p:spPr>
      </p:sp>
      <p:sp>
        <p:nvSpPr>
          <p:cNvPr id="10" name="Shape 8"/>
          <p:cNvSpPr/>
          <p:nvPr/>
        </p:nvSpPr>
        <p:spPr>
          <a:xfrm>
            <a:off x="2651760" y="1828800"/>
            <a:ext cx="1828800" cy="1371600"/>
          </a:xfrm>
          <a:prstGeom prst="rect">
            <a:avLst/>
          </a:prstGeom>
          <a:solidFill>
            <a:srgbClr val="028090"/>
          </a:solidFill>
          <a:ln w="12700">
            <a:solidFill>
              <a:srgbClr val="028090"/>
            </a:solidFill>
            <a:prstDash val="solid"/>
          </a:ln>
          <a:effectLst>
            <a:outerShdw sx="100000" sy="100000" kx="0" ky="0" algn="bl" rotWithShape="0" blurRad="63500" dist="25400" dir="8100000">
              <a:srgbClr val="000000">
                <a:alpha val="12000"/>
              </a:srgbClr>
            </a:outerShdw>
          </a:effectLst>
        </p:spPr>
      </p:sp>
      <p:sp>
        <p:nvSpPr>
          <p:cNvPr id="11" name="Text 9"/>
          <p:cNvSpPr/>
          <p:nvPr/>
        </p:nvSpPr>
        <p:spPr>
          <a:xfrm>
            <a:off x="2651760" y="1874520"/>
            <a:ext cx="36576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2724912" y="2240280"/>
            <a:ext cx="1691640" cy="8686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Copilot searches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your M365 data</a:t>
            </a:r>
            <a:endParaRPr lang="en-US" sz="1300" dirty="0"/>
          </a:p>
        </p:txBody>
      </p:sp>
      <p:sp>
        <p:nvSpPr>
          <p:cNvPr id="13" name="Shape 11"/>
          <p:cNvSpPr/>
          <p:nvPr/>
        </p:nvSpPr>
        <p:spPr>
          <a:xfrm>
            <a:off x="4498848" y="2459736"/>
            <a:ext cx="228600" cy="54864"/>
          </a:xfrm>
          <a:prstGeom prst="rect">
            <a:avLst/>
          </a:prstGeom>
          <a:solidFill>
            <a:srgbClr val="1E2761"/>
          </a:solidFill>
          <a:ln w="12700">
            <a:solidFill>
              <a:srgbClr val="1E2761"/>
            </a:solidFill>
            <a:prstDash val="solid"/>
          </a:ln>
        </p:spPr>
      </p:sp>
      <p:sp>
        <p:nvSpPr>
          <p:cNvPr id="14" name="Shape 12"/>
          <p:cNvSpPr/>
          <p:nvPr/>
        </p:nvSpPr>
        <p:spPr>
          <a:xfrm>
            <a:off x="4754880" y="1828800"/>
            <a:ext cx="1828800" cy="1371600"/>
          </a:xfrm>
          <a:prstGeom prst="rect">
            <a:avLst/>
          </a:prstGeom>
          <a:solidFill>
            <a:srgbClr val="5558AF"/>
          </a:solidFill>
          <a:ln w="12700">
            <a:solidFill>
              <a:srgbClr val="5558AF"/>
            </a:solidFill>
            <a:prstDash val="solid"/>
          </a:ln>
          <a:effectLst>
            <a:outerShdw sx="100000" sy="100000" kx="0" ky="0" algn="bl" rotWithShape="0" blurRad="63500" dist="25400" dir="8100000">
              <a:srgbClr val="000000">
                <a:alpha val="12000"/>
              </a:srgbClr>
            </a:outerShdw>
          </a:effectLst>
        </p:spPr>
      </p:sp>
      <p:sp>
        <p:nvSpPr>
          <p:cNvPr id="15" name="Text 13"/>
          <p:cNvSpPr/>
          <p:nvPr/>
        </p:nvSpPr>
        <p:spPr>
          <a:xfrm>
            <a:off x="4754880" y="1874520"/>
            <a:ext cx="36576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6" name="Text 14"/>
          <p:cNvSpPr/>
          <p:nvPr/>
        </p:nvSpPr>
        <p:spPr>
          <a:xfrm>
            <a:off x="4828032" y="2240280"/>
            <a:ext cx="1691640" cy="8686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Retrieves relevant</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files / emails</a:t>
            </a:r>
            <a:endParaRPr lang="en-US" sz="1300" dirty="0"/>
          </a:p>
        </p:txBody>
      </p:sp>
      <p:sp>
        <p:nvSpPr>
          <p:cNvPr id="17" name="Shape 15"/>
          <p:cNvSpPr/>
          <p:nvPr/>
        </p:nvSpPr>
        <p:spPr>
          <a:xfrm>
            <a:off x="6601968" y="2459736"/>
            <a:ext cx="228600" cy="54864"/>
          </a:xfrm>
          <a:prstGeom prst="rect">
            <a:avLst/>
          </a:prstGeom>
          <a:solidFill>
            <a:srgbClr val="1E2761"/>
          </a:solidFill>
          <a:ln w="12700">
            <a:solidFill>
              <a:srgbClr val="1E2761"/>
            </a:solidFill>
            <a:prstDash val="solid"/>
          </a:ln>
        </p:spPr>
      </p:sp>
      <p:sp>
        <p:nvSpPr>
          <p:cNvPr id="18" name="Shape 16"/>
          <p:cNvSpPr/>
          <p:nvPr/>
        </p:nvSpPr>
        <p:spPr>
          <a:xfrm>
            <a:off x="6858000" y="1828800"/>
            <a:ext cx="1828800" cy="1371600"/>
          </a:xfrm>
          <a:prstGeom prst="rect">
            <a:avLst/>
          </a:prstGeom>
          <a:solidFill>
            <a:srgbClr val="1D6F42"/>
          </a:solidFill>
          <a:ln w="12700">
            <a:solidFill>
              <a:srgbClr val="1D6F42"/>
            </a:solidFill>
            <a:prstDash val="solid"/>
          </a:ln>
          <a:effectLst>
            <a:outerShdw sx="100000" sy="100000" kx="0" ky="0" algn="bl" rotWithShape="0" blurRad="63500" dist="25400" dir="8100000">
              <a:srgbClr val="000000">
                <a:alpha val="12000"/>
              </a:srgbClr>
            </a:outerShdw>
          </a:effectLst>
        </p:spPr>
      </p:sp>
      <p:sp>
        <p:nvSpPr>
          <p:cNvPr id="19" name="Text 17"/>
          <p:cNvSpPr/>
          <p:nvPr/>
        </p:nvSpPr>
        <p:spPr>
          <a:xfrm>
            <a:off x="6858000" y="1874520"/>
            <a:ext cx="36576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4</a:t>
            </a:r>
            <a:endParaRPr lang="en-US" sz="1800" dirty="0"/>
          </a:p>
        </p:txBody>
      </p:sp>
      <p:sp>
        <p:nvSpPr>
          <p:cNvPr id="20" name="Text 18"/>
          <p:cNvSpPr/>
          <p:nvPr/>
        </p:nvSpPr>
        <p:spPr>
          <a:xfrm>
            <a:off x="6931152" y="2240280"/>
            <a:ext cx="1691640" cy="8686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Generates 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grounded answer</a:t>
            </a:r>
            <a:endParaRPr lang="en-US" sz="1300" dirty="0"/>
          </a:p>
        </p:txBody>
      </p:sp>
      <p:sp>
        <p:nvSpPr>
          <p:cNvPr id="21" name="Shape 19"/>
          <p:cNvSpPr/>
          <p:nvPr/>
        </p:nvSpPr>
        <p:spPr>
          <a:xfrm>
            <a:off x="457200" y="3429000"/>
            <a:ext cx="8229600" cy="1371600"/>
          </a:xfrm>
          <a:prstGeom prst="rect">
            <a:avLst/>
          </a:prstGeom>
          <a:solidFill>
            <a:srgbClr val="E0F4F7"/>
          </a:solidFill>
          <a:ln w="12700">
            <a:solidFill>
              <a:srgbClr val="028090"/>
            </a:solidFill>
            <a:prstDash val="solid"/>
          </a:ln>
        </p:spPr>
      </p:sp>
      <p:sp>
        <p:nvSpPr>
          <p:cNvPr id="22" name="Shape 20"/>
          <p:cNvSpPr/>
          <p:nvPr/>
        </p:nvSpPr>
        <p:spPr>
          <a:xfrm>
            <a:off x="457200" y="3429000"/>
            <a:ext cx="91440" cy="1371600"/>
          </a:xfrm>
          <a:prstGeom prst="rect">
            <a:avLst/>
          </a:prstGeom>
          <a:solidFill>
            <a:srgbClr val="028090"/>
          </a:solidFill>
          <a:ln w="12700">
            <a:solidFill>
              <a:srgbClr val="028090"/>
            </a:solidFill>
            <a:prstDash val="solid"/>
          </a:ln>
        </p:spPr>
      </p:sp>
      <p:sp>
        <p:nvSpPr>
          <p:cNvPr id="23" name="Text 21"/>
          <p:cNvSpPr/>
          <p:nvPr/>
        </p:nvSpPr>
        <p:spPr>
          <a:xfrm>
            <a:off x="685800" y="3520440"/>
            <a:ext cx="7863840" cy="1188720"/>
          </a:xfrm>
          <a:prstGeom prst="rect">
            <a:avLst/>
          </a:prstGeom>
          <a:noFill/>
          <a:ln/>
        </p:spPr>
        <p:txBody>
          <a:bodyPr wrap="square" rtlCol="0" anchor="ctr"/>
          <a:lstStyle/>
          <a:p>
            <a:pPr indent="0" marL="0">
              <a:buNone/>
            </a:pPr>
            <a:r>
              <a:rPr lang="en-US" sz="1250" b="1" dirty="0">
                <a:solidFill>
                  <a:srgbClr val="1A1A2E"/>
                </a:solidFill>
                <a:latin typeface="Calibri" pitchFamily="34" charset="0"/>
                <a:ea typeface="Calibri" pitchFamily="34" charset="-122"/>
                <a:cs typeface="Calibri" pitchFamily="34" charset="-120"/>
              </a:rPr>
              <a:t>What this means for you: </a:t>
            </a:r>
            <a:pPr indent="0" marL="0">
              <a:buNone/>
            </a:pPr>
            <a:r>
              <a:rPr lang="en-US" sz="1250" dirty="0">
                <a:solidFill>
                  <a:srgbClr val="1A1A2E"/>
                </a:solidFill>
                <a:latin typeface="Calibri" pitchFamily="34" charset="0"/>
                <a:ea typeface="Calibri" pitchFamily="34" charset="-122"/>
                <a:cs typeface="Calibri" pitchFamily="34" charset="-120"/>
              </a:rPr>
              <a:t>When you ask M365 Copilot to 'summarise last month's project emails' or 'draft a proposal based on our Q2 report', it is not guessing. It is retrieving your actual files from SharePoint and OneDrive, then generating a response grounded in that content. This is the core of what makes M365 Copilot different from a generic AI chatbot.</a:t>
            </a:r>
            <a:endParaRPr lang="en-US" sz="1250" dirty="0"/>
          </a:p>
        </p:txBody>
      </p:sp>
      <p:sp>
        <p:nvSpPr>
          <p:cNvPr id="24" name="Text 22"/>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SUMMARY</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Quick Reference — All Key Terms</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3291840"/>
        </p:xfrm>
        <a:graphic>
          <a:graphicData uri="http://schemas.openxmlformats.org/drawingml/2006/table">
            <a:tbl>
              <a:tblPr/>
              <a:tblGrid>
                <a:gridCol w="1828800"/>
                <a:gridCol w="640080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Term</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One-line meaning</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LLM</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AI trained on text to understand and generate language</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GenAI</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AI that creates new content (text, images, summaries)</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NLP</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Technology that lets AI understand human language</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Prompt</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Your instruction to the AI — quality in = quality out</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Context</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Background info you provide alongside your prompt</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Hallucination</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When AI generates plausible but incorrect information — always verify</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Agentic AI</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AI that takes actions on your behalf, not just answers questions</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RAG</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AI that retrieves from a specific knowledge source before responding</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E2761"/>
                          </a:solidFill>
                          <a:latin typeface="Trebuchet MS" pitchFamily="34" charset="0"/>
                          <a:ea typeface="Trebuchet MS" pitchFamily="34" charset="-122"/>
                          <a:cs typeface="Trebuchet MS" pitchFamily="34" charset="-120"/>
                        </a:rPr>
                        <a:t>Token</a:t>
                      </a:r>
                      <a:endParaRPr lang="en-US" sz="115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latin typeface="Calibri" pitchFamily="34" charset="0"/>
                          <a:ea typeface="Calibri" pitchFamily="34" charset="-122"/>
                          <a:cs typeface="Calibri" pitchFamily="34" charset="-120"/>
                        </a:rPr>
                        <a:t>Unit of text processed by an LLM — approx. 0.75 words per token</a:t>
                      </a:r>
                      <a:endParaRPr lang="en-US" sz="11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Shape 4"/>
          <p:cNvSpPr/>
          <p:nvPr/>
        </p:nvSpPr>
        <p:spPr>
          <a:xfrm>
            <a:off x="457200" y="1554480"/>
            <a:ext cx="8229600" cy="329184"/>
          </a:xfrm>
          <a:prstGeom prst="rect">
            <a:avLst/>
          </a:prstGeom>
          <a:solidFill>
            <a:srgbClr val="1E2761"/>
          </a:solidFill>
          <a:ln w="12700">
            <a:solidFill>
              <a:srgbClr val="1E2761"/>
            </a:solidFill>
            <a:prstDash val="solid"/>
          </a:ln>
        </p:spPr>
      </p:sp>
      <p:sp>
        <p:nvSpPr>
          <p:cNvPr id="8" name="Text 5"/>
          <p:cNvSpPr/>
          <p:nvPr/>
        </p:nvSpPr>
        <p:spPr>
          <a:xfrm>
            <a:off x="548640" y="1572768"/>
            <a:ext cx="1645920" cy="292608"/>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Term</a:t>
            </a:r>
            <a:endParaRPr lang="en-US" sz="1200" dirty="0"/>
          </a:p>
        </p:txBody>
      </p:sp>
      <p:sp>
        <p:nvSpPr>
          <p:cNvPr id="9" name="Text 6"/>
          <p:cNvSpPr/>
          <p:nvPr/>
        </p:nvSpPr>
        <p:spPr>
          <a:xfrm>
            <a:off x="2377440" y="1572768"/>
            <a:ext cx="6217920" cy="292608"/>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One-line meaning</a:t>
            </a:r>
            <a:endParaRPr lang="en-US" sz="1200" dirty="0"/>
          </a:p>
        </p:txBody>
      </p:sp>
      <p:sp>
        <p:nvSpPr>
          <p:cNvPr id="10" name="Text 7"/>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COPILOT CHAT — MODEL SWITCHER</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One Interface, Multiple AI Models</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Text 4"/>
          <p:cNvSpPr/>
          <p:nvPr/>
        </p:nvSpPr>
        <p:spPr>
          <a:xfrm>
            <a:off x="457200" y="1554480"/>
            <a:ext cx="8229600" cy="50292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In Copilot Chat, you can switch between AI models using the selector at the top right. Try the same prompt in different models and compare.</a:t>
            </a:r>
            <a:endParaRPr lang="en-US" sz="1300" dirty="0"/>
          </a:p>
        </p:txBody>
      </p:sp>
      <p:sp>
        <p:nvSpPr>
          <p:cNvPr id="7" name="Shape 5"/>
          <p:cNvSpPr/>
          <p:nvPr/>
        </p:nvSpPr>
        <p:spPr>
          <a:xfrm>
            <a:off x="457200" y="2103120"/>
            <a:ext cx="2606040" cy="1078992"/>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8" name="Shape 6"/>
          <p:cNvSpPr/>
          <p:nvPr/>
        </p:nvSpPr>
        <p:spPr>
          <a:xfrm>
            <a:off x="457200" y="2103120"/>
            <a:ext cx="91440" cy="1078992"/>
          </a:xfrm>
          <a:prstGeom prst="rect">
            <a:avLst/>
          </a:prstGeom>
          <a:solidFill>
            <a:srgbClr val="028090"/>
          </a:solidFill>
          <a:ln w="12700">
            <a:solidFill>
              <a:srgbClr val="028090"/>
            </a:solidFill>
            <a:prstDash val="solid"/>
          </a:ln>
        </p:spPr>
      </p:sp>
      <p:sp>
        <p:nvSpPr>
          <p:cNvPr id="9" name="Text 7"/>
          <p:cNvSpPr/>
          <p:nvPr/>
        </p:nvSpPr>
        <p:spPr>
          <a:xfrm>
            <a:off x="640080" y="2194560"/>
            <a:ext cx="2377440" cy="292608"/>
          </a:xfrm>
          <a:prstGeom prst="rect">
            <a:avLst/>
          </a:prstGeom>
          <a:noFill/>
          <a:ln/>
        </p:spPr>
        <p:txBody>
          <a:bodyPr wrap="square" lIns="0" tIns="0" rIns="0" bIns="0" rtlCol="0" anchor="ctr"/>
          <a:lstStyle/>
          <a:p>
            <a:pPr indent="0" marL="0">
              <a:buNone/>
            </a:pPr>
            <a:r>
              <a:rPr lang="en-US" sz="1500" b="1" dirty="0">
                <a:solidFill>
                  <a:srgbClr val="028090"/>
                </a:solidFill>
                <a:latin typeface="Trebuchet MS" pitchFamily="34" charset="0"/>
                <a:ea typeface="Trebuchet MS" pitchFamily="34" charset="-122"/>
                <a:cs typeface="Trebuchet MS" pitchFamily="34" charset="-120"/>
              </a:rPr>
              <a:t>Auto</a:t>
            </a:r>
            <a:endParaRPr lang="en-US" sz="1500" dirty="0"/>
          </a:p>
        </p:txBody>
      </p:sp>
      <p:sp>
        <p:nvSpPr>
          <p:cNvPr id="10" name="Text 8"/>
          <p:cNvSpPr/>
          <p:nvPr/>
        </p:nvSpPr>
        <p:spPr>
          <a:xfrm>
            <a:off x="640080" y="2523744"/>
            <a:ext cx="237744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Decides how long to think</a:t>
            </a:r>
            <a:endParaRPr lang="en-US" sz="1100" dirty="0"/>
          </a:p>
        </p:txBody>
      </p:sp>
      <p:sp>
        <p:nvSpPr>
          <p:cNvPr id="11" name="Shape 9"/>
          <p:cNvSpPr/>
          <p:nvPr/>
        </p:nvSpPr>
        <p:spPr>
          <a:xfrm>
            <a:off x="640080" y="2852928"/>
            <a:ext cx="1005840" cy="201168"/>
          </a:xfrm>
          <a:prstGeom prst="rect">
            <a:avLst/>
          </a:prstGeom>
          <a:solidFill>
            <a:srgbClr val="028090"/>
          </a:solidFill>
          <a:ln w="12700">
            <a:solidFill>
              <a:srgbClr val="028090"/>
            </a:solidFill>
            <a:prstDash val="solid"/>
          </a:ln>
        </p:spPr>
      </p:sp>
      <p:sp>
        <p:nvSpPr>
          <p:cNvPr id="12" name="Text 10"/>
          <p:cNvSpPr/>
          <p:nvPr/>
        </p:nvSpPr>
        <p:spPr>
          <a:xfrm>
            <a:off x="640080" y="2852928"/>
            <a:ext cx="100584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Default</a:t>
            </a:r>
            <a:endParaRPr lang="en-US" sz="900" dirty="0"/>
          </a:p>
        </p:txBody>
      </p:sp>
      <p:sp>
        <p:nvSpPr>
          <p:cNvPr id="13" name="Shape 11"/>
          <p:cNvSpPr/>
          <p:nvPr/>
        </p:nvSpPr>
        <p:spPr>
          <a:xfrm>
            <a:off x="3291840" y="2103120"/>
            <a:ext cx="2606040" cy="1078992"/>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14" name="Shape 12"/>
          <p:cNvSpPr/>
          <p:nvPr/>
        </p:nvSpPr>
        <p:spPr>
          <a:xfrm>
            <a:off x="3291840" y="2103120"/>
            <a:ext cx="91440" cy="1078992"/>
          </a:xfrm>
          <a:prstGeom prst="rect">
            <a:avLst/>
          </a:prstGeom>
          <a:solidFill>
            <a:srgbClr val="5558AF"/>
          </a:solidFill>
          <a:ln w="12700">
            <a:solidFill>
              <a:srgbClr val="5558AF"/>
            </a:solidFill>
            <a:prstDash val="solid"/>
          </a:ln>
        </p:spPr>
      </p:sp>
      <p:sp>
        <p:nvSpPr>
          <p:cNvPr id="15" name="Text 13"/>
          <p:cNvSpPr/>
          <p:nvPr/>
        </p:nvSpPr>
        <p:spPr>
          <a:xfrm>
            <a:off x="3474720" y="2194560"/>
            <a:ext cx="2377440" cy="292608"/>
          </a:xfrm>
          <a:prstGeom prst="rect">
            <a:avLst/>
          </a:prstGeom>
          <a:noFill/>
          <a:ln/>
        </p:spPr>
        <p:txBody>
          <a:bodyPr wrap="square" lIns="0" tIns="0" rIns="0" bIns="0" rtlCol="0" anchor="ctr"/>
          <a:lstStyle/>
          <a:p>
            <a:pPr indent="0" marL="0">
              <a:buNone/>
            </a:pPr>
            <a:r>
              <a:rPr lang="en-US" sz="1500" b="1" dirty="0">
                <a:solidFill>
                  <a:srgbClr val="5558AF"/>
                </a:solidFill>
                <a:latin typeface="Trebuchet MS" pitchFamily="34" charset="0"/>
                <a:ea typeface="Trebuchet MS" pitchFamily="34" charset="-122"/>
                <a:cs typeface="Trebuchet MS" pitchFamily="34" charset="-120"/>
              </a:rPr>
              <a:t>Quick Response</a:t>
            </a:r>
            <a:endParaRPr lang="en-US" sz="1500" dirty="0"/>
          </a:p>
        </p:txBody>
      </p:sp>
      <p:sp>
        <p:nvSpPr>
          <p:cNvPr id="16" name="Text 14"/>
          <p:cNvSpPr/>
          <p:nvPr/>
        </p:nvSpPr>
        <p:spPr>
          <a:xfrm>
            <a:off x="3474720" y="2523744"/>
            <a:ext cx="237744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Answers right away</a:t>
            </a:r>
            <a:endParaRPr lang="en-US" sz="1100" dirty="0"/>
          </a:p>
        </p:txBody>
      </p:sp>
      <p:sp>
        <p:nvSpPr>
          <p:cNvPr id="17" name="Shape 15"/>
          <p:cNvSpPr/>
          <p:nvPr/>
        </p:nvSpPr>
        <p:spPr>
          <a:xfrm>
            <a:off x="6126480" y="2103120"/>
            <a:ext cx="2606040" cy="1078992"/>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18" name="Shape 16"/>
          <p:cNvSpPr/>
          <p:nvPr/>
        </p:nvSpPr>
        <p:spPr>
          <a:xfrm>
            <a:off x="6126480" y="2103120"/>
            <a:ext cx="91440" cy="1078992"/>
          </a:xfrm>
          <a:prstGeom prst="rect">
            <a:avLst/>
          </a:prstGeom>
          <a:solidFill>
            <a:srgbClr val="1E2761"/>
          </a:solidFill>
          <a:ln w="12700">
            <a:solidFill>
              <a:srgbClr val="1E2761"/>
            </a:solidFill>
            <a:prstDash val="solid"/>
          </a:ln>
        </p:spPr>
      </p:sp>
      <p:sp>
        <p:nvSpPr>
          <p:cNvPr id="19" name="Text 17"/>
          <p:cNvSpPr/>
          <p:nvPr/>
        </p:nvSpPr>
        <p:spPr>
          <a:xfrm>
            <a:off x="6309360" y="2194560"/>
            <a:ext cx="2377440" cy="292608"/>
          </a:xfrm>
          <a:prstGeom prst="rect">
            <a:avLst/>
          </a:prstGeom>
          <a:noFill/>
          <a:ln/>
        </p:spPr>
        <p:txBody>
          <a:bodyPr wrap="square" lIns="0" tIns="0" rIns="0" bIns="0" rtlCol="0" anchor="ctr"/>
          <a:lstStyle/>
          <a:p>
            <a:pPr indent="0" marL="0">
              <a:buNone/>
            </a:pPr>
            <a:r>
              <a:rPr lang="en-US" sz="1500" b="1" dirty="0">
                <a:solidFill>
                  <a:srgbClr val="1E2761"/>
                </a:solidFill>
                <a:latin typeface="Trebuchet MS" pitchFamily="34" charset="0"/>
                <a:ea typeface="Trebuchet MS" pitchFamily="34" charset="-122"/>
                <a:cs typeface="Trebuchet MS" pitchFamily="34" charset="-120"/>
              </a:rPr>
              <a:t>Think Deeper</a:t>
            </a:r>
            <a:endParaRPr lang="en-US" sz="1500" dirty="0"/>
          </a:p>
        </p:txBody>
      </p:sp>
      <p:sp>
        <p:nvSpPr>
          <p:cNvPr id="20" name="Text 18"/>
          <p:cNvSpPr/>
          <p:nvPr/>
        </p:nvSpPr>
        <p:spPr>
          <a:xfrm>
            <a:off x="6309360" y="2523744"/>
            <a:ext cx="237744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Thinks longer for better answers</a:t>
            </a:r>
            <a:endParaRPr lang="en-US" sz="1100" dirty="0"/>
          </a:p>
        </p:txBody>
      </p:sp>
      <p:sp>
        <p:nvSpPr>
          <p:cNvPr id="21" name="Shape 19"/>
          <p:cNvSpPr/>
          <p:nvPr/>
        </p:nvSpPr>
        <p:spPr>
          <a:xfrm>
            <a:off x="1874520" y="3493008"/>
            <a:ext cx="2606040" cy="1078992"/>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22" name="Shape 20"/>
          <p:cNvSpPr/>
          <p:nvPr/>
        </p:nvSpPr>
        <p:spPr>
          <a:xfrm>
            <a:off x="1874520" y="3493008"/>
            <a:ext cx="91440" cy="1078992"/>
          </a:xfrm>
          <a:prstGeom prst="rect">
            <a:avLst/>
          </a:prstGeom>
          <a:solidFill>
            <a:srgbClr val="6D2E46"/>
          </a:solidFill>
          <a:ln w="12700">
            <a:solidFill>
              <a:srgbClr val="6D2E46"/>
            </a:solidFill>
            <a:prstDash val="solid"/>
          </a:ln>
        </p:spPr>
      </p:sp>
      <p:sp>
        <p:nvSpPr>
          <p:cNvPr id="23" name="Text 21"/>
          <p:cNvSpPr/>
          <p:nvPr/>
        </p:nvSpPr>
        <p:spPr>
          <a:xfrm>
            <a:off x="2057400" y="3584448"/>
            <a:ext cx="2377440" cy="292608"/>
          </a:xfrm>
          <a:prstGeom prst="rect">
            <a:avLst/>
          </a:prstGeom>
          <a:noFill/>
          <a:ln/>
        </p:spPr>
        <p:txBody>
          <a:bodyPr wrap="square" lIns="0" tIns="0" rIns="0" bIns="0" rtlCol="0" anchor="ctr"/>
          <a:lstStyle/>
          <a:p>
            <a:pPr indent="0" marL="0">
              <a:buNone/>
            </a:pPr>
            <a:r>
              <a:rPr lang="en-US" sz="1500" b="1" dirty="0">
                <a:solidFill>
                  <a:srgbClr val="6D2E46"/>
                </a:solidFill>
                <a:latin typeface="Trebuchet MS" pitchFamily="34" charset="0"/>
                <a:ea typeface="Trebuchet MS" pitchFamily="34" charset="-122"/>
                <a:cs typeface="Trebuchet MS" pitchFamily="34" charset="-120"/>
              </a:rPr>
              <a:t>Opus</a:t>
            </a:r>
            <a:endParaRPr lang="en-US" sz="1500" dirty="0"/>
          </a:p>
        </p:txBody>
      </p:sp>
      <p:sp>
        <p:nvSpPr>
          <p:cNvPr id="24" name="Text 22"/>
          <p:cNvSpPr/>
          <p:nvPr/>
        </p:nvSpPr>
        <p:spPr>
          <a:xfrm>
            <a:off x="2057400" y="3913632"/>
            <a:ext cx="237744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Claude — by Anthropic</a:t>
            </a:r>
            <a:endParaRPr lang="en-US" sz="1100" dirty="0"/>
          </a:p>
        </p:txBody>
      </p:sp>
      <p:sp>
        <p:nvSpPr>
          <p:cNvPr id="25" name="Shape 23"/>
          <p:cNvSpPr/>
          <p:nvPr/>
        </p:nvSpPr>
        <p:spPr>
          <a:xfrm>
            <a:off x="2057400" y="4242816"/>
            <a:ext cx="1005840" cy="201168"/>
          </a:xfrm>
          <a:prstGeom prst="rect">
            <a:avLst/>
          </a:prstGeom>
          <a:solidFill>
            <a:srgbClr val="6D2E46"/>
          </a:solidFill>
          <a:ln w="12700">
            <a:solidFill>
              <a:srgbClr val="6D2E46"/>
            </a:solidFill>
            <a:prstDash val="solid"/>
          </a:ln>
        </p:spPr>
      </p:sp>
      <p:sp>
        <p:nvSpPr>
          <p:cNvPr id="26" name="Text 24"/>
          <p:cNvSpPr/>
          <p:nvPr/>
        </p:nvSpPr>
        <p:spPr>
          <a:xfrm>
            <a:off x="2057400" y="4242816"/>
            <a:ext cx="100584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Strong writer</a:t>
            </a:r>
            <a:endParaRPr lang="en-US" sz="900" dirty="0"/>
          </a:p>
        </p:txBody>
      </p:sp>
      <p:sp>
        <p:nvSpPr>
          <p:cNvPr id="27" name="Shape 25"/>
          <p:cNvSpPr/>
          <p:nvPr/>
        </p:nvSpPr>
        <p:spPr>
          <a:xfrm>
            <a:off x="5029200" y="3493008"/>
            <a:ext cx="2606040" cy="1078992"/>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28" name="Shape 26"/>
          <p:cNvSpPr/>
          <p:nvPr/>
        </p:nvSpPr>
        <p:spPr>
          <a:xfrm>
            <a:off x="5029200" y="3493008"/>
            <a:ext cx="91440" cy="1078992"/>
          </a:xfrm>
          <a:prstGeom prst="rect">
            <a:avLst/>
          </a:prstGeom>
          <a:solidFill>
            <a:srgbClr val="1D6F42"/>
          </a:solidFill>
          <a:ln w="12700">
            <a:solidFill>
              <a:srgbClr val="1D6F42"/>
            </a:solidFill>
            <a:prstDash val="solid"/>
          </a:ln>
        </p:spPr>
      </p:sp>
      <p:sp>
        <p:nvSpPr>
          <p:cNvPr id="29" name="Text 27"/>
          <p:cNvSpPr/>
          <p:nvPr/>
        </p:nvSpPr>
        <p:spPr>
          <a:xfrm>
            <a:off x="5212080" y="3584448"/>
            <a:ext cx="2377440" cy="292608"/>
          </a:xfrm>
          <a:prstGeom prst="rect">
            <a:avLst/>
          </a:prstGeom>
          <a:noFill/>
          <a:ln/>
        </p:spPr>
        <p:txBody>
          <a:bodyPr wrap="square" lIns="0" tIns="0" rIns="0" bIns="0" rtlCol="0" anchor="ctr"/>
          <a:lstStyle/>
          <a:p>
            <a:pPr indent="0" marL="0">
              <a:buNone/>
            </a:pPr>
            <a:r>
              <a:rPr lang="en-US" sz="1500" b="1" dirty="0">
                <a:solidFill>
                  <a:srgbClr val="1D6F42"/>
                </a:solidFill>
                <a:latin typeface="Trebuchet MS" pitchFamily="34" charset="0"/>
                <a:ea typeface="Trebuchet MS" pitchFamily="34" charset="-122"/>
                <a:cs typeface="Trebuchet MS" pitchFamily="34" charset="-120"/>
              </a:rPr>
              <a:t>GPT</a:t>
            </a:r>
            <a:endParaRPr lang="en-US" sz="1500" dirty="0"/>
          </a:p>
        </p:txBody>
      </p:sp>
      <p:sp>
        <p:nvSpPr>
          <p:cNvPr id="30" name="Text 28"/>
          <p:cNvSpPr/>
          <p:nvPr/>
        </p:nvSpPr>
        <p:spPr>
          <a:xfrm>
            <a:off x="5212080" y="3913632"/>
            <a:ext cx="2377440" cy="27432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Open AI</a:t>
            </a:r>
            <a:endParaRPr lang="en-US" sz="1100" dirty="0"/>
          </a:p>
        </p:txBody>
      </p:sp>
      <p:sp>
        <p:nvSpPr>
          <p:cNvPr id="31" name="Shape 29"/>
          <p:cNvSpPr/>
          <p:nvPr/>
        </p:nvSpPr>
        <p:spPr>
          <a:xfrm>
            <a:off x="457200" y="4709160"/>
            <a:ext cx="8229600" cy="256032"/>
          </a:xfrm>
          <a:prstGeom prst="rect">
            <a:avLst/>
          </a:prstGeom>
          <a:solidFill>
            <a:srgbClr val="E0F4F7"/>
          </a:solidFill>
          <a:ln w="12700">
            <a:solidFill>
              <a:srgbClr val="028090"/>
            </a:solidFill>
            <a:prstDash val="solid"/>
          </a:ln>
        </p:spPr>
      </p:sp>
      <p:sp>
        <p:nvSpPr>
          <p:cNvPr id="32" name="Text 30"/>
          <p:cNvSpPr/>
          <p:nvPr/>
        </p:nvSpPr>
        <p:spPr>
          <a:xfrm>
            <a:off x="594360" y="4727448"/>
            <a:ext cx="7955280" cy="219456"/>
          </a:xfrm>
          <a:prstGeom prst="rect">
            <a:avLst/>
          </a:prstGeom>
          <a:noFill/>
          <a:ln/>
        </p:spPr>
        <p:txBody>
          <a:bodyPr wrap="square" lIns="0" tIns="0" rIns="0" bIns="0" rtlCol="0" anchor="ctr"/>
          <a:lstStyle/>
          <a:p>
            <a:pPr indent="0" marL="0">
              <a:buNone/>
            </a:pPr>
            <a:r>
              <a:rPr lang="en-US" sz="1100" b="1" i="1" dirty="0">
                <a:solidFill>
                  <a:srgbClr val="028090"/>
                </a:solidFill>
                <a:latin typeface="Calibri" pitchFamily="34" charset="0"/>
                <a:ea typeface="Calibri" pitchFamily="34" charset="-122"/>
                <a:cs typeface="Calibri" pitchFamily="34" charset="-120"/>
              </a:rPr>
              <a:t>Workshop tip: Try the same prompt in Opus and GPT — compare tone, depth, and which output you would edit less.</a:t>
            </a:r>
            <a:endParaRPr lang="en-US" sz="1100" dirty="0"/>
          </a:p>
        </p:txBody>
      </p:sp>
      <p:sp>
        <p:nvSpPr>
          <p:cNvPr id="33" name="Text 31"/>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HOW COPILOT WORKS — RESPONSES</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Why the Same Prompt Gives Different Answers</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682496"/>
            <a:ext cx="475488" cy="475488"/>
          </a:xfrm>
          <a:prstGeom prst="ellipse">
            <a:avLst/>
          </a:prstGeom>
          <a:solidFill>
            <a:srgbClr val="028090"/>
          </a:solidFill>
          <a:ln w="12700">
            <a:solidFill>
              <a:srgbClr val="028090"/>
            </a:solidFill>
            <a:prstDash val="solid"/>
          </a:ln>
        </p:spPr>
      </p:sp>
      <p:sp>
        <p:nvSpPr>
          <p:cNvPr id="7" name="Text 5"/>
          <p:cNvSpPr/>
          <p:nvPr/>
        </p:nvSpPr>
        <p:spPr>
          <a:xfrm>
            <a:off x="457200" y="1682496"/>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01</a:t>
            </a:r>
            <a:endParaRPr lang="en-US" sz="1400" dirty="0"/>
          </a:p>
        </p:txBody>
      </p:sp>
      <p:sp>
        <p:nvSpPr>
          <p:cNvPr id="8" name="Shape 6"/>
          <p:cNvSpPr/>
          <p:nvPr/>
        </p:nvSpPr>
        <p:spPr>
          <a:xfrm>
            <a:off x="1115568" y="1572768"/>
            <a:ext cx="7571232" cy="93268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5000"/>
              </a:srgbClr>
            </a:outerShdw>
          </a:effectLst>
        </p:spPr>
      </p:sp>
      <p:sp>
        <p:nvSpPr>
          <p:cNvPr id="9" name="Shape 7"/>
          <p:cNvSpPr/>
          <p:nvPr/>
        </p:nvSpPr>
        <p:spPr>
          <a:xfrm>
            <a:off x="1115568" y="1572768"/>
            <a:ext cx="73152" cy="932688"/>
          </a:xfrm>
          <a:prstGeom prst="rect">
            <a:avLst/>
          </a:prstGeom>
          <a:solidFill>
            <a:srgbClr val="028090"/>
          </a:solidFill>
          <a:ln w="12700">
            <a:solidFill>
              <a:srgbClr val="028090"/>
            </a:solidFill>
            <a:prstDash val="solid"/>
          </a:ln>
        </p:spPr>
      </p:sp>
      <p:sp>
        <p:nvSpPr>
          <p:cNvPr id="10" name="Text 8"/>
          <p:cNvSpPr/>
          <p:nvPr/>
        </p:nvSpPr>
        <p:spPr>
          <a:xfrm>
            <a:off x="1298448" y="1627632"/>
            <a:ext cx="7223760" cy="274320"/>
          </a:xfrm>
          <a:prstGeom prst="rect">
            <a:avLst/>
          </a:prstGeom>
          <a:noFill/>
          <a:ln/>
        </p:spPr>
        <p:txBody>
          <a:bodyPr wrap="square" lIns="0" tIns="0" rIns="0" bIns="0" rtlCol="0" anchor="ctr"/>
          <a:lstStyle/>
          <a:p>
            <a:pPr indent="0" marL="0">
              <a:buNone/>
            </a:pPr>
            <a:r>
              <a:rPr lang="en-US" sz="1400" b="1" dirty="0">
                <a:solidFill>
                  <a:srgbClr val="028090"/>
                </a:solidFill>
                <a:latin typeface="Trebuchet MS" pitchFamily="34" charset="0"/>
                <a:ea typeface="Trebuchet MS" pitchFamily="34" charset="-122"/>
                <a:cs typeface="Trebuchet MS" pitchFamily="34" charset="-120"/>
              </a:rPr>
              <a:t>Randomness is built in</a:t>
            </a:r>
            <a:endParaRPr lang="en-US" sz="1400" dirty="0"/>
          </a:p>
        </p:txBody>
      </p:sp>
      <p:sp>
        <p:nvSpPr>
          <p:cNvPr id="11" name="Text 9"/>
          <p:cNvSpPr/>
          <p:nvPr/>
        </p:nvSpPr>
        <p:spPr>
          <a:xfrm>
            <a:off x="1298448" y="1920240"/>
            <a:ext cx="722376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LLMs have a "temperature" setting that adds controlled randomness. This is why responses feel natural rather than robotic — but it also means two runs of the same prompt take different paths.</a:t>
            </a:r>
            <a:endParaRPr lang="en-US" sz="1150" dirty="0"/>
          </a:p>
        </p:txBody>
      </p:sp>
      <p:sp>
        <p:nvSpPr>
          <p:cNvPr id="12" name="Shape 10"/>
          <p:cNvSpPr/>
          <p:nvPr/>
        </p:nvSpPr>
        <p:spPr>
          <a:xfrm>
            <a:off x="457200" y="2761488"/>
            <a:ext cx="475488" cy="475488"/>
          </a:xfrm>
          <a:prstGeom prst="ellipse">
            <a:avLst/>
          </a:prstGeom>
          <a:solidFill>
            <a:srgbClr val="1E2761"/>
          </a:solidFill>
          <a:ln w="12700">
            <a:solidFill>
              <a:srgbClr val="1E2761"/>
            </a:solidFill>
            <a:prstDash val="solid"/>
          </a:ln>
        </p:spPr>
      </p:sp>
      <p:sp>
        <p:nvSpPr>
          <p:cNvPr id="13" name="Text 11"/>
          <p:cNvSpPr/>
          <p:nvPr/>
        </p:nvSpPr>
        <p:spPr>
          <a:xfrm>
            <a:off x="457200" y="2761488"/>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02</a:t>
            </a:r>
            <a:endParaRPr lang="en-US" sz="1400" dirty="0"/>
          </a:p>
        </p:txBody>
      </p:sp>
      <p:sp>
        <p:nvSpPr>
          <p:cNvPr id="14" name="Shape 12"/>
          <p:cNvSpPr/>
          <p:nvPr/>
        </p:nvSpPr>
        <p:spPr>
          <a:xfrm>
            <a:off x="1115568" y="2651760"/>
            <a:ext cx="7571232" cy="93268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5000"/>
              </a:srgbClr>
            </a:outerShdw>
          </a:effectLst>
        </p:spPr>
      </p:sp>
      <p:sp>
        <p:nvSpPr>
          <p:cNvPr id="15" name="Shape 13"/>
          <p:cNvSpPr/>
          <p:nvPr/>
        </p:nvSpPr>
        <p:spPr>
          <a:xfrm>
            <a:off x="1115568" y="2651760"/>
            <a:ext cx="73152" cy="932688"/>
          </a:xfrm>
          <a:prstGeom prst="rect">
            <a:avLst/>
          </a:prstGeom>
          <a:solidFill>
            <a:srgbClr val="1E2761"/>
          </a:solidFill>
          <a:ln w="12700">
            <a:solidFill>
              <a:srgbClr val="1E2761"/>
            </a:solidFill>
            <a:prstDash val="solid"/>
          </a:ln>
        </p:spPr>
      </p:sp>
      <p:sp>
        <p:nvSpPr>
          <p:cNvPr id="16" name="Text 14"/>
          <p:cNvSpPr/>
          <p:nvPr/>
        </p:nvSpPr>
        <p:spPr>
          <a:xfrm>
            <a:off x="1298448" y="2706624"/>
            <a:ext cx="7223760" cy="274320"/>
          </a:xfrm>
          <a:prstGeom prst="rect">
            <a:avLst/>
          </a:prstGeom>
          <a:noFill/>
          <a:ln/>
        </p:spPr>
        <p:txBody>
          <a:bodyPr wrap="square" lIns="0" tIns="0" rIns="0" bIns="0" rtlCol="0" anchor="ctr"/>
          <a:lstStyle/>
          <a:p>
            <a:pPr indent="0" marL="0">
              <a:buNone/>
            </a:pPr>
            <a:r>
              <a:rPr lang="en-US" sz="1400" b="1" dirty="0">
                <a:solidFill>
                  <a:srgbClr val="1E2761"/>
                </a:solidFill>
                <a:latin typeface="Trebuchet MS" pitchFamily="34" charset="0"/>
                <a:ea typeface="Trebuchet MS" pitchFamily="34" charset="-122"/>
                <a:cs typeface="Trebuchet MS" pitchFamily="34" charset="-120"/>
              </a:rPr>
              <a:t>Probability, not a fixed answer</a:t>
            </a:r>
            <a:endParaRPr lang="en-US" sz="1400" dirty="0"/>
          </a:p>
        </p:txBody>
      </p:sp>
      <p:sp>
        <p:nvSpPr>
          <p:cNvPr id="17" name="Text 15"/>
          <p:cNvSpPr/>
          <p:nvPr/>
        </p:nvSpPr>
        <p:spPr>
          <a:xfrm>
            <a:off x="1298448" y="2999232"/>
            <a:ext cx="722376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When generating the next word, Copilot picks from a probability distribution — not always the single most likely word. Small differences cascade into noticeably different outputs.</a:t>
            </a:r>
            <a:endParaRPr lang="en-US" sz="1150" dirty="0"/>
          </a:p>
        </p:txBody>
      </p:sp>
      <p:sp>
        <p:nvSpPr>
          <p:cNvPr id="18" name="Shape 16"/>
          <p:cNvSpPr/>
          <p:nvPr/>
        </p:nvSpPr>
        <p:spPr>
          <a:xfrm>
            <a:off x="457200" y="3840480"/>
            <a:ext cx="475488" cy="475488"/>
          </a:xfrm>
          <a:prstGeom prst="ellipse">
            <a:avLst/>
          </a:prstGeom>
          <a:solidFill>
            <a:srgbClr val="5558AF"/>
          </a:solidFill>
          <a:ln w="12700">
            <a:solidFill>
              <a:srgbClr val="5558AF"/>
            </a:solidFill>
            <a:prstDash val="solid"/>
          </a:ln>
        </p:spPr>
      </p:sp>
      <p:sp>
        <p:nvSpPr>
          <p:cNvPr id="19" name="Text 17"/>
          <p:cNvSpPr/>
          <p:nvPr/>
        </p:nvSpPr>
        <p:spPr>
          <a:xfrm>
            <a:off x="457200" y="384048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03</a:t>
            </a:r>
            <a:endParaRPr lang="en-US" sz="1400" dirty="0"/>
          </a:p>
        </p:txBody>
      </p:sp>
      <p:sp>
        <p:nvSpPr>
          <p:cNvPr id="20" name="Shape 18"/>
          <p:cNvSpPr/>
          <p:nvPr/>
        </p:nvSpPr>
        <p:spPr>
          <a:xfrm>
            <a:off x="1115568" y="3730752"/>
            <a:ext cx="7571232" cy="93268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5000"/>
              </a:srgbClr>
            </a:outerShdw>
          </a:effectLst>
        </p:spPr>
      </p:sp>
      <p:sp>
        <p:nvSpPr>
          <p:cNvPr id="21" name="Shape 19"/>
          <p:cNvSpPr/>
          <p:nvPr/>
        </p:nvSpPr>
        <p:spPr>
          <a:xfrm>
            <a:off x="1115568" y="3730752"/>
            <a:ext cx="73152" cy="932688"/>
          </a:xfrm>
          <a:prstGeom prst="rect">
            <a:avLst/>
          </a:prstGeom>
          <a:solidFill>
            <a:srgbClr val="5558AF"/>
          </a:solidFill>
          <a:ln w="12700">
            <a:solidFill>
              <a:srgbClr val="5558AF"/>
            </a:solidFill>
            <a:prstDash val="solid"/>
          </a:ln>
        </p:spPr>
      </p:sp>
      <p:sp>
        <p:nvSpPr>
          <p:cNvPr id="22" name="Text 20"/>
          <p:cNvSpPr/>
          <p:nvPr/>
        </p:nvSpPr>
        <p:spPr>
          <a:xfrm>
            <a:off x="1298448" y="3785616"/>
            <a:ext cx="7223760" cy="274320"/>
          </a:xfrm>
          <a:prstGeom prst="rect">
            <a:avLst/>
          </a:prstGeom>
          <a:noFill/>
          <a:ln/>
        </p:spPr>
        <p:txBody>
          <a:bodyPr wrap="square" lIns="0" tIns="0" rIns="0" bIns="0" rtlCol="0" anchor="ctr"/>
          <a:lstStyle/>
          <a:p>
            <a:pPr indent="0" marL="0">
              <a:buNone/>
            </a:pPr>
            <a:r>
              <a:rPr lang="en-US" sz="1400" b="1" dirty="0">
                <a:solidFill>
                  <a:srgbClr val="5558AF"/>
                </a:solidFill>
                <a:latin typeface="Trebuchet MS" pitchFamily="34" charset="0"/>
                <a:ea typeface="Trebuchet MS" pitchFamily="34" charset="-122"/>
                <a:cs typeface="Trebuchet MS" pitchFamily="34" charset="-120"/>
              </a:rPr>
              <a:t>Different models, different results</a:t>
            </a:r>
            <a:endParaRPr lang="en-US" sz="1400" dirty="0"/>
          </a:p>
        </p:txBody>
      </p:sp>
      <p:sp>
        <p:nvSpPr>
          <p:cNvPr id="23" name="Text 21"/>
          <p:cNvSpPr/>
          <p:nvPr/>
        </p:nvSpPr>
        <p:spPr>
          <a:xfrm>
            <a:off x="1298448" y="4078224"/>
            <a:ext cx="722376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Switching between Opus, GPT, or Think Deeper changes the underlying AI. Each has different training, style tendencies, and strengths. Same prompt, very different outputs.</a:t>
            </a:r>
            <a:endParaRPr lang="en-US" sz="1150" dirty="0"/>
          </a:p>
        </p:txBody>
      </p:sp>
      <p:sp>
        <p:nvSpPr>
          <p:cNvPr id="24" name="Shape 22"/>
          <p:cNvSpPr/>
          <p:nvPr/>
        </p:nvSpPr>
        <p:spPr>
          <a:xfrm>
            <a:off x="457200" y="4736592"/>
            <a:ext cx="8229600" cy="237744"/>
          </a:xfrm>
          <a:prstGeom prst="rect">
            <a:avLst/>
          </a:prstGeom>
          <a:solidFill>
            <a:srgbClr val="E0F4F7"/>
          </a:solidFill>
          <a:ln w="12700">
            <a:solidFill>
              <a:srgbClr val="028090"/>
            </a:solidFill>
            <a:prstDash val="solid"/>
          </a:ln>
        </p:spPr>
      </p:sp>
      <p:sp>
        <p:nvSpPr>
          <p:cNvPr id="25" name="Text 23"/>
          <p:cNvSpPr/>
          <p:nvPr/>
        </p:nvSpPr>
        <p:spPr>
          <a:xfrm>
            <a:off x="594360" y="4745736"/>
            <a:ext cx="7955280" cy="201168"/>
          </a:xfrm>
          <a:prstGeom prst="rect">
            <a:avLst/>
          </a:prstGeom>
          <a:noFill/>
          <a:ln/>
        </p:spPr>
        <p:txBody>
          <a:bodyPr wrap="square" lIns="0" tIns="0" rIns="0" bIns="0" rtlCol="0" anchor="ctr"/>
          <a:lstStyle/>
          <a:p>
            <a:pPr indent="0" marL="0">
              <a:buNone/>
            </a:pPr>
            <a:r>
              <a:rPr lang="en-US" sz="1100" b="1" i="1" dirty="0">
                <a:solidFill>
                  <a:srgbClr val="028090"/>
                </a:solidFill>
                <a:latin typeface="Calibri" pitchFamily="34" charset="0"/>
                <a:ea typeface="Calibri" pitchFamily="34" charset="-122"/>
                <a:cs typeface="Calibri" pitchFamily="34" charset="-120"/>
              </a:rPr>
              <a:t>Practical tip: If you do not like Copilot's first response, run it again or follow up with refinements. Iteration is normal.</a:t>
            </a:r>
            <a:endParaRPr lang="en-US" sz="1100" dirty="0"/>
          </a:p>
        </p:txBody>
      </p:sp>
      <p:sp>
        <p:nvSpPr>
          <p:cNvPr id="26" name="Text 2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HOW COPILOT WORKS — MEMORY</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What Does Copilot Remember?</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72768"/>
            <a:ext cx="2651760" cy="3383280"/>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7" name="Shape 5"/>
          <p:cNvSpPr/>
          <p:nvPr/>
        </p:nvSpPr>
        <p:spPr>
          <a:xfrm>
            <a:off x="457200" y="1572768"/>
            <a:ext cx="2651760" cy="658368"/>
          </a:xfrm>
          <a:prstGeom prst="rect">
            <a:avLst/>
          </a:prstGeom>
          <a:solidFill>
            <a:srgbClr val="1D6F42"/>
          </a:solidFill>
          <a:ln w="12700">
            <a:solidFill>
              <a:srgbClr val="1D6F42"/>
            </a:solidFill>
            <a:prstDash val="solid"/>
          </a:ln>
        </p:spPr>
      </p:sp>
      <p:sp>
        <p:nvSpPr>
          <p:cNvPr id="8" name="Text 6"/>
          <p:cNvSpPr/>
          <p:nvPr/>
        </p:nvSpPr>
        <p:spPr>
          <a:xfrm>
            <a:off x="566928" y="1627632"/>
            <a:ext cx="2450592" cy="292608"/>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Within a session</a:t>
            </a:r>
            <a:endParaRPr lang="en-US" sz="1400" dirty="0"/>
          </a:p>
        </p:txBody>
      </p:sp>
      <p:sp>
        <p:nvSpPr>
          <p:cNvPr id="9" name="Text 7"/>
          <p:cNvSpPr/>
          <p:nvPr/>
        </p:nvSpPr>
        <p:spPr>
          <a:xfrm>
            <a:off x="566928" y="1938528"/>
            <a:ext cx="2450592" cy="237744"/>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Short-term memory</a:t>
            </a:r>
            <a:endParaRPr lang="en-US" sz="1000" dirty="0"/>
          </a:p>
        </p:txBody>
      </p:sp>
      <p:sp>
        <p:nvSpPr>
          <p:cNvPr id="10" name="Shape 8"/>
          <p:cNvSpPr/>
          <p:nvPr/>
        </p:nvSpPr>
        <p:spPr>
          <a:xfrm>
            <a:off x="594360" y="2414016"/>
            <a:ext cx="109728" cy="109728"/>
          </a:xfrm>
          <a:prstGeom prst="rect">
            <a:avLst/>
          </a:prstGeom>
          <a:solidFill>
            <a:srgbClr val="1D6F42"/>
          </a:solidFill>
          <a:ln w="12700">
            <a:solidFill>
              <a:srgbClr val="1D6F42"/>
            </a:solidFill>
            <a:prstDash val="solid"/>
          </a:ln>
        </p:spPr>
      </p:sp>
      <p:sp>
        <p:nvSpPr>
          <p:cNvPr id="11" name="Text 9"/>
          <p:cNvSpPr/>
          <p:nvPr/>
        </p:nvSpPr>
        <p:spPr>
          <a:xfrm>
            <a:off x="786384" y="235915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Holds the full conversation in its context window</a:t>
            </a:r>
            <a:endParaRPr lang="en-US" sz="1050" dirty="0"/>
          </a:p>
        </p:txBody>
      </p:sp>
      <p:sp>
        <p:nvSpPr>
          <p:cNvPr id="12" name="Shape 10"/>
          <p:cNvSpPr/>
          <p:nvPr/>
        </p:nvSpPr>
        <p:spPr>
          <a:xfrm>
            <a:off x="594360" y="3236976"/>
            <a:ext cx="109728" cy="109728"/>
          </a:xfrm>
          <a:prstGeom prst="rect">
            <a:avLst/>
          </a:prstGeom>
          <a:solidFill>
            <a:srgbClr val="1D6F42"/>
          </a:solidFill>
          <a:ln w="12700">
            <a:solidFill>
              <a:srgbClr val="1D6F42"/>
            </a:solidFill>
            <a:prstDash val="solid"/>
          </a:ln>
        </p:spPr>
      </p:sp>
      <p:sp>
        <p:nvSpPr>
          <p:cNvPr id="13" name="Text 11"/>
          <p:cNvSpPr/>
          <p:nvPr/>
        </p:nvSpPr>
        <p:spPr>
          <a:xfrm>
            <a:off x="786384" y="318211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You can refer back: "use the tone from your first draft"</a:t>
            </a:r>
            <a:endParaRPr lang="en-US" sz="1050" dirty="0"/>
          </a:p>
        </p:txBody>
      </p:sp>
      <p:sp>
        <p:nvSpPr>
          <p:cNvPr id="14" name="Shape 12"/>
          <p:cNvSpPr/>
          <p:nvPr/>
        </p:nvSpPr>
        <p:spPr>
          <a:xfrm>
            <a:off x="594360" y="4059936"/>
            <a:ext cx="109728" cy="109728"/>
          </a:xfrm>
          <a:prstGeom prst="rect">
            <a:avLst/>
          </a:prstGeom>
          <a:solidFill>
            <a:srgbClr val="1D6F42"/>
          </a:solidFill>
          <a:ln w="12700">
            <a:solidFill>
              <a:srgbClr val="1D6F42"/>
            </a:solidFill>
            <a:prstDash val="solid"/>
          </a:ln>
        </p:spPr>
      </p:sp>
      <p:sp>
        <p:nvSpPr>
          <p:cNvPr id="15" name="Text 13"/>
          <p:cNvSpPr/>
          <p:nvPr/>
        </p:nvSpPr>
        <p:spPr>
          <a:xfrm>
            <a:off x="786384" y="400507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Very long conversations push older content out — Copilot may forget what was said early on</a:t>
            </a:r>
            <a:endParaRPr lang="en-US" sz="1050" dirty="0"/>
          </a:p>
        </p:txBody>
      </p:sp>
      <p:sp>
        <p:nvSpPr>
          <p:cNvPr id="16" name="Shape 14"/>
          <p:cNvSpPr/>
          <p:nvPr/>
        </p:nvSpPr>
        <p:spPr>
          <a:xfrm>
            <a:off x="3291840" y="1572768"/>
            <a:ext cx="2651760" cy="3383280"/>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17" name="Shape 15"/>
          <p:cNvSpPr/>
          <p:nvPr/>
        </p:nvSpPr>
        <p:spPr>
          <a:xfrm>
            <a:off x="3291840" y="1572768"/>
            <a:ext cx="2651760" cy="658368"/>
          </a:xfrm>
          <a:prstGeom prst="rect">
            <a:avLst/>
          </a:prstGeom>
          <a:solidFill>
            <a:srgbClr val="E07B39"/>
          </a:solidFill>
          <a:ln w="12700">
            <a:solidFill>
              <a:srgbClr val="E07B39"/>
            </a:solidFill>
            <a:prstDash val="solid"/>
          </a:ln>
        </p:spPr>
      </p:sp>
      <p:sp>
        <p:nvSpPr>
          <p:cNvPr id="18" name="Text 16"/>
          <p:cNvSpPr/>
          <p:nvPr/>
        </p:nvSpPr>
        <p:spPr>
          <a:xfrm>
            <a:off x="3401568" y="1627632"/>
            <a:ext cx="2450592" cy="292608"/>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Across sessions</a:t>
            </a:r>
            <a:endParaRPr lang="en-US" sz="1400" dirty="0"/>
          </a:p>
        </p:txBody>
      </p:sp>
      <p:sp>
        <p:nvSpPr>
          <p:cNvPr id="19" name="Text 17"/>
          <p:cNvSpPr/>
          <p:nvPr/>
        </p:nvSpPr>
        <p:spPr>
          <a:xfrm>
            <a:off x="3401568" y="1938528"/>
            <a:ext cx="2450592" cy="237744"/>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No memory by default</a:t>
            </a:r>
            <a:endParaRPr lang="en-US" sz="1000" dirty="0"/>
          </a:p>
        </p:txBody>
      </p:sp>
      <p:sp>
        <p:nvSpPr>
          <p:cNvPr id="20" name="Shape 18"/>
          <p:cNvSpPr/>
          <p:nvPr/>
        </p:nvSpPr>
        <p:spPr>
          <a:xfrm>
            <a:off x="3429000" y="2414016"/>
            <a:ext cx="109728" cy="109728"/>
          </a:xfrm>
          <a:prstGeom prst="rect">
            <a:avLst/>
          </a:prstGeom>
          <a:solidFill>
            <a:srgbClr val="E07B39"/>
          </a:solidFill>
          <a:ln w="12700">
            <a:solidFill>
              <a:srgbClr val="E07B39"/>
            </a:solidFill>
            <a:prstDash val="solid"/>
          </a:ln>
        </p:spPr>
      </p:sp>
      <p:sp>
        <p:nvSpPr>
          <p:cNvPr id="21" name="Text 19"/>
          <p:cNvSpPr/>
          <p:nvPr/>
        </p:nvSpPr>
        <p:spPr>
          <a:xfrm>
            <a:off x="3621024" y="235915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Each new conversation starts completely fresh</a:t>
            </a:r>
            <a:endParaRPr lang="en-US" sz="1050" dirty="0"/>
          </a:p>
        </p:txBody>
      </p:sp>
      <p:sp>
        <p:nvSpPr>
          <p:cNvPr id="22" name="Shape 20"/>
          <p:cNvSpPr/>
          <p:nvPr/>
        </p:nvSpPr>
        <p:spPr>
          <a:xfrm>
            <a:off x="3429000" y="3236976"/>
            <a:ext cx="109728" cy="109728"/>
          </a:xfrm>
          <a:prstGeom prst="rect">
            <a:avLst/>
          </a:prstGeom>
          <a:solidFill>
            <a:srgbClr val="E07B39"/>
          </a:solidFill>
          <a:ln w="12700">
            <a:solidFill>
              <a:srgbClr val="E07B39"/>
            </a:solidFill>
            <a:prstDash val="solid"/>
          </a:ln>
        </p:spPr>
      </p:sp>
      <p:sp>
        <p:nvSpPr>
          <p:cNvPr id="23" name="Text 21"/>
          <p:cNvSpPr/>
          <p:nvPr/>
        </p:nvSpPr>
        <p:spPr>
          <a:xfrm>
            <a:off x="3621024" y="318211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Copilot does not remember what you discussed yesterday</a:t>
            </a:r>
            <a:endParaRPr lang="en-US" sz="1050" dirty="0"/>
          </a:p>
        </p:txBody>
      </p:sp>
      <p:sp>
        <p:nvSpPr>
          <p:cNvPr id="24" name="Shape 22"/>
          <p:cNvSpPr/>
          <p:nvPr/>
        </p:nvSpPr>
        <p:spPr>
          <a:xfrm>
            <a:off x="3429000" y="4059936"/>
            <a:ext cx="109728" cy="109728"/>
          </a:xfrm>
          <a:prstGeom prst="rect">
            <a:avLst/>
          </a:prstGeom>
          <a:solidFill>
            <a:srgbClr val="E07B39"/>
          </a:solidFill>
          <a:ln w="12700">
            <a:solidFill>
              <a:srgbClr val="E07B39"/>
            </a:solidFill>
            <a:prstDash val="solid"/>
          </a:ln>
        </p:spPr>
      </p:sp>
      <p:sp>
        <p:nvSpPr>
          <p:cNvPr id="25" name="Text 23"/>
          <p:cNvSpPr/>
          <p:nvPr/>
        </p:nvSpPr>
        <p:spPr>
          <a:xfrm>
            <a:off x="3621024" y="400507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Some tenants are enabling optional persistent memory — check with your IT admin</a:t>
            </a:r>
            <a:endParaRPr lang="en-US" sz="1050" dirty="0"/>
          </a:p>
        </p:txBody>
      </p:sp>
      <p:sp>
        <p:nvSpPr>
          <p:cNvPr id="26" name="Shape 24"/>
          <p:cNvSpPr/>
          <p:nvPr/>
        </p:nvSpPr>
        <p:spPr>
          <a:xfrm>
            <a:off x="6126480" y="1572768"/>
            <a:ext cx="2651760" cy="3383280"/>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27" name="Shape 25"/>
          <p:cNvSpPr/>
          <p:nvPr/>
        </p:nvSpPr>
        <p:spPr>
          <a:xfrm>
            <a:off x="6126480" y="1572768"/>
            <a:ext cx="2651760" cy="658368"/>
          </a:xfrm>
          <a:prstGeom prst="rect">
            <a:avLst/>
          </a:prstGeom>
          <a:solidFill>
            <a:srgbClr val="1E2761"/>
          </a:solidFill>
          <a:ln w="12700">
            <a:solidFill>
              <a:srgbClr val="1E2761"/>
            </a:solidFill>
            <a:prstDash val="solid"/>
          </a:ln>
        </p:spPr>
      </p:sp>
      <p:sp>
        <p:nvSpPr>
          <p:cNvPr id="28" name="Text 26"/>
          <p:cNvSpPr/>
          <p:nvPr/>
        </p:nvSpPr>
        <p:spPr>
          <a:xfrm>
            <a:off x="6236208" y="1627632"/>
            <a:ext cx="2450592" cy="292608"/>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Notebooks</a:t>
            </a:r>
            <a:endParaRPr lang="en-US" sz="1400" dirty="0"/>
          </a:p>
        </p:txBody>
      </p:sp>
      <p:sp>
        <p:nvSpPr>
          <p:cNvPr id="29" name="Text 27"/>
          <p:cNvSpPr/>
          <p:nvPr/>
        </p:nvSpPr>
        <p:spPr>
          <a:xfrm>
            <a:off x="6236208" y="1938528"/>
            <a:ext cx="2450592" cy="237744"/>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Persistent context</a:t>
            </a:r>
            <a:endParaRPr lang="en-US" sz="1000" dirty="0"/>
          </a:p>
        </p:txBody>
      </p:sp>
      <p:sp>
        <p:nvSpPr>
          <p:cNvPr id="30" name="Shape 28"/>
          <p:cNvSpPr/>
          <p:nvPr/>
        </p:nvSpPr>
        <p:spPr>
          <a:xfrm>
            <a:off x="6263640" y="2414016"/>
            <a:ext cx="109728" cy="109728"/>
          </a:xfrm>
          <a:prstGeom prst="rect">
            <a:avLst/>
          </a:prstGeom>
          <a:solidFill>
            <a:srgbClr val="1E2761"/>
          </a:solidFill>
          <a:ln w="12700">
            <a:solidFill>
              <a:srgbClr val="1E2761"/>
            </a:solidFill>
            <a:prstDash val="solid"/>
          </a:ln>
        </p:spPr>
      </p:sp>
      <p:sp>
        <p:nvSpPr>
          <p:cNvPr id="31" name="Text 29"/>
          <p:cNvSpPr/>
          <p:nvPr/>
        </p:nvSpPr>
        <p:spPr>
          <a:xfrm>
            <a:off x="6455664" y="235915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Create a Notebook in Copilot Chat for a project or topic</a:t>
            </a:r>
            <a:endParaRPr lang="en-US" sz="1050" dirty="0"/>
          </a:p>
        </p:txBody>
      </p:sp>
      <p:sp>
        <p:nvSpPr>
          <p:cNvPr id="32" name="Shape 30"/>
          <p:cNvSpPr/>
          <p:nvPr/>
        </p:nvSpPr>
        <p:spPr>
          <a:xfrm>
            <a:off x="6263640" y="3236976"/>
            <a:ext cx="109728" cy="109728"/>
          </a:xfrm>
          <a:prstGeom prst="rect">
            <a:avLst/>
          </a:prstGeom>
          <a:solidFill>
            <a:srgbClr val="1E2761"/>
          </a:solidFill>
          <a:ln w="12700">
            <a:solidFill>
              <a:srgbClr val="1E2761"/>
            </a:solidFill>
            <a:prstDash val="solid"/>
          </a:ln>
        </p:spPr>
      </p:sp>
      <p:sp>
        <p:nvSpPr>
          <p:cNvPr id="33" name="Text 31"/>
          <p:cNvSpPr/>
          <p:nvPr/>
        </p:nvSpPr>
        <p:spPr>
          <a:xfrm>
            <a:off x="6455664" y="318211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Instructions and background you add persist across sessions</a:t>
            </a:r>
            <a:endParaRPr lang="en-US" sz="1050" dirty="0"/>
          </a:p>
        </p:txBody>
      </p:sp>
      <p:sp>
        <p:nvSpPr>
          <p:cNvPr id="34" name="Shape 32"/>
          <p:cNvSpPr/>
          <p:nvPr/>
        </p:nvSpPr>
        <p:spPr>
          <a:xfrm>
            <a:off x="6263640" y="4059936"/>
            <a:ext cx="109728" cy="109728"/>
          </a:xfrm>
          <a:prstGeom prst="rect">
            <a:avLst/>
          </a:prstGeom>
          <a:solidFill>
            <a:srgbClr val="1E2761"/>
          </a:solidFill>
          <a:ln w="12700">
            <a:solidFill>
              <a:srgbClr val="1E2761"/>
            </a:solidFill>
            <a:prstDash val="solid"/>
          </a:ln>
        </p:spPr>
      </p:sp>
      <p:sp>
        <p:nvSpPr>
          <p:cNvPr id="35" name="Text 33"/>
          <p:cNvSpPr/>
          <p:nvPr/>
        </p:nvSpPr>
        <p:spPr>
          <a:xfrm>
            <a:off x="6455664" y="4005072"/>
            <a:ext cx="2231136" cy="71323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Think of it as a permanent briefing document Copilot always reads first</a:t>
            </a:r>
            <a:endParaRPr lang="en-US" sz="1050" dirty="0"/>
          </a:p>
        </p:txBody>
      </p:sp>
      <p:sp>
        <p:nvSpPr>
          <p:cNvPr id="36" name="Text 3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CUSTOMISATION</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Making Copilot Work the Way You Want</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72768"/>
            <a:ext cx="3931920" cy="331012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7" name="Shape 5"/>
          <p:cNvSpPr/>
          <p:nvPr/>
        </p:nvSpPr>
        <p:spPr>
          <a:xfrm>
            <a:off x="457200" y="1572768"/>
            <a:ext cx="3931920" cy="438912"/>
          </a:xfrm>
          <a:prstGeom prst="rect">
            <a:avLst/>
          </a:prstGeom>
          <a:solidFill>
            <a:srgbClr val="028090"/>
          </a:solidFill>
          <a:ln w="12700">
            <a:solidFill>
              <a:srgbClr val="028090"/>
            </a:solidFill>
            <a:prstDash val="solid"/>
          </a:ln>
        </p:spPr>
      </p:sp>
      <p:sp>
        <p:nvSpPr>
          <p:cNvPr id="8" name="Text 6"/>
          <p:cNvSpPr/>
          <p:nvPr/>
        </p:nvSpPr>
        <p:spPr>
          <a:xfrm>
            <a:off x="566928" y="1591056"/>
            <a:ext cx="3749040" cy="402336"/>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 Instructions</a:t>
            </a:r>
            <a:endParaRPr lang="en-US" sz="1500" dirty="0"/>
          </a:p>
        </p:txBody>
      </p:sp>
      <p:sp>
        <p:nvSpPr>
          <p:cNvPr id="9" name="Text 7"/>
          <p:cNvSpPr/>
          <p:nvPr/>
        </p:nvSpPr>
        <p:spPr>
          <a:xfrm>
            <a:off x="566928" y="2103120"/>
            <a:ext cx="3712464" cy="402336"/>
          </a:xfrm>
          <a:prstGeom prst="rect">
            <a:avLst/>
          </a:prstGeom>
          <a:noFill/>
          <a:ln/>
        </p:spPr>
        <p:txBody>
          <a:bodyPr wrap="square" rtlCol="0" anchor="ctr"/>
          <a:lstStyle/>
          <a:p>
            <a:pPr indent="0" marL="0">
              <a:buNone/>
            </a:pPr>
            <a:r>
              <a:rPr lang="en-US" sz="1100" i="1" dirty="0">
                <a:solidFill>
                  <a:srgbClr val="4A5568"/>
                </a:solidFill>
                <a:latin typeface="Calibri" pitchFamily="34" charset="0"/>
                <a:ea typeface="Calibri" pitchFamily="34" charset="-122"/>
                <a:cs typeface="Calibri" pitchFamily="34" charset="-120"/>
              </a:rPr>
              <a:t>Set in your Copilot Chat profile settings. Persists across all your sessions.</a:t>
            </a:r>
            <a:endParaRPr lang="en-US" sz="1100" dirty="0"/>
          </a:p>
        </p:txBody>
      </p:sp>
      <p:sp>
        <p:nvSpPr>
          <p:cNvPr id="10" name="Shape 8"/>
          <p:cNvSpPr/>
          <p:nvPr/>
        </p:nvSpPr>
        <p:spPr>
          <a:xfrm>
            <a:off x="566928" y="2596896"/>
            <a:ext cx="3712464" cy="457200"/>
          </a:xfrm>
          <a:prstGeom prst="rect">
            <a:avLst/>
          </a:prstGeom>
          <a:solidFill>
            <a:srgbClr val="E0F4F7"/>
          </a:solidFill>
          <a:ln w="12700">
            <a:solidFill>
              <a:srgbClr val="D1EEF2"/>
            </a:solidFill>
            <a:prstDash val="solid"/>
          </a:ln>
        </p:spPr>
      </p:sp>
      <p:sp>
        <p:nvSpPr>
          <p:cNvPr id="11" name="Text 9"/>
          <p:cNvSpPr/>
          <p:nvPr/>
        </p:nvSpPr>
        <p:spPr>
          <a:xfrm>
            <a:off x="676656" y="2615184"/>
            <a:ext cx="3493008" cy="420624"/>
          </a:xfrm>
          <a:prstGeom prst="rect">
            <a:avLst/>
          </a:prstGeom>
          <a:noFill/>
          <a:ln/>
        </p:spPr>
        <p:txBody>
          <a:bodyPr wrap="square" lIns="0" tIns="0" rIns="0" bIns="0" rtlCol="0" anchor="ctr"/>
          <a:lstStyle/>
          <a:p>
            <a:pPr indent="0" marL="0">
              <a:buNone/>
            </a:pPr>
            <a:r>
              <a:rPr lang="en-US" sz="1050" i="1" dirty="0">
                <a:solidFill>
                  <a:srgbClr val="1A1A2E"/>
                </a:solidFill>
                <a:latin typeface="Calibri" pitchFamily="34" charset="0"/>
                <a:ea typeface="Calibri" pitchFamily="34" charset="-122"/>
                <a:cs typeface="Calibri" pitchFamily="34" charset="-120"/>
              </a:rPr>
              <a:t>"I am an HR manager at a Malaysian manufacturing company"</a:t>
            </a:r>
            <a:endParaRPr lang="en-US" sz="1050" dirty="0"/>
          </a:p>
        </p:txBody>
      </p:sp>
      <p:sp>
        <p:nvSpPr>
          <p:cNvPr id="12" name="Shape 10"/>
          <p:cNvSpPr/>
          <p:nvPr/>
        </p:nvSpPr>
        <p:spPr>
          <a:xfrm>
            <a:off x="566928" y="3127248"/>
            <a:ext cx="3712464" cy="457200"/>
          </a:xfrm>
          <a:prstGeom prst="rect">
            <a:avLst/>
          </a:prstGeom>
          <a:solidFill>
            <a:srgbClr val="E0F4F7"/>
          </a:solidFill>
          <a:ln w="12700">
            <a:solidFill>
              <a:srgbClr val="D1EEF2"/>
            </a:solidFill>
            <a:prstDash val="solid"/>
          </a:ln>
        </p:spPr>
      </p:sp>
      <p:sp>
        <p:nvSpPr>
          <p:cNvPr id="13" name="Text 11"/>
          <p:cNvSpPr/>
          <p:nvPr/>
        </p:nvSpPr>
        <p:spPr>
          <a:xfrm>
            <a:off x="676656" y="3145536"/>
            <a:ext cx="3493008" cy="420624"/>
          </a:xfrm>
          <a:prstGeom prst="rect">
            <a:avLst/>
          </a:prstGeom>
          <a:noFill/>
          <a:ln/>
        </p:spPr>
        <p:txBody>
          <a:bodyPr wrap="square" lIns="0" tIns="0" rIns="0" bIns="0" rtlCol="0" anchor="ctr"/>
          <a:lstStyle/>
          <a:p>
            <a:pPr indent="0" marL="0">
              <a:buNone/>
            </a:pPr>
            <a:r>
              <a:rPr lang="en-US" sz="1050" i="1" dirty="0">
                <a:solidFill>
                  <a:srgbClr val="1A1A2E"/>
                </a:solidFill>
                <a:latin typeface="Calibri" pitchFamily="34" charset="0"/>
                <a:ea typeface="Calibri" pitchFamily="34" charset="-122"/>
                <a:cs typeface="Calibri" pitchFamily="34" charset="-120"/>
              </a:rPr>
              <a:t>"Always write in formal British English"</a:t>
            </a:r>
            <a:endParaRPr lang="en-US" sz="1050" dirty="0"/>
          </a:p>
        </p:txBody>
      </p:sp>
      <p:sp>
        <p:nvSpPr>
          <p:cNvPr id="14" name="Shape 12"/>
          <p:cNvSpPr/>
          <p:nvPr/>
        </p:nvSpPr>
        <p:spPr>
          <a:xfrm>
            <a:off x="566928" y="3657600"/>
            <a:ext cx="3712464" cy="457200"/>
          </a:xfrm>
          <a:prstGeom prst="rect">
            <a:avLst/>
          </a:prstGeom>
          <a:solidFill>
            <a:srgbClr val="E0F4F7"/>
          </a:solidFill>
          <a:ln w="12700">
            <a:solidFill>
              <a:srgbClr val="D1EEF2"/>
            </a:solidFill>
            <a:prstDash val="solid"/>
          </a:ln>
        </p:spPr>
      </p:sp>
      <p:sp>
        <p:nvSpPr>
          <p:cNvPr id="15" name="Text 13"/>
          <p:cNvSpPr/>
          <p:nvPr/>
        </p:nvSpPr>
        <p:spPr>
          <a:xfrm>
            <a:off x="676656" y="3675888"/>
            <a:ext cx="3493008" cy="420624"/>
          </a:xfrm>
          <a:prstGeom prst="rect">
            <a:avLst/>
          </a:prstGeom>
          <a:noFill/>
          <a:ln/>
        </p:spPr>
        <p:txBody>
          <a:bodyPr wrap="square" lIns="0" tIns="0" rIns="0" bIns="0" rtlCol="0" anchor="ctr"/>
          <a:lstStyle/>
          <a:p>
            <a:pPr indent="0" marL="0">
              <a:buNone/>
            </a:pPr>
            <a:r>
              <a:rPr lang="en-US" sz="1050" i="1" dirty="0">
                <a:solidFill>
                  <a:srgbClr val="1A1A2E"/>
                </a:solidFill>
                <a:latin typeface="Calibri" pitchFamily="34" charset="0"/>
                <a:ea typeface="Calibri" pitchFamily="34" charset="-122"/>
                <a:cs typeface="Calibri" pitchFamily="34" charset="-120"/>
              </a:rPr>
              <a:t>"Summarise responses in bullet points unless I ask otherwise"</a:t>
            </a:r>
            <a:endParaRPr lang="en-US" sz="1050" dirty="0"/>
          </a:p>
        </p:txBody>
      </p:sp>
      <p:sp>
        <p:nvSpPr>
          <p:cNvPr id="16" name="Shape 14"/>
          <p:cNvSpPr/>
          <p:nvPr/>
        </p:nvSpPr>
        <p:spPr>
          <a:xfrm>
            <a:off x="566928" y="4187952"/>
            <a:ext cx="3712464" cy="457200"/>
          </a:xfrm>
          <a:prstGeom prst="rect">
            <a:avLst/>
          </a:prstGeom>
          <a:solidFill>
            <a:srgbClr val="E0F4F7"/>
          </a:solidFill>
          <a:ln w="12700">
            <a:solidFill>
              <a:srgbClr val="D1EEF2"/>
            </a:solidFill>
            <a:prstDash val="solid"/>
          </a:ln>
        </p:spPr>
      </p:sp>
      <p:sp>
        <p:nvSpPr>
          <p:cNvPr id="17" name="Text 15"/>
          <p:cNvSpPr/>
          <p:nvPr/>
        </p:nvSpPr>
        <p:spPr>
          <a:xfrm>
            <a:off x="676656" y="4206240"/>
            <a:ext cx="3493008" cy="420624"/>
          </a:xfrm>
          <a:prstGeom prst="rect">
            <a:avLst/>
          </a:prstGeom>
          <a:noFill/>
          <a:ln/>
        </p:spPr>
        <p:txBody>
          <a:bodyPr wrap="square" lIns="0" tIns="0" rIns="0" bIns="0" rtlCol="0" anchor="ctr"/>
          <a:lstStyle/>
          <a:p>
            <a:pPr indent="0" marL="0">
              <a:buNone/>
            </a:pPr>
            <a:r>
              <a:rPr lang="en-US" sz="1050" i="1" dirty="0">
                <a:solidFill>
                  <a:srgbClr val="1A1A2E"/>
                </a:solidFill>
                <a:latin typeface="Calibri" pitchFamily="34" charset="0"/>
                <a:ea typeface="Calibri" pitchFamily="34" charset="-122"/>
                <a:cs typeface="Calibri" pitchFamily="34" charset="-120"/>
              </a:rPr>
              <a:t>"My audience is non-technical — avoid jargon"</a:t>
            </a:r>
            <a:endParaRPr lang="en-US" sz="1050" dirty="0"/>
          </a:p>
        </p:txBody>
      </p:sp>
      <p:sp>
        <p:nvSpPr>
          <p:cNvPr id="18" name="Shape 16"/>
          <p:cNvSpPr/>
          <p:nvPr/>
        </p:nvSpPr>
        <p:spPr>
          <a:xfrm>
            <a:off x="4754880" y="1572768"/>
            <a:ext cx="393192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19" name="Shape 17"/>
          <p:cNvSpPr/>
          <p:nvPr/>
        </p:nvSpPr>
        <p:spPr>
          <a:xfrm>
            <a:off x="4754880" y="1572768"/>
            <a:ext cx="3931920" cy="438912"/>
          </a:xfrm>
          <a:prstGeom prst="rect">
            <a:avLst/>
          </a:prstGeom>
          <a:solidFill>
            <a:srgbClr val="1E2761"/>
          </a:solidFill>
          <a:ln w="12700">
            <a:solidFill>
              <a:srgbClr val="1E2761"/>
            </a:solidFill>
            <a:prstDash val="solid"/>
          </a:ln>
        </p:spPr>
      </p:sp>
      <p:sp>
        <p:nvSpPr>
          <p:cNvPr id="20" name="Text 18"/>
          <p:cNvSpPr/>
          <p:nvPr/>
        </p:nvSpPr>
        <p:spPr>
          <a:xfrm>
            <a:off x="4864608" y="1591056"/>
            <a:ext cx="3749040" cy="402336"/>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Agents</a:t>
            </a:r>
            <a:endParaRPr lang="en-US" sz="1500" dirty="0"/>
          </a:p>
        </p:txBody>
      </p:sp>
      <p:sp>
        <p:nvSpPr>
          <p:cNvPr id="21" name="Text 19"/>
          <p:cNvSpPr/>
          <p:nvPr/>
        </p:nvSpPr>
        <p:spPr>
          <a:xfrm>
            <a:off x="4864608" y="2084832"/>
            <a:ext cx="3712464" cy="98755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Access via the Agents panel in Copilot Chat. </a:t>
            </a:r>
            <a:pPr indent="0" marL="0">
              <a:buNone/>
            </a:pPr>
            <a:r>
              <a:rPr lang="en-US" sz="1100" b="1" dirty="0">
                <a:solidFill>
                  <a:srgbClr val="1A1A2E"/>
                </a:solidFill>
                <a:latin typeface="Calibri" pitchFamily="34" charset="0"/>
                <a:ea typeface="Calibri" pitchFamily="34" charset="-122"/>
                <a:cs typeface="Calibri" pitchFamily="34" charset="-120"/>
              </a:rPr>
              <a:t>Pre-built or custom agents</a:t>
            </a:r>
            <a:pPr indent="0" marL="0">
              <a:buNone/>
            </a:pPr>
            <a:r>
              <a:rPr lang="en-US" sz="1100" dirty="0">
                <a:solidFill>
                  <a:srgbClr val="1A1A2E"/>
                </a:solidFill>
                <a:latin typeface="Calibri" pitchFamily="34" charset="0"/>
                <a:ea typeface="Calibri" pitchFamily="34" charset="-122"/>
                <a:cs typeface="Calibri" pitchFamily="34" charset="-120"/>
              </a:rPr>
              <a:t> with their own role, knowledge base, and behaviour. Build your own in Copilot Studio (Topic 10).</a:t>
            </a:r>
            <a:endParaRPr lang="en-US" sz="1100" dirty="0"/>
          </a:p>
        </p:txBody>
      </p:sp>
      <p:sp>
        <p:nvSpPr>
          <p:cNvPr id="22" name="Shape 20"/>
          <p:cNvSpPr/>
          <p:nvPr/>
        </p:nvSpPr>
        <p:spPr>
          <a:xfrm>
            <a:off x="4754880" y="3310128"/>
            <a:ext cx="3931920" cy="1572768"/>
          </a:xfrm>
          <a:prstGeom prst="rect">
            <a:avLst/>
          </a:prstGeom>
          <a:solidFill>
            <a:srgbClr val="FFFFFF"/>
          </a:solidFill>
          <a:ln w="12700">
            <a:solidFill>
              <a:srgbClr val="E5E7EB"/>
            </a:solidFill>
            <a:prstDash val="solid"/>
          </a:ln>
          <a:effectLst>
            <a:outerShdw sx="100000" sy="100000" kx="0" ky="0" algn="bl" rotWithShape="0" blurRad="50800" dist="12700" dir="8100000">
              <a:srgbClr val="000000">
                <a:alpha val="7000"/>
              </a:srgbClr>
            </a:outerShdw>
          </a:effectLst>
        </p:spPr>
      </p:sp>
      <p:sp>
        <p:nvSpPr>
          <p:cNvPr id="23" name="Shape 21"/>
          <p:cNvSpPr/>
          <p:nvPr/>
        </p:nvSpPr>
        <p:spPr>
          <a:xfrm>
            <a:off x="4754880" y="3310128"/>
            <a:ext cx="3931920" cy="438912"/>
          </a:xfrm>
          <a:prstGeom prst="rect">
            <a:avLst/>
          </a:prstGeom>
          <a:solidFill>
            <a:srgbClr val="5558AF"/>
          </a:solidFill>
          <a:ln w="12700">
            <a:solidFill>
              <a:srgbClr val="5558AF"/>
            </a:solidFill>
            <a:prstDash val="solid"/>
          </a:ln>
        </p:spPr>
      </p:sp>
      <p:sp>
        <p:nvSpPr>
          <p:cNvPr id="24" name="Text 22"/>
          <p:cNvSpPr/>
          <p:nvPr/>
        </p:nvSpPr>
        <p:spPr>
          <a:xfrm>
            <a:off x="4864608" y="3328416"/>
            <a:ext cx="3749040" cy="402336"/>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Tenant (IT Admin)</a:t>
            </a:r>
            <a:endParaRPr lang="en-US" sz="1500" dirty="0"/>
          </a:p>
        </p:txBody>
      </p:sp>
      <p:sp>
        <p:nvSpPr>
          <p:cNvPr id="25" name="Text 23"/>
          <p:cNvSpPr/>
          <p:nvPr/>
        </p:nvSpPr>
        <p:spPr>
          <a:xfrm>
            <a:off x="4864608" y="3822192"/>
            <a:ext cx="3712464" cy="98755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Your IT admin controls which data sources Copilot accesses, which models are available, and what compliance rules apply. This is why your Copilot may look different from someone at another company.</a:t>
            </a:r>
            <a:endParaRPr lang="en-US" sz="1100" dirty="0"/>
          </a:p>
        </p:txBody>
      </p:sp>
      <p:sp>
        <p:nvSpPr>
          <p:cNvPr id="26" name="Text 24"/>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164592"/>
            <a:ext cx="2194560" cy="256032"/>
          </a:xfrm>
          <a:prstGeom prst="rect">
            <a:avLst/>
          </a:prstGeom>
          <a:solidFill>
            <a:srgbClr val="028090"/>
          </a:solidFill>
          <a:ln w="12700">
            <a:solidFill>
              <a:srgbClr val="028090"/>
            </a:solidFill>
            <a:prstDash val="solid"/>
          </a:ln>
        </p:spPr>
      </p:sp>
      <p:sp>
        <p:nvSpPr>
          <p:cNvPr id="3" name="Text 1"/>
          <p:cNvSpPr/>
          <p:nvPr/>
        </p:nvSpPr>
        <p:spPr>
          <a:xfrm>
            <a:off x="457200" y="164592"/>
            <a:ext cx="219456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RESPONSIBLE AI</a:t>
            </a:r>
            <a:endParaRPr lang="en-US" sz="900" dirty="0"/>
          </a:p>
        </p:txBody>
      </p:sp>
      <p:sp>
        <p:nvSpPr>
          <p:cNvPr id="4" name="Text 2"/>
          <p:cNvSpPr/>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Trebuchet MS" pitchFamily="34" charset="0"/>
                <a:ea typeface="Trebuchet MS" pitchFamily="34" charset="-122"/>
                <a:cs typeface="Trebuchet MS" pitchFamily="34" charset="-120"/>
              </a:rPr>
              <a:t>Using Copilot Responsibly</a:t>
            </a:r>
            <a:endParaRPr lang="en-US" sz="2800" dirty="0"/>
          </a:p>
        </p:txBody>
      </p:sp>
      <p:sp>
        <p:nvSpPr>
          <p:cNvPr id="5" name="Shape 3"/>
          <p:cNvSpPr/>
          <p:nvPr/>
        </p:nvSpPr>
        <p:spPr>
          <a:xfrm>
            <a:off x="457200" y="1417320"/>
            <a:ext cx="8229600" cy="22860"/>
          </a:xfrm>
          <a:prstGeom prst="rect">
            <a:avLst/>
          </a:prstGeom>
          <a:solidFill>
            <a:srgbClr val="CADCFC"/>
          </a:solidFill>
          <a:ln w="12700">
            <a:solidFill>
              <a:srgbClr val="CADCFC"/>
            </a:solidFill>
            <a:prstDash val="solid"/>
          </a:ln>
        </p:spPr>
      </p:sp>
      <p:sp>
        <p:nvSpPr>
          <p:cNvPr id="6" name="Shape 4"/>
          <p:cNvSpPr/>
          <p:nvPr/>
        </p:nvSpPr>
        <p:spPr>
          <a:xfrm>
            <a:off x="457200" y="1572768"/>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7" name="Shape 5"/>
          <p:cNvSpPr/>
          <p:nvPr/>
        </p:nvSpPr>
        <p:spPr>
          <a:xfrm>
            <a:off x="457200" y="1572768"/>
            <a:ext cx="2651760" cy="347472"/>
          </a:xfrm>
          <a:prstGeom prst="rect">
            <a:avLst/>
          </a:prstGeom>
          <a:solidFill>
            <a:srgbClr val="1D6F42"/>
          </a:solidFill>
          <a:ln w="12700">
            <a:solidFill>
              <a:srgbClr val="1D6F42"/>
            </a:solidFill>
            <a:prstDash val="solid"/>
          </a:ln>
        </p:spPr>
      </p:sp>
      <p:sp>
        <p:nvSpPr>
          <p:cNvPr id="8" name="Text 6"/>
          <p:cNvSpPr/>
          <p:nvPr/>
        </p:nvSpPr>
        <p:spPr>
          <a:xfrm>
            <a:off x="566928" y="1609344"/>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Always verify</a:t>
            </a:r>
            <a:endParaRPr lang="en-US" sz="1300" dirty="0"/>
          </a:p>
        </p:txBody>
      </p:sp>
      <p:sp>
        <p:nvSpPr>
          <p:cNvPr id="9" name="Text 7"/>
          <p:cNvSpPr/>
          <p:nvPr/>
        </p:nvSpPr>
        <p:spPr>
          <a:xfrm>
            <a:off x="566928" y="1984248"/>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Copilot output is a starting point. You are the expert — review before you send or submit.</a:t>
            </a:r>
            <a:endParaRPr lang="en-US" sz="1100" dirty="0"/>
          </a:p>
        </p:txBody>
      </p:sp>
      <p:sp>
        <p:nvSpPr>
          <p:cNvPr id="10" name="Shape 8"/>
          <p:cNvSpPr/>
          <p:nvPr/>
        </p:nvSpPr>
        <p:spPr>
          <a:xfrm>
            <a:off x="3291840" y="1572768"/>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1" name="Shape 9"/>
          <p:cNvSpPr/>
          <p:nvPr/>
        </p:nvSpPr>
        <p:spPr>
          <a:xfrm>
            <a:off x="3291840" y="1572768"/>
            <a:ext cx="2651760" cy="347472"/>
          </a:xfrm>
          <a:prstGeom prst="rect">
            <a:avLst/>
          </a:prstGeom>
          <a:solidFill>
            <a:srgbClr val="028090"/>
          </a:solidFill>
          <a:ln w="12700">
            <a:solidFill>
              <a:srgbClr val="028090"/>
            </a:solidFill>
            <a:prstDash val="solid"/>
          </a:ln>
        </p:spPr>
      </p:sp>
      <p:sp>
        <p:nvSpPr>
          <p:cNvPr id="12" name="Text 10"/>
          <p:cNvSpPr/>
          <p:nvPr/>
        </p:nvSpPr>
        <p:spPr>
          <a:xfrm>
            <a:off x="3401568" y="1609344"/>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Protect data</a:t>
            </a:r>
            <a:endParaRPr lang="en-US" sz="1300" dirty="0"/>
          </a:p>
        </p:txBody>
      </p:sp>
      <p:sp>
        <p:nvSpPr>
          <p:cNvPr id="13" name="Text 11"/>
          <p:cNvSpPr/>
          <p:nvPr/>
        </p:nvSpPr>
        <p:spPr>
          <a:xfrm>
            <a:off x="3401568" y="1984248"/>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Never paste confidential client data, personal IDs, or financial records into Copilot prompts.</a:t>
            </a:r>
            <a:endParaRPr lang="en-US" sz="1100" dirty="0"/>
          </a:p>
        </p:txBody>
      </p:sp>
      <p:sp>
        <p:nvSpPr>
          <p:cNvPr id="14" name="Shape 12"/>
          <p:cNvSpPr/>
          <p:nvPr/>
        </p:nvSpPr>
        <p:spPr>
          <a:xfrm>
            <a:off x="6126480" y="1572768"/>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5" name="Shape 13"/>
          <p:cNvSpPr/>
          <p:nvPr/>
        </p:nvSpPr>
        <p:spPr>
          <a:xfrm>
            <a:off x="6126480" y="1572768"/>
            <a:ext cx="2651760" cy="347472"/>
          </a:xfrm>
          <a:prstGeom prst="rect">
            <a:avLst/>
          </a:prstGeom>
          <a:solidFill>
            <a:srgbClr val="1E2761"/>
          </a:solidFill>
          <a:ln w="12700">
            <a:solidFill>
              <a:srgbClr val="1E2761"/>
            </a:solidFill>
            <a:prstDash val="solid"/>
          </a:ln>
        </p:spPr>
      </p:sp>
      <p:sp>
        <p:nvSpPr>
          <p:cNvPr id="16" name="Text 14"/>
          <p:cNvSpPr/>
          <p:nvPr/>
        </p:nvSpPr>
        <p:spPr>
          <a:xfrm>
            <a:off x="6236208" y="1609344"/>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Be transparent</a:t>
            </a:r>
            <a:endParaRPr lang="en-US" sz="1300" dirty="0"/>
          </a:p>
        </p:txBody>
      </p:sp>
      <p:sp>
        <p:nvSpPr>
          <p:cNvPr id="17" name="Text 15"/>
          <p:cNvSpPr/>
          <p:nvPr/>
        </p:nvSpPr>
        <p:spPr>
          <a:xfrm>
            <a:off x="6236208" y="1984248"/>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If you used Copilot to draft something significant, say so. Colleagues deserve to know.</a:t>
            </a:r>
            <a:endParaRPr lang="en-US" sz="1100" dirty="0"/>
          </a:p>
        </p:txBody>
      </p:sp>
      <p:sp>
        <p:nvSpPr>
          <p:cNvPr id="18" name="Shape 16"/>
          <p:cNvSpPr/>
          <p:nvPr/>
        </p:nvSpPr>
        <p:spPr>
          <a:xfrm>
            <a:off x="457200" y="3291840"/>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19" name="Shape 17"/>
          <p:cNvSpPr/>
          <p:nvPr/>
        </p:nvSpPr>
        <p:spPr>
          <a:xfrm>
            <a:off x="457200" y="3291840"/>
            <a:ext cx="2651760" cy="347472"/>
          </a:xfrm>
          <a:prstGeom prst="rect">
            <a:avLst/>
          </a:prstGeom>
          <a:solidFill>
            <a:srgbClr val="5558AF"/>
          </a:solidFill>
          <a:ln w="12700">
            <a:solidFill>
              <a:srgbClr val="5558AF"/>
            </a:solidFill>
            <a:prstDash val="solid"/>
          </a:ln>
        </p:spPr>
      </p:sp>
      <p:sp>
        <p:nvSpPr>
          <p:cNvPr id="20" name="Text 18"/>
          <p:cNvSpPr/>
          <p:nvPr/>
        </p:nvSpPr>
        <p:spPr>
          <a:xfrm>
            <a:off x="566928" y="3328416"/>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Stay compliant</a:t>
            </a:r>
            <a:endParaRPr lang="en-US" sz="1300" dirty="0"/>
          </a:p>
        </p:txBody>
      </p:sp>
      <p:sp>
        <p:nvSpPr>
          <p:cNvPr id="21" name="Text 19"/>
          <p:cNvSpPr/>
          <p:nvPr/>
        </p:nvSpPr>
        <p:spPr>
          <a:xfrm>
            <a:off x="566928" y="3703320"/>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Malaysia's PDPA applies to AI use. Know which data you are authorised to process.</a:t>
            </a:r>
            <a:endParaRPr lang="en-US" sz="1100" dirty="0"/>
          </a:p>
        </p:txBody>
      </p:sp>
      <p:sp>
        <p:nvSpPr>
          <p:cNvPr id="22" name="Shape 20"/>
          <p:cNvSpPr/>
          <p:nvPr/>
        </p:nvSpPr>
        <p:spPr>
          <a:xfrm>
            <a:off x="3291840" y="3291840"/>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23" name="Shape 21"/>
          <p:cNvSpPr/>
          <p:nvPr/>
        </p:nvSpPr>
        <p:spPr>
          <a:xfrm>
            <a:off x="3291840" y="3291840"/>
            <a:ext cx="2651760" cy="347472"/>
          </a:xfrm>
          <a:prstGeom prst="rect">
            <a:avLst/>
          </a:prstGeom>
          <a:solidFill>
            <a:srgbClr val="E07B39"/>
          </a:solidFill>
          <a:ln w="12700">
            <a:solidFill>
              <a:srgbClr val="E07B39"/>
            </a:solidFill>
            <a:prstDash val="solid"/>
          </a:ln>
        </p:spPr>
      </p:sp>
      <p:sp>
        <p:nvSpPr>
          <p:cNvPr id="24" name="Text 22"/>
          <p:cNvSpPr/>
          <p:nvPr/>
        </p:nvSpPr>
        <p:spPr>
          <a:xfrm>
            <a:off x="3401568" y="3328416"/>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Keep human judgment</a:t>
            </a:r>
            <a:endParaRPr lang="en-US" sz="1300" dirty="0"/>
          </a:p>
        </p:txBody>
      </p:sp>
      <p:sp>
        <p:nvSpPr>
          <p:cNvPr id="25" name="Text 23"/>
          <p:cNvSpPr/>
          <p:nvPr/>
        </p:nvSpPr>
        <p:spPr>
          <a:xfrm>
            <a:off x="3401568" y="3703320"/>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AI assists — it does not decide. Final decisions, especially on people, stay with you.</a:t>
            </a:r>
            <a:endParaRPr lang="en-US" sz="1100" dirty="0"/>
          </a:p>
        </p:txBody>
      </p:sp>
      <p:sp>
        <p:nvSpPr>
          <p:cNvPr id="26" name="Shape 24"/>
          <p:cNvSpPr/>
          <p:nvPr/>
        </p:nvSpPr>
        <p:spPr>
          <a:xfrm>
            <a:off x="6126480" y="3291840"/>
            <a:ext cx="2651760" cy="1572768"/>
          </a:xfrm>
          <a:prstGeom prst="rect">
            <a:avLst/>
          </a:prstGeom>
          <a:solidFill>
            <a:srgbClr val="FFFFFF"/>
          </a:solidFill>
          <a:ln w="12700">
            <a:solidFill>
              <a:srgbClr val="E5E7EB"/>
            </a:solidFill>
            <a:prstDash val="solid"/>
          </a:ln>
          <a:effectLst>
            <a:outerShdw sx="100000" sy="100000" kx="0" ky="0" algn="bl" rotWithShape="0" blurRad="38100" dist="12700" dir="8100000">
              <a:srgbClr val="000000">
                <a:alpha val="6000"/>
              </a:srgbClr>
            </a:outerShdw>
          </a:effectLst>
        </p:spPr>
      </p:sp>
      <p:sp>
        <p:nvSpPr>
          <p:cNvPr id="27" name="Shape 25"/>
          <p:cNvSpPr/>
          <p:nvPr/>
        </p:nvSpPr>
        <p:spPr>
          <a:xfrm>
            <a:off x="6126480" y="3291840"/>
            <a:ext cx="2651760" cy="347472"/>
          </a:xfrm>
          <a:prstGeom prst="rect">
            <a:avLst/>
          </a:prstGeom>
          <a:solidFill>
            <a:srgbClr val="6D2E46"/>
          </a:solidFill>
          <a:ln w="12700">
            <a:solidFill>
              <a:srgbClr val="6D2E46"/>
            </a:solidFill>
            <a:prstDash val="solid"/>
          </a:ln>
        </p:spPr>
      </p:sp>
      <p:sp>
        <p:nvSpPr>
          <p:cNvPr id="28" name="Text 26"/>
          <p:cNvSpPr/>
          <p:nvPr/>
        </p:nvSpPr>
        <p:spPr>
          <a:xfrm>
            <a:off x="6236208" y="3328416"/>
            <a:ext cx="2450592" cy="274320"/>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Report issues</a:t>
            </a:r>
            <a:endParaRPr lang="en-US" sz="1300" dirty="0"/>
          </a:p>
        </p:txBody>
      </p:sp>
      <p:sp>
        <p:nvSpPr>
          <p:cNvPr id="29" name="Text 27"/>
          <p:cNvSpPr/>
          <p:nvPr/>
        </p:nvSpPr>
        <p:spPr>
          <a:xfrm>
            <a:off x="6236208" y="3703320"/>
            <a:ext cx="2450592" cy="1078992"/>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If Copilot produces something harmful, biased, or wrong, report it to your IT team.</a:t>
            </a:r>
            <a:endParaRPr lang="en-US" sz="1100" dirty="0"/>
          </a:p>
        </p:txBody>
      </p:sp>
      <p:sp>
        <p:nvSpPr>
          <p:cNvPr id="30" name="Text 28"/>
          <p:cNvSpPr/>
          <p:nvPr/>
        </p:nvSpPr>
        <p:spPr>
          <a:xfrm>
            <a:off x="8595360" y="4754880"/>
            <a:ext cx="365760" cy="228600"/>
          </a:xfrm>
          <a:prstGeom prst="rect">
            <a:avLst/>
          </a:prstGeom>
          <a:noFill/>
          <a:ln/>
        </p:spPr>
        <p:txBody>
          <a:bodyPr wrap="square" rtlCol="0" anchor="ctr"/>
          <a:lstStyle/>
          <a:p>
            <a:pPr algn="r" indent="0" marL="0">
              <a:buNone/>
            </a:pPr>
            <a:r>
              <a:rPr lang="en-US" sz="900" dirty="0">
                <a:solidFill>
                  <a:srgbClr val="8A9B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583680" y="-731520"/>
            <a:ext cx="3657600" cy="3657600"/>
          </a:xfrm>
          <a:prstGeom prst="ellipse">
            <a:avLst/>
          </a:prstGeom>
          <a:solidFill>
            <a:srgbClr val="028090">
              <a:alpha val="15000"/>
            </a:srgbClr>
          </a:solidFill>
          <a:ln w="12700">
            <a:solidFill>
              <a:srgbClr val="028090">
                <a:alpha val="15000"/>
              </a:srgbClr>
            </a:solidFill>
            <a:prstDash val="solid"/>
          </a:ln>
        </p:spPr>
      </p:sp>
      <p:sp>
        <p:nvSpPr>
          <p:cNvPr id="3" name="Shape 1"/>
          <p:cNvSpPr/>
          <p:nvPr/>
        </p:nvSpPr>
        <p:spPr>
          <a:xfrm>
            <a:off x="-731520" y="3200400"/>
            <a:ext cx="2743200" cy="2743200"/>
          </a:xfrm>
          <a:prstGeom prst="ellipse">
            <a:avLst/>
          </a:prstGeom>
          <a:solidFill>
            <a:srgbClr val="02C39A">
              <a:alpha val="12000"/>
            </a:srgbClr>
          </a:solidFill>
          <a:ln w="12700">
            <a:solidFill>
              <a:srgbClr val="02C39A">
                <a:alpha val="12000"/>
              </a:srgbClr>
            </a:solidFill>
            <a:prstDash val="solid"/>
          </a:ln>
        </p:spPr>
      </p:sp>
      <p:sp>
        <p:nvSpPr>
          <p:cNvPr id="4" name="Shape 2"/>
          <p:cNvSpPr/>
          <p:nvPr/>
        </p:nvSpPr>
        <p:spPr>
          <a:xfrm>
            <a:off x="0" y="0"/>
            <a:ext cx="109728" cy="5143500"/>
          </a:xfrm>
          <a:prstGeom prst="rect">
            <a:avLst/>
          </a:prstGeom>
          <a:solidFill>
            <a:srgbClr val="02C39A"/>
          </a:solidFill>
          <a:ln w="12700">
            <a:solidFill>
              <a:srgbClr val="02C39A"/>
            </a:solidFill>
            <a:prstDash val="solid"/>
          </a:ln>
        </p:spPr>
      </p:sp>
      <p:sp>
        <p:nvSpPr>
          <p:cNvPr id="5" name="Text 3"/>
          <p:cNvSpPr/>
          <p:nvPr/>
        </p:nvSpPr>
        <p:spPr>
          <a:xfrm>
            <a:off x="640080" y="1188720"/>
            <a:ext cx="8229600" cy="45720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Topic 01 Complete</a:t>
            </a:r>
            <a:endParaRPr lang="en-US" sz="1400" dirty="0"/>
          </a:p>
        </p:txBody>
      </p:sp>
      <p:sp>
        <p:nvSpPr>
          <p:cNvPr id="6" name="Text 4"/>
          <p:cNvSpPr/>
          <p:nvPr/>
        </p:nvSpPr>
        <p:spPr>
          <a:xfrm>
            <a:off x="640080" y="1645920"/>
            <a:ext cx="8229600" cy="50292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Key Takeaways</a:t>
            </a:r>
            <a:endParaRPr lang="en-US" sz="3200" dirty="0"/>
          </a:p>
        </p:txBody>
      </p:sp>
      <p:sp>
        <p:nvSpPr>
          <p:cNvPr id="7" name="Shape 5"/>
          <p:cNvSpPr/>
          <p:nvPr/>
        </p:nvSpPr>
        <p:spPr>
          <a:xfrm>
            <a:off x="640080" y="2176272"/>
            <a:ext cx="201168" cy="201168"/>
          </a:xfrm>
          <a:prstGeom prst="rect">
            <a:avLst/>
          </a:prstGeom>
          <a:solidFill>
            <a:srgbClr val="02C39A"/>
          </a:solidFill>
          <a:ln w="12700">
            <a:solidFill>
              <a:srgbClr val="02C39A"/>
            </a:solidFill>
            <a:prstDash val="solid"/>
          </a:ln>
        </p:spPr>
      </p:sp>
      <p:sp>
        <p:nvSpPr>
          <p:cNvPr id="8" name="Text 6"/>
          <p:cNvSpPr/>
          <p:nvPr/>
        </p:nvSpPr>
        <p:spPr>
          <a:xfrm>
            <a:off x="960120" y="2139696"/>
            <a:ext cx="7772400" cy="402336"/>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M365 Copilot is embedded in your apps — it knows your emails, files, and calendar</a:t>
            </a:r>
            <a:endParaRPr lang="en-US" sz="1250" dirty="0"/>
          </a:p>
        </p:txBody>
      </p:sp>
      <p:sp>
        <p:nvSpPr>
          <p:cNvPr id="9" name="Shape 7"/>
          <p:cNvSpPr/>
          <p:nvPr/>
        </p:nvSpPr>
        <p:spPr>
          <a:xfrm>
            <a:off x="640080" y="2633472"/>
            <a:ext cx="201168" cy="201168"/>
          </a:xfrm>
          <a:prstGeom prst="rect">
            <a:avLst/>
          </a:prstGeom>
          <a:solidFill>
            <a:srgbClr val="02C39A"/>
          </a:solidFill>
          <a:ln w="12700">
            <a:solidFill>
              <a:srgbClr val="02C39A"/>
            </a:solidFill>
            <a:prstDash val="solid"/>
          </a:ln>
        </p:spPr>
      </p:sp>
      <p:sp>
        <p:nvSpPr>
          <p:cNvPr id="10" name="Text 8"/>
          <p:cNvSpPr/>
          <p:nvPr/>
        </p:nvSpPr>
        <p:spPr>
          <a:xfrm>
            <a:off x="960120" y="2596896"/>
            <a:ext cx="7772400" cy="402336"/>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The paid licence is what makes it work with your actual work data</a:t>
            </a:r>
            <a:endParaRPr lang="en-US" sz="1250" dirty="0"/>
          </a:p>
        </p:txBody>
      </p:sp>
      <p:sp>
        <p:nvSpPr>
          <p:cNvPr id="11" name="Shape 9"/>
          <p:cNvSpPr/>
          <p:nvPr/>
        </p:nvSpPr>
        <p:spPr>
          <a:xfrm>
            <a:off x="640080" y="3090672"/>
            <a:ext cx="201168" cy="201168"/>
          </a:xfrm>
          <a:prstGeom prst="rect">
            <a:avLst/>
          </a:prstGeom>
          <a:solidFill>
            <a:srgbClr val="02C39A"/>
          </a:solidFill>
          <a:ln w="12700">
            <a:solidFill>
              <a:srgbClr val="02C39A"/>
            </a:solidFill>
            <a:prstDash val="solid"/>
          </a:ln>
        </p:spPr>
      </p:sp>
      <p:sp>
        <p:nvSpPr>
          <p:cNvPr id="12" name="Text 10"/>
          <p:cNvSpPr/>
          <p:nvPr/>
        </p:nvSpPr>
        <p:spPr>
          <a:xfrm>
            <a:off x="960120" y="3054096"/>
            <a:ext cx="7772400" cy="402336"/>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Responses vary by design — temperature, probability, and model choice all play a role</a:t>
            </a:r>
            <a:endParaRPr lang="en-US" sz="1250" dirty="0"/>
          </a:p>
        </p:txBody>
      </p:sp>
      <p:sp>
        <p:nvSpPr>
          <p:cNvPr id="13" name="Shape 11"/>
          <p:cNvSpPr/>
          <p:nvPr/>
        </p:nvSpPr>
        <p:spPr>
          <a:xfrm>
            <a:off x="640080" y="3547872"/>
            <a:ext cx="201168" cy="201168"/>
          </a:xfrm>
          <a:prstGeom prst="rect">
            <a:avLst/>
          </a:prstGeom>
          <a:solidFill>
            <a:srgbClr val="02C39A"/>
          </a:solidFill>
          <a:ln w="12700">
            <a:solidFill>
              <a:srgbClr val="02C39A"/>
            </a:solidFill>
            <a:prstDash val="solid"/>
          </a:ln>
        </p:spPr>
      </p:sp>
      <p:sp>
        <p:nvSpPr>
          <p:cNvPr id="14" name="Text 12"/>
          <p:cNvSpPr/>
          <p:nvPr/>
        </p:nvSpPr>
        <p:spPr>
          <a:xfrm>
            <a:off x="960120" y="3511296"/>
            <a:ext cx="7772400" cy="402336"/>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Copilot has no memory across sessions by default — use Notebooks for persistent context</a:t>
            </a:r>
            <a:endParaRPr lang="en-US" sz="1250" dirty="0"/>
          </a:p>
        </p:txBody>
      </p:sp>
      <p:sp>
        <p:nvSpPr>
          <p:cNvPr id="15" name="Shape 13"/>
          <p:cNvSpPr/>
          <p:nvPr/>
        </p:nvSpPr>
        <p:spPr>
          <a:xfrm>
            <a:off x="640080" y="4005072"/>
            <a:ext cx="201168" cy="201168"/>
          </a:xfrm>
          <a:prstGeom prst="rect">
            <a:avLst/>
          </a:prstGeom>
          <a:solidFill>
            <a:srgbClr val="02C39A"/>
          </a:solidFill>
          <a:ln w="12700">
            <a:solidFill>
              <a:srgbClr val="02C39A"/>
            </a:solidFill>
            <a:prstDash val="solid"/>
          </a:ln>
        </p:spPr>
      </p:sp>
      <p:sp>
        <p:nvSpPr>
          <p:cNvPr id="16" name="Text 14"/>
          <p:cNvSpPr/>
          <p:nvPr/>
        </p:nvSpPr>
        <p:spPr>
          <a:xfrm>
            <a:off x="960120" y="3968496"/>
            <a:ext cx="7772400" cy="402336"/>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You can personalise Copilot with standing instructions via your profile settings</a:t>
            </a:r>
            <a:endParaRPr lang="en-US" sz="1250" dirty="0"/>
          </a:p>
        </p:txBody>
      </p:sp>
      <p:sp>
        <p:nvSpPr>
          <p:cNvPr id="17" name="Shape 15"/>
          <p:cNvSpPr/>
          <p:nvPr/>
        </p:nvSpPr>
        <p:spPr>
          <a:xfrm>
            <a:off x="640080" y="4480560"/>
            <a:ext cx="7863840" cy="384048"/>
          </a:xfrm>
          <a:prstGeom prst="rect">
            <a:avLst/>
          </a:prstGeom>
          <a:solidFill>
            <a:srgbClr val="028090">
              <a:alpha val="30000"/>
            </a:srgbClr>
          </a:solidFill>
          <a:ln w="12700">
            <a:solidFill>
              <a:srgbClr val="028090">
                <a:alpha val="30000"/>
              </a:srgbClr>
            </a:solidFill>
            <a:prstDash val="solid"/>
          </a:ln>
        </p:spPr>
      </p:sp>
      <p:sp>
        <p:nvSpPr>
          <p:cNvPr id="18" name="Text 16"/>
          <p:cNvSpPr/>
          <p:nvPr/>
        </p:nvSpPr>
        <p:spPr>
          <a:xfrm>
            <a:off x="777240" y="4507992"/>
            <a:ext cx="7680960" cy="32004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Next up: Topic 02 — Prompt Engineering  →  How to write prompts that actually work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 Copilot Fundamentals</dc:title>
  <dc:subject>PptxGenJS Presentation</dc:subject>
  <dc:creator>Asraf</dc:creator>
  <cp:lastModifiedBy>Asraf</cp:lastModifiedBy>
  <cp:revision>1</cp:revision>
  <dcterms:created xsi:type="dcterms:W3CDTF">2026-05-01T16:24:51Z</dcterms:created>
  <dcterms:modified xsi:type="dcterms:W3CDTF">2026-05-01T16:24:51Z</dcterms:modified>
</cp:coreProperties>
</file>