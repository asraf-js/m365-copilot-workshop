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C39A"/>
          </a:solidFill>
          <a:ln w="12700">
            <a:solidFill>
              <a:srgbClr val="02C39A"/>
            </a:solidFill>
            <a:prstDash val="solid"/>
          </a:ln>
        </p:spPr>
      </p:sp>
      <p:sp>
        <p:nvSpPr>
          <p:cNvPr id="3" name="Shape 1"/>
          <p:cNvSpPr/>
          <p:nvPr/>
        </p:nvSpPr>
        <p:spPr>
          <a:xfrm>
            <a:off x="6858000" y="-731520"/>
            <a:ext cx="3657600" cy="3657600"/>
          </a:xfrm>
          <a:prstGeom prst="ellipse">
            <a:avLst/>
          </a:prstGeom>
          <a:solidFill>
            <a:srgbClr val="028090">
              <a:alpha val="18000"/>
            </a:srgbClr>
          </a:solidFill>
          <a:ln w="12700">
            <a:solidFill>
              <a:srgbClr val="028090">
                <a:alpha val="18000"/>
              </a:srgbClr>
            </a:solidFill>
            <a:prstDash val="solid"/>
          </a:ln>
        </p:spPr>
      </p:sp>
      <p:sp>
        <p:nvSpPr>
          <p:cNvPr id="4" name="Shape 2"/>
          <p:cNvSpPr/>
          <p:nvPr/>
        </p:nvSpPr>
        <p:spPr>
          <a:xfrm>
            <a:off x="7498080" y="3017520"/>
            <a:ext cx="2011680" cy="2011680"/>
          </a:xfrm>
          <a:prstGeom prst="ellipse">
            <a:avLst/>
          </a:prstGeom>
          <a:solidFill>
            <a:srgbClr val="02C39A">
              <a:alpha val="12000"/>
            </a:srgbClr>
          </a:solidFill>
          <a:ln w="12700">
            <a:solidFill>
              <a:srgbClr val="02C39A">
                <a:alpha val="12000"/>
              </a:srgbClr>
            </a:solidFill>
            <a:prstDash val="solid"/>
          </a:ln>
        </p:spPr>
      </p:sp>
      <p:sp>
        <p:nvSpPr>
          <p:cNvPr id="5" name="Shape 3"/>
          <p:cNvSpPr/>
          <p:nvPr/>
        </p:nvSpPr>
        <p:spPr>
          <a:xfrm>
            <a:off x="640080" y="1280160"/>
            <a:ext cx="2743200" cy="292608"/>
          </a:xfrm>
          <a:prstGeom prst="rect">
            <a:avLst/>
          </a:prstGeom>
          <a:solidFill>
            <a:srgbClr val="028090"/>
          </a:solidFill>
          <a:ln w="12700">
            <a:solidFill>
              <a:srgbClr val="028090"/>
            </a:solidFill>
            <a:prstDash val="solid"/>
          </a:ln>
        </p:spPr>
      </p:sp>
      <p:sp>
        <p:nvSpPr>
          <p:cNvPr id="6" name="Text 4"/>
          <p:cNvSpPr/>
          <p:nvPr/>
        </p:nvSpPr>
        <p:spPr>
          <a:xfrm>
            <a:off x="640080" y="1280160"/>
            <a:ext cx="2743200" cy="292608"/>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M365 COPILOT WORKSHOP</a:t>
            </a:r>
            <a:endParaRPr lang="en-US" sz="900" dirty="0"/>
          </a:p>
        </p:txBody>
      </p:sp>
      <p:sp>
        <p:nvSpPr>
          <p:cNvPr id="7" name="Text 5"/>
          <p:cNvSpPr/>
          <p:nvPr/>
        </p:nvSpPr>
        <p:spPr>
          <a:xfrm>
            <a:off x="640080" y="1691640"/>
            <a:ext cx="6858000" cy="1691640"/>
          </a:xfrm>
          <a:prstGeom prst="rect">
            <a:avLst/>
          </a:prstGeom>
          <a:noFill/>
          <a:ln/>
        </p:spPr>
        <p:txBody>
          <a:bodyPr wrap="square" rtlCol="0" anchor="ctr"/>
          <a:lstStyle/>
          <a:p>
            <a:pPr indent="0" marL="0">
              <a:buNone/>
            </a:pPr>
            <a:r>
              <a:rPr lang="en-US" sz="5400" b="1" dirty="0">
                <a:solidFill>
                  <a:srgbClr val="FFFFFF"/>
                </a:solidFill>
                <a:latin typeface="Trebuchet MS" pitchFamily="34" charset="0"/>
                <a:ea typeface="Trebuchet MS" pitchFamily="34" charset="-122"/>
                <a:cs typeface="Trebuchet MS" pitchFamily="34" charset="-120"/>
              </a:rPr>
              <a:t>Prompt</a:t>
            </a:r>
            <a:endParaRPr lang="en-US" sz="5400" dirty="0"/>
          </a:p>
          <a:p>
            <a:pPr indent="0" marL="0">
              <a:buNone/>
            </a:pPr>
            <a:r>
              <a:rPr lang="en-US" sz="5400" b="1" dirty="0">
                <a:solidFill>
                  <a:srgbClr val="FFFFFF"/>
                </a:solidFill>
                <a:latin typeface="Trebuchet MS" pitchFamily="34" charset="0"/>
                <a:ea typeface="Trebuchet MS" pitchFamily="34" charset="-122"/>
                <a:cs typeface="Trebuchet MS" pitchFamily="34" charset="-120"/>
              </a:rPr>
              <a:t>Engineering</a:t>
            </a:r>
            <a:endParaRPr lang="en-US" sz="5400" dirty="0"/>
          </a:p>
        </p:txBody>
      </p:sp>
      <p:sp>
        <p:nvSpPr>
          <p:cNvPr id="8" name="Text 6"/>
          <p:cNvSpPr/>
          <p:nvPr/>
        </p:nvSpPr>
        <p:spPr>
          <a:xfrm>
            <a:off x="640080" y="3429000"/>
            <a:ext cx="1828800" cy="36576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Topic 02</a:t>
            </a:r>
            <a:endParaRPr lang="en-US" sz="1300" dirty="0"/>
          </a:p>
        </p:txBody>
      </p:sp>
      <p:sp>
        <p:nvSpPr>
          <p:cNvPr id="9" name="Text 7"/>
          <p:cNvSpPr/>
          <p:nvPr/>
        </p:nvSpPr>
        <p:spPr>
          <a:xfrm>
            <a:off x="640080" y="3794760"/>
            <a:ext cx="7315200" cy="320040"/>
          </a:xfrm>
          <a:prstGeom prst="rect">
            <a:avLst/>
          </a:prstGeom>
          <a:noFill/>
          <a:ln/>
        </p:spPr>
        <p:txBody>
          <a:bodyPr wrap="square" rtlCol="0" anchor="ctr"/>
          <a:lstStyle/>
          <a:p>
            <a:pPr indent="0" marL="0">
              <a:buNone/>
            </a:pPr>
            <a:r>
              <a:rPr lang="en-US" sz="1300" i="1" dirty="0">
                <a:solidFill>
                  <a:srgbClr val="8A9BB0"/>
                </a:solidFill>
                <a:latin typeface="Calibri" pitchFamily="34" charset="0"/>
                <a:ea typeface="Calibri" pitchFamily="34" charset="-122"/>
                <a:cs typeface="Calibri" pitchFamily="34" charset="-120"/>
              </a:rPr>
              <a:t>GCSE Framework · Weak vs Strong · Iteration · Common Mistakes</a:t>
            </a:r>
            <a:endParaRPr lang="en-US" sz="1300" dirty="0"/>
          </a:p>
        </p:txBody>
      </p:sp>
      <p:sp>
        <p:nvSpPr>
          <p:cNvPr id="10" name="Text 8"/>
          <p:cNvSpPr/>
          <p:nvPr/>
        </p:nvSpPr>
        <p:spPr>
          <a:xfrm>
            <a:off x="640080" y="4663440"/>
            <a:ext cx="4572000" cy="228600"/>
          </a:xfrm>
          <a:prstGeom prst="rect">
            <a:avLst/>
          </a:prstGeom>
          <a:noFill/>
          <a:ln/>
        </p:spPr>
        <p:txBody>
          <a:bodyPr wrap="square" rtlCol="0" anchor="ctr"/>
          <a:lstStyle/>
          <a:p>
            <a:pPr indent="0" marL="0">
              <a:buNone/>
            </a:pPr>
            <a:r>
              <a:rPr lang="en-US" sz="900" dirty="0">
                <a:solidFill>
                  <a:srgbClr val="8A9BB0"/>
                </a:solidFill>
                <a:latin typeface="Calibri" pitchFamily="34" charset="0"/>
                <a:ea typeface="Calibri" pitchFamily="34" charset="-122"/>
                <a:cs typeface="Calibri" pitchFamily="34" charset="-120"/>
              </a:rPr>
              <a:t>Trainer: Asraf  |  May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57200" y="164592"/>
            <a:ext cx="2560320" cy="256032"/>
          </a:xfrm>
          <a:prstGeom prst="rect">
            <a:avLst/>
          </a:prstGeom>
          <a:solidFill>
            <a:srgbClr val="028090"/>
          </a:solidFill>
          <a:ln w="12700">
            <a:solidFill>
              <a:srgbClr val="028090"/>
            </a:solidFill>
            <a:prstDash val="solid"/>
          </a:ln>
        </p:spPr>
      </p:sp>
      <p:sp>
        <p:nvSpPr>
          <p:cNvPr id="3" name="Text 1"/>
          <p:cNvSpPr/>
          <p:nvPr/>
        </p:nvSpPr>
        <p:spPr>
          <a:xfrm>
            <a:off x="457200" y="164592"/>
            <a:ext cx="25603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TOPIC 02 — PROMPT ENGINEERING</a:t>
            </a:r>
            <a:endParaRPr lang="en-US" sz="900" dirty="0"/>
          </a:p>
        </p:txBody>
      </p:sp>
      <p:sp>
        <p:nvSpPr>
          <p:cNvPr id="4" name="Text 2"/>
          <p:cNvSpPr/>
          <p:nvPr/>
        </p:nvSpPr>
        <p:spPr>
          <a:xfrm>
            <a:off x="457200" y="530352"/>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Trebuchet MS" pitchFamily="34" charset="0"/>
                <a:ea typeface="Trebuchet MS" pitchFamily="34" charset="-122"/>
                <a:cs typeface="Trebuchet MS" pitchFamily="34" charset="-120"/>
              </a:rPr>
              <a:t>What We Will Cover</a:t>
            </a:r>
            <a:endParaRPr lang="en-US" sz="2800" dirty="0"/>
          </a:p>
        </p:txBody>
      </p:sp>
      <p:sp>
        <p:nvSpPr>
          <p:cNvPr id="5" name="Text 3"/>
          <p:cNvSpPr/>
          <p:nvPr/>
        </p:nvSpPr>
        <p:spPr>
          <a:xfrm>
            <a:off x="457200" y="1078992"/>
            <a:ext cx="8229600" cy="320040"/>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Everything you need to write prompts that actually work</a:t>
            </a:r>
            <a:endParaRPr lang="en-US" sz="1400" dirty="0"/>
          </a:p>
        </p:txBody>
      </p:sp>
      <p:sp>
        <p:nvSpPr>
          <p:cNvPr id="6" name="Shape 4"/>
          <p:cNvSpPr/>
          <p:nvPr/>
        </p:nvSpPr>
        <p:spPr>
          <a:xfrm>
            <a:off x="457200" y="1417320"/>
            <a:ext cx="8229600" cy="22860"/>
          </a:xfrm>
          <a:prstGeom prst="rect">
            <a:avLst/>
          </a:prstGeom>
          <a:solidFill>
            <a:srgbClr val="CADCFC"/>
          </a:solidFill>
          <a:ln w="12700">
            <a:solidFill>
              <a:srgbClr val="CADCFC"/>
            </a:solidFill>
            <a:prstDash val="solid"/>
          </a:ln>
        </p:spPr>
      </p:sp>
      <p:sp>
        <p:nvSpPr>
          <p:cNvPr id="7" name="Shape 5"/>
          <p:cNvSpPr/>
          <p:nvPr/>
        </p:nvSpPr>
        <p:spPr>
          <a:xfrm>
            <a:off x="457200" y="1618488"/>
            <a:ext cx="566928" cy="566928"/>
          </a:xfrm>
          <a:prstGeom prst="ellipse">
            <a:avLst/>
          </a:prstGeom>
          <a:solidFill>
            <a:srgbClr val="1E2761"/>
          </a:solidFill>
          <a:ln w="12700">
            <a:solidFill>
              <a:srgbClr val="1E2761"/>
            </a:solidFill>
            <a:prstDash val="solid"/>
          </a:ln>
        </p:spPr>
      </p:sp>
      <p:sp>
        <p:nvSpPr>
          <p:cNvPr id="8" name="Text 6"/>
          <p:cNvSpPr/>
          <p:nvPr/>
        </p:nvSpPr>
        <p:spPr>
          <a:xfrm>
            <a:off x="457200" y="1618488"/>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01</a:t>
            </a:r>
            <a:endParaRPr lang="en-US" sz="1400" dirty="0"/>
          </a:p>
        </p:txBody>
      </p:sp>
      <p:sp>
        <p:nvSpPr>
          <p:cNvPr id="9" name="Text 7"/>
          <p:cNvSpPr/>
          <p:nvPr/>
        </p:nvSpPr>
        <p:spPr>
          <a:xfrm>
            <a:off x="1188720" y="1572768"/>
            <a:ext cx="7498080" cy="310896"/>
          </a:xfrm>
          <a:prstGeom prst="rect">
            <a:avLst/>
          </a:prstGeom>
          <a:noFill/>
          <a:ln/>
        </p:spPr>
        <p:txBody>
          <a:bodyPr wrap="square" lIns="0" tIns="0" rIns="0" bIns="0" rtlCol="0" anchor="ctr"/>
          <a:lstStyle/>
          <a:p>
            <a:pPr indent="0" marL="0">
              <a:buNone/>
            </a:pPr>
            <a:r>
              <a:rPr lang="en-US" sz="1600" b="1" dirty="0">
                <a:solidFill>
                  <a:srgbClr val="1E2761"/>
                </a:solidFill>
                <a:latin typeface="Trebuchet MS" pitchFamily="34" charset="0"/>
                <a:ea typeface="Trebuchet MS" pitchFamily="34" charset="-122"/>
                <a:cs typeface="Trebuchet MS" pitchFamily="34" charset="-120"/>
              </a:rPr>
              <a:t>The GCSE Framework</a:t>
            </a:r>
            <a:endParaRPr lang="en-US" sz="1600" dirty="0"/>
          </a:p>
        </p:txBody>
      </p:sp>
      <p:sp>
        <p:nvSpPr>
          <p:cNvPr id="10" name="Text 8"/>
          <p:cNvSpPr/>
          <p:nvPr/>
        </p:nvSpPr>
        <p:spPr>
          <a:xfrm>
            <a:off x="1188720" y="1901952"/>
            <a:ext cx="7498080"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A four-part structure for building prompts that get consistent, useful results</a:t>
            </a:r>
            <a:endParaRPr lang="en-US" sz="1150" dirty="0"/>
          </a:p>
        </p:txBody>
      </p:sp>
      <p:sp>
        <p:nvSpPr>
          <p:cNvPr id="11" name="Shape 9"/>
          <p:cNvSpPr/>
          <p:nvPr/>
        </p:nvSpPr>
        <p:spPr>
          <a:xfrm>
            <a:off x="457200" y="2478024"/>
            <a:ext cx="566928" cy="566928"/>
          </a:xfrm>
          <a:prstGeom prst="ellipse">
            <a:avLst/>
          </a:prstGeom>
          <a:solidFill>
            <a:srgbClr val="1E2761"/>
          </a:solidFill>
          <a:ln w="12700">
            <a:solidFill>
              <a:srgbClr val="1E2761"/>
            </a:solidFill>
            <a:prstDash val="solid"/>
          </a:ln>
        </p:spPr>
      </p:sp>
      <p:sp>
        <p:nvSpPr>
          <p:cNvPr id="12" name="Text 10"/>
          <p:cNvSpPr/>
          <p:nvPr/>
        </p:nvSpPr>
        <p:spPr>
          <a:xfrm>
            <a:off x="457200" y="2478024"/>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02</a:t>
            </a:r>
            <a:endParaRPr lang="en-US" sz="1400" dirty="0"/>
          </a:p>
        </p:txBody>
      </p:sp>
      <p:sp>
        <p:nvSpPr>
          <p:cNvPr id="13" name="Text 11"/>
          <p:cNvSpPr/>
          <p:nvPr/>
        </p:nvSpPr>
        <p:spPr>
          <a:xfrm>
            <a:off x="1188720" y="2432304"/>
            <a:ext cx="7498080" cy="310896"/>
          </a:xfrm>
          <a:prstGeom prst="rect">
            <a:avLst/>
          </a:prstGeom>
          <a:noFill/>
          <a:ln/>
        </p:spPr>
        <p:txBody>
          <a:bodyPr wrap="square" lIns="0" tIns="0" rIns="0" bIns="0" rtlCol="0" anchor="ctr"/>
          <a:lstStyle/>
          <a:p>
            <a:pPr indent="0" marL="0">
              <a:buNone/>
            </a:pPr>
            <a:r>
              <a:rPr lang="en-US" sz="1600" b="1" dirty="0">
                <a:solidFill>
                  <a:srgbClr val="1E2761"/>
                </a:solidFill>
                <a:latin typeface="Trebuchet MS" pitchFamily="34" charset="0"/>
                <a:ea typeface="Trebuchet MS" pitchFamily="34" charset="-122"/>
                <a:cs typeface="Trebuchet MS" pitchFamily="34" charset="-120"/>
              </a:rPr>
              <a:t>Weak vs Strong Prompts</a:t>
            </a:r>
            <a:endParaRPr lang="en-US" sz="1600" dirty="0"/>
          </a:p>
        </p:txBody>
      </p:sp>
      <p:sp>
        <p:nvSpPr>
          <p:cNvPr id="14" name="Text 12"/>
          <p:cNvSpPr/>
          <p:nvPr/>
        </p:nvSpPr>
        <p:spPr>
          <a:xfrm>
            <a:off x="1188720" y="2761488"/>
            <a:ext cx="7498080"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Four side-by-side examples showing exactly what makes the difference</a:t>
            </a:r>
            <a:endParaRPr lang="en-US" sz="1150" dirty="0"/>
          </a:p>
        </p:txBody>
      </p:sp>
      <p:sp>
        <p:nvSpPr>
          <p:cNvPr id="15" name="Shape 13"/>
          <p:cNvSpPr/>
          <p:nvPr/>
        </p:nvSpPr>
        <p:spPr>
          <a:xfrm>
            <a:off x="457200" y="3337560"/>
            <a:ext cx="566928" cy="566928"/>
          </a:xfrm>
          <a:prstGeom prst="ellipse">
            <a:avLst/>
          </a:prstGeom>
          <a:solidFill>
            <a:srgbClr val="1E2761"/>
          </a:solidFill>
          <a:ln w="12700">
            <a:solidFill>
              <a:srgbClr val="1E2761"/>
            </a:solidFill>
            <a:prstDash val="solid"/>
          </a:ln>
        </p:spPr>
      </p:sp>
      <p:sp>
        <p:nvSpPr>
          <p:cNvPr id="16" name="Text 14"/>
          <p:cNvSpPr/>
          <p:nvPr/>
        </p:nvSpPr>
        <p:spPr>
          <a:xfrm>
            <a:off x="457200" y="333756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03</a:t>
            </a:r>
            <a:endParaRPr lang="en-US" sz="1400" dirty="0"/>
          </a:p>
        </p:txBody>
      </p:sp>
      <p:sp>
        <p:nvSpPr>
          <p:cNvPr id="17" name="Text 15"/>
          <p:cNvSpPr/>
          <p:nvPr/>
        </p:nvSpPr>
        <p:spPr>
          <a:xfrm>
            <a:off x="1188720" y="3291840"/>
            <a:ext cx="7498080" cy="310896"/>
          </a:xfrm>
          <a:prstGeom prst="rect">
            <a:avLst/>
          </a:prstGeom>
          <a:noFill/>
          <a:ln/>
        </p:spPr>
        <p:txBody>
          <a:bodyPr wrap="square" lIns="0" tIns="0" rIns="0" bIns="0" rtlCol="0" anchor="ctr"/>
          <a:lstStyle/>
          <a:p>
            <a:pPr indent="0" marL="0">
              <a:buNone/>
            </a:pPr>
            <a:r>
              <a:rPr lang="en-US" sz="1600" b="1" dirty="0">
                <a:solidFill>
                  <a:srgbClr val="1E2761"/>
                </a:solidFill>
                <a:latin typeface="Trebuchet MS" pitchFamily="34" charset="0"/>
                <a:ea typeface="Trebuchet MS" pitchFamily="34" charset="-122"/>
                <a:cs typeface="Trebuchet MS" pitchFamily="34" charset="-120"/>
              </a:rPr>
              <a:t>Prompting in M365 Apps</a:t>
            </a:r>
            <a:endParaRPr lang="en-US" sz="1600" dirty="0"/>
          </a:p>
        </p:txBody>
      </p:sp>
      <p:sp>
        <p:nvSpPr>
          <p:cNvPr id="18" name="Text 16"/>
          <p:cNvSpPr/>
          <p:nvPr/>
        </p:nvSpPr>
        <p:spPr>
          <a:xfrm>
            <a:off x="1188720" y="3621024"/>
            <a:ext cx="7498080"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How prompting in Word, Outlook, and Excel differs from Copilot Chat</a:t>
            </a:r>
            <a:endParaRPr lang="en-US" sz="1150" dirty="0"/>
          </a:p>
        </p:txBody>
      </p:sp>
      <p:sp>
        <p:nvSpPr>
          <p:cNvPr id="19" name="Shape 17"/>
          <p:cNvSpPr/>
          <p:nvPr/>
        </p:nvSpPr>
        <p:spPr>
          <a:xfrm>
            <a:off x="457200" y="4197096"/>
            <a:ext cx="566928" cy="566928"/>
          </a:xfrm>
          <a:prstGeom prst="ellipse">
            <a:avLst/>
          </a:prstGeom>
          <a:solidFill>
            <a:srgbClr val="1E2761"/>
          </a:solidFill>
          <a:ln w="12700">
            <a:solidFill>
              <a:srgbClr val="1E2761"/>
            </a:solidFill>
            <a:prstDash val="solid"/>
          </a:ln>
        </p:spPr>
      </p:sp>
      <p:sp>
        <p:nvSpPr>
          <p:cNvPr id="20" name="Text 18"/>
          <p:cNvSpPr/>
          <p:nvPr/>
        </p:nvSpPr>
        <p:spPr>
          <a:xfrm>
            <a:off x="457200" y="4197096"/>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04</a:t>
            </a:r>
            <a:endParaRPr lang="en-US" sz="1400" dirty="0"/>
          </a:p>
        </p:txBody>
      </p:sp>
      <p:sp>
        <p:nvSpPr>
          <p:cNvPr id="21" name="Text 19"/>
          <p:cNvSpPr/>
          <p:nvPr/>
        </p:nvSpPr>
        <p:spPr>
          <a:xfrm>
            <a:off x="1188720" y="4151376"/>
            <a:ext cx="7498080" cy="310896"/>
          </a:xfrm>
          <a:prstGeom prst="rect">
            <a:avLst/>
          </a:prstGeom>
          <a:noFill/>
          <a:ln/>
        </p:spPr>
        <p:txBody>
          <a:bodyPr wrap="square" lIns="0" tIns="0" rIns="0" bIns="0" rtlCol="0" anchor="ctr"/>
          <a:lstStyle/>
          <a:p>
            <a:pPr indent="0" marL="0">
              <a:buNone/>
            </a:pPr>
            <a:r>
              <a:rPr lang="en-US" sz="1600" b="1" dirty="0">
                <a:solidFill>
                  <a:srgbClr val="1E2761"/>
                </a:solidFill>
                <a:latin typeface="Trebuchet MS" pitchFamily="34" charset="0"/>
                <a:ea typeface="Trebuchet MS" pitchFamily="34" charset="-122"/>
                <a:cs typeface="Trebuchet MS" pitchFamily="34" charset="-120"/>
              </a:rPr>
              <a:t>Iteration and Common Mistakes</a:t>
            </a:r>
            <a:endParaRPr lang="en-US" sz="1600" dirty="0"/>
          </a:p>
        </p:txBody>
      </p:sp>
      <p:sp>
        <p:nvSpPr>
          <p:cNvPr id="22" name="Text 20"/>
          <p:cNvSpPr/>
          <p:nvPr/>
        </p:nvSpPr>
        <p:spPr>
          <a:xfrm>
            <a:off x="1188720" y="4480560"/>
            <a:ext cx="7498080"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How to refine responses and the six mistakes most people make</a:t>
            </a:r>
            <a:endParaRPr lang="en-US" sz="1150" dirty="0"/>
          </a:p>
        </p:txBody>
      </p:sp>
      <p:sp>
        <p:nvSpPr>
          <p:cNvPr id="23" name="Text 21"/>
          <p:cNvSpPr/>
          <p:nvPr/>
        </p:nvSpPr>
        <p:spPr>
          <a:xfrm>
            <a:off x="8595360" y="4754880"/>
            <a:ext cx="365760" cy="228600"/>
          </a:xfrm>
          <a:prstGeom prst="rect">
            <a:avLst/>
          </a:prstGeom>
          <a:noFill/>
          <a:ln/>
        </p:spPr>
        <p:txBody>
          <a:bodyPr wrap="square"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ect">
            <a:avLst/>
          </a:prstGeom>
          <a:solidFill>
            <a:srgbClr val="028090"/>
          </a:solidFill>
          <a:ln w="12700">
            <a:solidFill>
              <a:srgbClr val="028090"/>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THE GCSE FRAMEWORK</a:t>
            </a:r>
            <a:endParaRPr lang="en-US" sz="900" dirty="0"/>
          </a:p>
        </p:txBody>
      </p:sp>
      <p:sp>
        <p:nvSpPr>
          <p:cNvPr id="4" name="Text 2"/>
          <p:cNvSpPr/>
          <p:nvPr/>
        </p:nvSpPr>
        <p:spPr>
          <a:xfrm>
            <a:off x="457200" y="530352"/>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Trebuchet MS" pitchFamily="34" charset="0"/>
                <a:ea typeface="Trebuchet MS" pitchFamily="34" charset="-122"/>
                <a:cs typeface="Trebuchet MS" pitchFamily="34" charset="-120"/>
              </a:rPr>
              <a:t>Four Elements. Better Prompts.</a:t>
            </a:r>
            <a:endParaRPr lang="en-US" sz="2800" dirty="0"/>
          </a:p>
        </p:txBody>
      </p:sp>
      <p:sp>
        <p:nvSpPr>
          <p:cNvPr id="5" name="Text 3"/>
          <p:cNvSpPr/>
          <p:nvPr/>
        </p:nvSpPr>
        <p:spPr>
          <a:xfrm>
            <a:off x="457200" y="1078992"/>
            <a:ext cx="8229600" cy="320040"/>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You don't need all four every time — but the more you include, the better the output</a:t>
            </a:r>
            <a:endParaRPr lang="en-US" sz="1400" dirty="0"/>
          </a:p>
        </p:txBody>
      </p:sp>
      <p:sp>
        <p:nvSpPr>
          <p:cNvPr id="6" name="Shape 4"/>
          <p:cNvSpPr/>
          <p:nvPr/>
        </p:nvSpPr>
        <p:spPr>
          <a:xfrm>
            <a:off x="457200" y="1417320"/>
            <a:ext cx="8229600" cy="22860"/>
          </a:xfrm>
          <a:prstGeom prst="rect">
            <a:avLst/>
          </a:prstGeom>
          <a:solidFill>
            <a:srgbClr val="CADCFC"/>
          </a:solidFill>
          <a:ln w="12700">
            <a:solidFill>
              <a:srgbClr val="CADCFC"/>
            </a:solidFill>
            <a:prstDash val="solid"/>
          </a:ln>
        </p:spPr>
      </p:sp>
      <p:sp>
        <p:nvSpPr>
          <p:cNvPr id="7" name="Shape 5"/>
          <p:cNvSpPr/>
          <p:nvPr/>
        </p:nvSpPr>
        <p:spPr>
          <a:xfrm>
            <a:off x="457200" y="1664208"/>
            <a:ext cx="566928" cy="566928"/>
          </a:xfrm>
          <a:prstGeom prst="ellipse">
            <a:avLst/>
          </a:prstGeom>
          <a:solidFill>
            <a:srgbClr val="1E2761"/>
          </a:solidFill>
          <a:ln w="12700">
            <a:solidFill>
              <a:srgbClr val="1E2761"/>
            </a:solidFill>
            <a:prstDash val="solid"/>
          </a:ln>
        </p:spPr>
      </p:sp>
      <p:sp>
        <p:nvSpPr>
          <p:cNvPr id="8" name="Text 6"/>
          <p:cNvSpPr/>
          <p:nvPr/>
        </p:nvSpPr>
        <p:spPr>
          <a:xfrm>
            <a:off x="457200" y="166420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G</a:t>
            </a:r>
            <a:endParaRPr lang="en-US" sz="2200" dirty="0"/>
          </a:p>
        </p:txBody>
      </p:sp>
      <p:sp>
        <p:nvSpPr>
          <p:cNvPr id="9" name="Text 7"/>
          <p:cNvSpPr/>
          <p:nvPr/>
        </p:nvSpPr>
        <p:spPr>
          <a:xfrm>
            <a:off x="1188720" y="1664208"/>
            <a:ext cx="1645920" cy="384048"/>
          </a:xfrm>
          <a:prstGeom prst="rect">
            <a:avLst/>
          </a:prstGeom>
          <a:noFill/>
          <a:ln/>
        </p:spPr>
        <p:txBody>
          <a:bodyPr wrap="square" lIns="0" tIns="0" rIns="0" bIns="0" rtlCol="0" anchor="ctr"/>
          <a:lstStyle/>
          <a:p>
            <a:pPr indent="0" marL="0">
              <a:buNone/>
            </a:pPr>
            <a:r>
              <a:rPr lang="en-US" sz="1700" b="1" dirty="0">
                <a:solidFill>
                  <a:srgbClr val="1E2761"/>
                </a:solidFill>
                <a:latin typeface="Trebuchet MS" pitchFamily="34" charset="0"/>
                <a:ea typeface="Trebuchet MS" pitchFamily="34" charset="-122"/>
                <a:cs typeface="Trebuchet MS" pitchFamily="34" charset="-120"/>
              </a:rPr>
              <a:t>Goal</a:t>
            </a:r>
            <a:endParaRPr lang="en-US" sz="1700" dirty="0"/>
          </a:p>
        </p:txBody>
      </p:sp>
      <p:sp>
        <p:nvSpPr>
          <p:cNvPr id="10" name="Shape 8"/>
          <p:cNvSpPr/>
          <p:nvPr/>
        </p:nvSpPr>
        <p:spPr>
          <a:xfrm>
            <a:off x="2926080" y="1572768"/>
            <a:ext cx="3017520" cy="749808"/>
          </a:xfrm>
          <a:prstGeom prst="rect">
            <a:avLst/>
          </a:prstGeom>
          <a:solidFill>
            <a:srgbClr val="FFFFFF"/>
          </a:solidFill>
          <a:ln w="12700">
            <a:solidFill>
              <a:srgbClr val="E5E7EB"/>
            </a:solidFill>
            <a:prstDash val="solid"/>
          </a:ln>
        </p:spPr>
      </p:sp>
      <p:sp>
        <p:nvSpPr>
          <p:cNvPr id="11" name="Text 9"/>
          <p:cNvSpPr/>
          <p:nvPr/>
        </p:nvSpPr>
        <p:spPr>
          <a:xfrm>
            <a:off x="3035808" y="1609344"/>
            <a:ext cx="2816352" cy="676656"/>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What do you want Copilot to do?</a:t>
            </a:r>
            <a:endParaRPr lang="en-US" sz="1150" dirty="0"/>
          </a:p>
        </p:txBody>
      </p:sp>
      <p:sp>
        <p:nvSpPr>
          <p:cNvPr id="12" name="Shape 10"/>
          <p:cNvSpPr/>
          <p:nvPr/>
        </p:nvSpPr>
        <p:spPr>
          <a:xfrm>
            <a:off x="6053328" y="1572768"/>
            <a:ext cx="2633472" cy="749808"/>
          </a:xfrm>
          <a:prstGeom prst="rect">
            <a:avLst/>
          </a:prstGeom>
          <a:solidFill>
            <a:srgbClr val="E0F4F7"/>
          </a:solidFill>
          <a:ln w="12700">
            <a:solidFill>
              <a:srgbClr val="D1EEF2"/>
            </a:solidFill>
            <a:prstDash val="solid"/>
          </a:ln>
        </p:spPr>
      </p:sp>
      <p:sp>
        <p:nvSpPr>
          <p:cNvPr id="13" name="Text 11"/>
          <p:cNvSpPr/>
          <p:nvPr/>
        </p:nvSpPr>
        <p:spPr>
          <a:xfrm>
            <a:off x="6163056" y="1609344"/>
            <a:ext cx="2432304" cy="676656"/>
          </a:xfrm>
          <a:prstGeom prst="rect">
            <a:avLst/>
          </a:prstGeom>
          <a:noFill/>
          <a:ln/>
        </p:spPr>
        <p:txBody>
          <a:bodyPr wrap="square" rtlCol="0" anchor="ctr"/>
          <a:lstStyle/>
          <a:p>
            <a:pPr indent="0" marL="0">
              <a:buNone/>
            </a:pPr>
            <a:r>
              <a:rPr lang="en-US" sz="1100" i="1" dirty="0">
                <a:solidFill>
                  <a:srgbClr val="1A1A2E"/>
                </a:solidFill>
                <a:latin typeface="Calibri" pitchFamily="34" charset="0"/>
                <a:ea typeface="Calibri" pitchFamily="34" charset="-122"/>
                <a:cs typeface="Calibri" pitchFamily="34" charset="-120"/>
              </a:rPr>
              <a:t>"Write a summary..."</a:t>
            </a:r>
            <a:endParaRPr lang="en-US" sz="1100" dirty="0"/>
          </a:p>
        </p:txBody>
      </p:sp>
      <p:sp>
        <p:nvSpPr>
          <p:cNvPr id="14" name="Shape 12"/>
          <p:cNvSpPr/>
          <p:nvPr/>
        </p:nvSpPr>
        <p:spPr>
          <a:xfrm>
            <a:off x="457200" y="2487168"/>
            <a:ext cx="566928" cy="566928"/>
          </a:xfrm>
          <a:prstGeom prst="ellipse">
            <a:avLst/>
          </a:prstGeom>
          <a:solidFill>
            <a:srgbClr val="028090"/>
          </a:solidFill>
          <a:ln w="12700">
            <a:solidFill>
              <a:srgbClr val="028090"/>
            </a:solidFill>
            <a:prstDash val="solid"/>
          </a:ln>
        </p:spPr>
      </p:sp>
      <p:sp>
        <p:nvSpPr>
          <p:cNvPr id="15" name="Text 13"/>
          <p:cNvSpPr/>
          <p:nvPr/>
        </p:nvSpPr>
        <p:spPr>
          <a:xfrm>
            <a:off x="457200" y="248716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C</a:t>
            </a:r>
            <a:endParaRPr lang="en-US" sz="2200" dirty="0"/>
          </a:p>
        </p:txBody>
      </p:sp>
      <p:sp>
        <p:nvSpPr>
          <p:cNvPr id="16" name="Text 14"/>
          <p:cNvSpPr/>
          <p:nvPr/>
        </p:nvSpPr>
        <p:spPr>
          <a:xfrm>
            <a:off x="1188720" y="2487168"/>
            <a:ext cx="1645920" cy="384048"/>
          </a:xfrm>
          <a:prstGeom prst="rect">
            <a:avLst/>
          </a:prstGeom>
          <a:noFill/>
          <a:ln/>
        </p:spPr>
        <p:txBody>
          <a:bodyPr wrap="square" lIns="0" tIns="0" rIns="0" bIns="0" rtlCol="0" anchor="ctr"/>
          <a:lstStyle/>
          <a:p>
            <a:pPr indent="0" marL="0">
              <a:buNone/>
            </a:pPr>
            <a:r>
              <a:rPr lang="en-US" sz="1700" b="1" dirty="0">
                <a:solidFill>
                  <a:srgbClr val="028090"/>
                </a:solidFill>
                <a:latin typeface="Trebuchet MS" pitchFamily="34" charset="0"/>
                <a:ea typeface="Trebuchet MS" pitchFamily="34" charset="-122"/>
                <a:cs typeface="Trebuchet MS" pitchFamily="34" charset="-120"/>
              </a:rPr>
              <a:t>Context</a:t>
            </a:r>
            <a:endParaRPr lang="en-US" sz="1700" dirty="0"/>
          </a:p>
        </p:txBody>
      </p:sp>
      <p:sp>
        <p:nvSpPr>
          <p:cNvPr id="17" name="Shape 15"/>
          <p:cNvSpPr/>
          <p:nvPr/>
        </p:nvSpPr>
        <p:spPr>
          <a:xfrm>
            <a:off x="2926080" y="2395728"/>
            <a:ext cx="3017520" cy="749808"/>
          </a:xfrm>
          <a:prstGeom prst="rect">
            <a:avLst/>
          </a:prstGeom>
          <a:solidFill>
            <a:srgbClr val="FFFFFF"/>
          </a:solidFill>
          <a:ln w="12700">
            <a:solidFill>
              <a:srgbClr val="E5E7EB"/>
            </a:solidFill>
            <a:prstDash val="solid"/>
          </a:ln>
        </p:spPr>
      </p:sp>
      <p:sp>
        <p:nvSpPr>
          <p:cNvPr id="18" name="Text 16"/>
          <p:cNvSpPr/>
          <p:nvPr/>
        </p:nvSpPr>
        <p:spPr>
          <a:xfrm>
            <a:off x="3035808" y="2432304"/>
            <a:ext cx="2816352" cy="676656"/>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Who are you? What is the situation?</a:t>
            </a:r>
            <a:endParaRPr lang="en-US" sz="1150" dirty="0"/>
          </a:p>
        </p:txBody>
      </p:sp>
      <p:sp>
        <p:nvSpPr>
          <p:cNvPr id="19" name="Shape 17"/>
          <p:cNvSpPr/>
          <p:nvPr/>
        </p:nvSpPr>
        <p:spPr>
          <a:xfrm>
            <a:off x="6053328" y="2395728"/>
            <a:ext cx="2633472" cy="749808"/>
          </a:xfrm>
          <a:prstGeom prst="rect">
            <a:avLst/>
          </a:prstGeom>
          <a:solidFill>
            <a:srgbClr val="E0F4F7"/>
          </a:solidFill>
          <a:ln w="12700">
            <a:solidFill>
              <a:srgbClr val="D1EEF2"/>
            </a:solidFill>
            <a:prstDash val="solid"/>
          </a:ln>
        </p:spPr>
      </p:sp>
      <p:sp>
        <p:nvSpPr>
          <p:cNvPr id="20" name="Text 18"/>
          <p:cNvSpPr/>
          <p:nvPr/>
        </p:nvSpPr>
        <p:spPr>
          <a:xfrm>
            <a:off x="6163056" y="2432304"/>
            <a:ext cx="2432304" cy="676656"/>
          </a:xfrm>
          <a:prstGeom prst="rect">
            <a:avLst/>
          </a:prstGeom>
          <a:noFill/>
          <a:ln/>
        </p:spPr>
        <p:txBody>
          <a:bodyPr wrap="square" rtlCol="0" anchor="ctr"/>
          <a:lstStyle/>
          <a:p>
            <a:pPr indent="0" marL="0">
              <a:buNone/>
            </a:pPr>
            <a:r>
              <a:rPr lang="en-US" sz="1100" i="1" dirty="0">
                <a:solidFill>
                  <a:srgbClr val="1A1A2E"/>
                </a:solidFill>
                <a:latin typeface="Calibri" pitchFamily="34" charset="0"/>
                <a:ea typeface="Calibri" pitchFamily="34" charset="-122"/>
                <a:cs typeface="Calibri" pitchFamily="34" charset="-120"/>
              </a:rPr>
              <a:t>"...for non-technical staff..."</a:t>
            </a:r>
            <a:endParaRPr lang="en-US" sz="1100" dirty="0"/>
          </a:p>
        </p:txBody>
      </p:sp>
      <p:sp>
        <p:nvSpPr>
          <p:cNvPr id="21" name="Shape 19"/>
          <p:cNvSpPr/>
          <p:nvPr/>
        </p:nvSpPr>
        <p:spPr>
          <a:xfrm>
            <a:off x="457200" y="3310128"/>
            <a:ext cx="566928" cy="566928"/>
          </a:xfrm>
          <a:prstGeom prst="ellipse">
            <a:avLst/>
          </a:prstGeom>
          <a:solidFill>
            <a:srgbClr val="5558AF"/>
          </a:solidFill>
          <a:ln w="12700">
            <a:solidFill>
              <a:srgbClr val="5558AF"/>
            </a:solidFill>
            <a:prstDash val="solid"/>
          </a:ln>
        </p:spPr>
      </p:sp>
      <p:sp>
        <p:nvSpPr>
          <p:cNvPr id="22" name="Text 20"/>
          <p:cNvSpPr/>
          <p:nvPr/>
        </p:nvSpPr>
        <p:spPr>
          <a:xfrm>
            <a:off x="457200" y="331012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S</a:t>
            </a:r>
            <a:endParaRPr lang="en-US" sz="2200" dirty="0"/>
          </a:p>
        </p:txBody>
      </p:sp>
      <p:sp>
        <p:nvSpPr>
          <p:cNvPr id="23" name="Text 21"/>
          <p:cNvSpPr/>
          <p:nvPr/>
        </p:nvSpPr>
        <p:spPr>
          <a:xfrm>
            <a:off x="1188720" y="3310128"/>
            <a:ext cx="1645920" cy="384048"/>
          </a:xfrm>
          <a:prstGeom prst="rect">
            <a:avLst/>
          </a:prstGeom>
          <a:noFill/>
          <a:ln/>
        </p:spPr>
        <p:txBody>
          <a:bodyPr wrap="square" lIns="0" tIns="0" rIns="0" bIns="0" rtlCol="0" anchor="ctr"/>
          <a:lstStyle/>
          <a:p>
            <a:pPr indent="0" marL="0">
              <a:buNone/>
            </a:pPr>
            <a:r>
              <a:rPr lang="en-US" sz="1700" b="1" dirty="0">
                <a:solidFill>
                  <a:srgbClr val="5558AF"/>
                </a:solidFill>
                <a:latin typeface="Trebuchet MS" pitchFamily="34" charset="0"/>
                <a:ea typeface="Trebuchet MS" pitchFamily="34" charset="-122"/>
                <a:cs typeface="Trebuchet MS" pitchFamily="34" charset="-120"/>
              </a:rPr>
              <a:t>Source</a:t>
            </a:r>
            <a:endParaRPr lang="en-US" sz="1700" dirty="0"/>
          </a:p>
        </p:txBody>
      </p:sp>
      <p:sp>
        <p:nvSpPr>
          <p:cNvPr id="24" name="Shape 22"/>
          <p:cNvSpPr/>
          <p:nvPr/>
        </p:nvSpPr>
        <p:spPr>
          <a:xfrm>
            <a:off x="2926080" y="3218688"/>
            <a:ext cx="3017520" cy="749808"/>
          </a:xfrm>
          <a:prstGeom prst="rect">
            <a:avLst/>
          </a:prstGeom>
          <a:solidFill>
            <a:srgbClr val="FFFFFF"/>
          </a:solidFill>
          <a:ln w="12700">
            <a:solidFill>
              <a:srgbClr val="E5E7EB"/>
            </a:solidFill>
            <a:prstDash val="solid"/>
          </a:ln>
        </p:spPr>
      </p:sp>
      <p:sp>
        <p:nvSpPr>
          <p:cNvPr id="25" name="Text 23"/>
          <p:cNvSpPr/>
          <p:nvPr/>
        </p:nvSpPr>
        <p:spPr>
          <a:xfrm>
            <a:off x="3035808" y="3255264"/>
            <a:ext cx="2816352" cy="676656"/>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What should it reference or use?</a:t>
            </a:r>
            <a:endParaRPr lang="en-US" sz="1150" dirty="0"/>
          </a:p>
        </p:txBody>
      </p:sp>
      <p:sp>
        <p:nvSpPr>
          <p:cNvPr id="26" name="Shape 24"/>
          <p:cNvSpPr/>
          <p:nvPr/>
        </p:nvSpPr>
        <p:spPr>
          <a:xfrm>
            <a:off x="6053328" y="3218688"/>
            <a:ext cx="2633472" cy="749808"/>
          </a:xfrm>
          <a:prstGeom prst="rect">
            <a:avLst/>
          </a:prstGeom>
          <a:solidFill>
            <a:srgbClr val="E0F4F7"/>
          </a:solidFill>
          <a:ln w="12700">
            <a:solidFill>
              <a:srgbClr val="D1EEF2"/>
            </a:solidFill>
            <a:prstDash val="solid"/>
          </a:ln>
        </p:spPr>
      </p:sp>
      <p:sp>
        <p:nvSpPr>
          <p:cNvPr id="27" name="Text 25"/>
          <p:cNvSpPr/>
          <p:nvPr/>
        </p:nvSpPr>
        <p:spPr>
          <a:xfrm>
            <a:off x="6163056" y="3255264"/>
            <a:ext cx="2432304" cy="676656"/>
          </a:xfrm>
          <a:prstGeom prst="rect">
            <a:avLst/>
          </a:prstGeom>
          <a:noFill/>
          <a:ln/>
        </p:spPr>
        <p:txBody>
          <a:bodyPr wrap="square" rtlCol="0" anchor="ctr"/>
          <a:lstStyle/>
          <a:p>
            <a:pPr indent="0" marL="0">
              <a:buNone/>
            </a:pPr>
            <a:r>
              <a:rPr lang="en-US" sz="1100" i="1" dirty="0">
                <a:solidFill>
                  <a:srgbClr val="1A1A2E"/>
                </a:solidFill>
                <a:latin typeface="Calibri" pitchFamily="34" charset="0"/>
                <a:ea typeface="Calibri" pitchFamily="34" charset="-122"/>
                <a:cs typeface="Calibri" pitchFamily="34" charset="-120"/>
              </a:rPr>
              <a:t>"...based on the attached report..."</a:t>
            </a:r>
            <a:endParaRPr lang="en-US" sz="1100" dirty="0"/>
          </a:p>
        </p:txBody>
      </p:sp>
      <p:sp>
        <p:nvSpPr>
          <p:cNvPr id="28" name="Shape 26"/>
          <p:cNvSpPr/>
          <p:nvPr/>
        </p:nvSpPr>
        <p:spPr>
          <a:xfrm>
            <a:off x="457200" y="4133088"/>
            <a:ext cx="566928" cy="566928"/>
          </a:xfrm>
          <a:prstGeom prst="ellipse">
            <a:avLst/>
          </a:prstGeom>
          <a:solidFill>
            <a:srgbClr val="1D6F42"/>
          </a:solidFill>
          <a:ln w="12700">
            <a:solidFill>
              <a:srgbClr val="1D6F42"/>
            </a:solidFill>
            <a:prstDash val="solid"/>
          </a:ln>
        </p:spPr>
      </p:sp>
      <p:sp>
        <p:nvSpPr>
          <p:cNvPr id="29" name="Text 27"/>
          <p:cNvSpPr/>
          <p:nvPr/>
        </p:nvSpPr>
        <p:spPr>
          <a:xfrm>
            <a:off x="457200" y="413308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E</a:t>
            </a:r>
            <a:endParaRPr lang="en-US" sz="2200" dirty="0"/>
          </a:p>
        </p:txBody>
      </p:sp>
      <p:sp>
        <p:nvSpPr>
          <p:cNvPr id="30" name="Text 28"/>
          <p:cNvSpPr/>
          <p:nvPr/>
        </p:nvSpPr>
        <p:spPr>
          <a:xfrm>
            <a:off x="1188720" y="4133088"/>
            <a:ext cx="1645920" cy="384048"/>
          </a:xfrm>
          <a:prstGeom prst="rect">
            <a:avLst/>
          </a:prstGeom>
          <a:noFill/>
          <a:ln/>
        </p:spPr>
        <p:txBody>
          <a:bodyPr wrap="square" lIns="0" tIns="0" rIns="0" bIns="0" rtlCol="0" anchor="ctr"/>
          <a:lstStyle/>
          <a:p>
            <a:pPr indent="0" marL="0">
              <a:buNone/>
            </a:pPr>
            <a:r>
              <a:rPr lang="en-US" sz="1700" b="1" dirty="0">
                <a:solidFill>
                  <a:srgbClr val="1D6F42"/>
                </a:solidFill>
                <a:latin typeface="Trebuchet MS" pitchFamily="34" charset="0"/>
                <a:ea typeface="Trebuchet MS" pitchFamily="34" charset="-122"/>
                <a:cs typeface="Trebuchet MS" pitchFamily="34" charset="-120"/>
              </a:rPr>
              <a:t>Expectations</a:t>
            </a:r>
            <a:endParaRPr lang="en-US" sz="1700" dirty="0"/>
          </a:p>
        </p:txBody>
      </p:sp>
      <p:sp>
        <p:nvSpPr>
          <p:cNvPr id="31" name="Shape 29"/>
          <p:cNvSpPr/>
          <p:nvPr/>
        </p:nvSpPr>
        <p:spPr>
          <a:xfrm>
            <a:off x="2926080" y="4041648"/>
            <a:ext cx="3017520" cy="749808"/>
          </a:xfrm>
          <a:prstGeom prst="rect">
            <a:avLst/>
          </a:prstGeom>
          <a:solidFill>
            <a:srgbClr val="FFFFFF"/>
          </a:solidFill>
          <a:ln w="12700">
            <a:solidFill>
              <a:srgbClr val="E5E7EB"/>
            </a:solidFill>
            <a:prstDash val="solid"/>
          </a:ln>
        </p:spPr>
      </p:sp>
      <p:sp>
        <p:nvSpPr>
          <p:cNvPr id="32" name="Text 30"/>
          <p:cNvSpPr/>
          <p:nvPr/>
        </p:nvSpPr>
        <p:spPr>
          <a:xfrm>
            <a:off x="3035808" y="4078224"/>
            <a:ext cx="2816352" cy="676656"/>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Format, length, tone, style</a:t>
            </a:r>
            <a:endParaRPr lang="en-US" sz="1150" dirty="0"/>
          </a:p>
        </p:txBody>
      </p:sp>
      <p:sp>
        <p:nvSpPr>
          <p:cNvPr id="33" name="Shape 31"/>
          <p:cNvSpPr/>
          <p:nvPr/>
        </p:nvSpPr>
        <p:spPr>
          <a:xfrm>
            <a:off x="6053328" y="4041648"/>
            <a:ext cx="2633472" cy="749808"/>
          </a:xfrm>
          <a:prstGeom prst="rect">
            <a:avLst/>
          </a:prstGeom>
          <a:solidFill>
            <a:srgbClr val="E0F4F7"/>
          </a:solidFill>
          <a:ln w="12700">
            <a:solidFill>
              <a:srgbClr val="D1EEF2"/>
            </a:solidFill>
            <a:prstDash val="solid"/>
          </a:ln>
        </p:spPr>
      </p:sp>
      <p:sp>
        <p:nvSpPr>
          <p:cNvPr id="34" name="Text 32"/>
          <p:cNvSpPr/>
          <p:nvPr/>
        </p:nvSpPr>
        <p:spPr>
          <a:xfrm>
            <a:off x="6163056" y="4078224"/>
            <a:ext cx="2432304" cy="676656"/>
          </a:xfrm>
          <a:prstGeom prst="rect">
            <a:avLst/>
          </a:prstGeom>
          <a:noFill/>
          <a:ln/>
        </p:spPr>
        <p:txBody>
          <a:bodyPr wrap="square" rtlCol="0" anchor="ctr"/>
          <a:lstStyle/>
          <a:p>
            <a:pPr indent="0" marL="0">
              <a:buNone/>
            </a:pPr>
            <a:r>
              <a:rPr lang="en-US" sz="1100" i="1" dirty="0">
                <a:solidFill>
                  <a:srgbClr val="1A1A2E"/>
                </a:solidFill>
                <a:latin typeface="Calibri" pitchFamily="34" charset="0"/>
                <a:ea typeface="Calibri" pitchFamily="34" charset="-122"/>
                <a:cs typeface="Calibri" pitchFamily="34" charset="-120"/>
              </a:rPr>
              <a:t>"...in 3 bullet points, formal tone."</a:t>
            </a:r>
            <a:endParaRPr lang="en-US" sz="1100" dirty="0"/>
          </a:p>
        </p:txBody>
      </p:sp>
      <p:sp>
        <p:nvSpPr>
          <p:cNvPr id="35" name="Text 33"/>
          <p:cNvSpPr/>
          <p:nvPr/>
        </p:nvSpPr>
        <p:spPr>
          <a:xfrm>
            <a:off x="1188720" y="1481328"/>
            <a:ext cx="1645920" cy="201168"/>
          </a:xfrm>
          <a:prstGeom prst="rect">
            <a:avLst/>
          </a:prstGeom>
          <a:noFill/>
          <a:ln/>
        </p:spPr>
        <p:txBody>
          <a:bodyPr wrap="square" lIns="0" tIns="0" rIns="0" bIns="0" rtlCol="0" anchor="ctr"/>
          <a:lstStyle/>
          <a:p>
            <a:pPr indent="0" marL="0">
              <a:buNone/>
            </a:pPr>
            <a:r>
              <a:rPr lang="en-US" sz="1000" b="1" dirty="0">
                <a:solidFill>
                  <a:srgbClr val="8A9BB0"/>
                </a:solidFill>
                <a:latin typeface="Calibri" pitchFamily="34" charset="0"/>
                <a:ea typeface="Calibri" pitchFamily="34" charset="-122"/>
                <a:cs typeface="Calibri" pitchFamily="34" charset="-120"/>
              </a:rPr>
              <a:t>Element</a:t>
            </a:r>
            <a:endParaRPr lang="en-US" sz="1000" dirty="0"/>
          </a:p>
        </p:txBody>
      </p:sp>
      <p:sp>
        <p:nvSpPr>
          <p:cNvPr id="36" name="Text 34"/>
          <p:cNvSpPr/>
          <p:nvPr/>
        </p:nvSpPr>
        <p:spPr>
          <a:xfrm>
            <a:off x="3035808" y="1481328"/>
            <a:ext cx="2816352" cy="201168"/>
          </a:xfrm>
          <a:prstGeom prst="rect">
            <a:avLst/>
          </a:prstGeom>
          <a:noFill/>
          <a:ln/>
        </p:spPr>
        <p:txBody>
          <a:bodyPr wrap="square" lIns="0" tIns="0" rIns="0" bIns="0" rtlCol="0" anchor="ctr"/>
          <a:lstStyle/>
          <a:p>
            <a:pPr indent="0" marL="0">
              <a:buNone/>
            </a:pPr>
            <a:r>
              <a:rPr lang="en-US" sz="1000" b="1" dirty="0">
                <a:solidFill>
                  <a:srgbClr val="8A9BB0"/>
                </a:solidFill>
                <a:latin typeface="Calibri" pitchFamily="34" charset="0"/>
                <a:ea typeface="Calibri" pitchFamily="34" charset="-122"/>
                <a:cs typeface="Calibri" pitchFamily="34" charset="-120"/>
              </a:rPr>
              <a:t>What it means</a:t>
            </a:r>
            <a:endParaRPr lang="en-US" sz="1000" dirty="0"/>
          </a:p>
        </p:txBody>
      </p:sp>
      <p:sp>
        <p:nvSpPr>
          <p:cNvPr id="37" name="Text 35"/>
          <p:cNvSpPr/>
          <p:nvPr/>
        </p:nvSpPr>
        <p:spPr>
          <a:xfrm>
            <a:off x="6163056" y="1481328"/>
            <a:ext cx="2432304" cy="201168"/>
          </a:xfrm>
          <a:prstGeom prst="rect">
            <a:avLst/>
          </a:prstGeom>
          <a:noFill/>
          <a:ln/>
        </p:spPr>
        <p:txBody>
          <a:bodyPr wrap="square" lIns="0" tIns="0" rIns="0" bIns="0" rtlCol="0" anchor="ctr"/>
          <a:lstStyle/>
          <a:p>
            <a:pPr indent="0" marL="0">
              <a:buNone/>
            </a:pPr>
            <a:r>
              <a:rPr lang="en-US" sz="1000" b="1" dirty="0">
                <a:solidFill>
                  <a:srgbClr val="8A9BB0"/>
                </a:solidFill>
                <a:latin typeface="Calibri" pitchFamily="34" charset="0"/>
                <a:ea typeface="Calibri" pitchFamily="34" charset="-122"/>
                <a:cs typeface="Calibri" pitchFamily="34" charset="-120"/>
              </a:rPr>
              <a:t>Example</a:t>
            </a:r>
            <a:endParaRPr lang="en-US" sz="1000" dirty="0"/>
          </a:p>
        </p:txBody>
      </p:sp>
      <p:sp>
        <p:nvSpPr>
          <p:cNvPr id="38" name="Text 36"/>
          <p:cNvSpPr/>
          <p:nvPr/>
        </p:nvSpPr>
        <p:spPr>
          <a:xfrm>
            <a:off x="8595360" y="4754880"/>
            <a:ext cx="365760" cy="228600"/>
          </a:xfrm>
          <a:prstGeom prst="rect">
            <a:avLst/>
          </a:prstGeom>
          <a:noFill/>
          <a:ln/>
        </p:spPr>
        <p:txBody>
          <a:bodyPr wrap="square"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ect">
            <a:avLst/>
          </a:prstGeom>
          <a:solidFill>
            <a:srgbClr val="028090"/>
          </a:solidFill>
          <a:ln w="12700">
            <a:solidFill>
              <a:srgbClr val="028090"/>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THE GCSE FRAMEWORK</a:t>
            </a:r>
            <a:endParaRPr lang="en-US" sz="900" dirty="0"/>
          </a:p>
        </p:txBody>
      </p:sp>
      <p:sp>
        <p:nvSpPr>
          <p:cNvPr id="4" name="Text 2"/>
          <p:cNvSpPr/>
          <p:nvPr/>
        </p:nvSpPr>
        <p:spPr>
          <a:xfrm>
            <a:off x="457200" y="530352"/>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Trebuchet MS" pitchFamily="34" charset="0"/>
                <a:ea typeface="Trebuchet MS" pitchFamily="34" charset="-122"/>
                <a:cs typeface="Trebuchet MS" pitchFamily="34" charset="-120"/>
              </a:rPr>
              <a:t>Watch It Build — Same Request, 4 Versions</a:t>
            </a:r>
            <a:endParaRPr lang="en-US" sz="2800" dirty="0"/>
          </a:p>
        </p:txBody>
      </p:sp>
      <p:sp>
        <p:nvSpPr>
          <p:cNvPr id="5" name="Shape 3"/>
          <p:cNvSpPr/>
          <p:nvPr/>
        </p:nvSpPr>
        <p:spPr>
          <a:xfrm>
            <a:off x="457200" y="1417320"/>
            <a:ext cx="8229600" cy="22860"/>
          </a:xfrm>
          <a:prstGeom prst="rect">
            <a:avLst/>
          </a:prstGeom>
          <a:solidFill>
            <a:srgbClr val="CADCFC"/>
          </a:solidFill>
          <a:ln w="12700">
            <a:solidFill>
              <a:srgbClr val="CADCFC"/>
            </a:solidFill>
            <a:prstDash val="solid"/>
          </a:ln>
        </p:spPr>
      </p:sp>
      <p:sp>
        <p:nvSpPr>
          <p:cNvPr id="6" name="Shape 4"/>
          <p:cNvSpPr/>
          <p:nvPr/>
        </p:nvSpPr>
        <p:spPr>
          <a:xfrm>
            <a:off x="457200" y="1664208"/>
            <a:ext cx="1051560" cy="274320"/>
          </a:xfrm>
          <a:prstGeom prst="rect">
            <a:avLst/>
          </a:prstGeom>
          <a:solidFill>
            <a:srgbClr val="9CA3AF"/>
          </a:solidFill>
          <a:ln w="12700">
            <a:solidFill>
              <a:srgbClr val="9CA3AF"/>
            </a:solidFill>
            <a:prstDash val="solid"/>
          </a:ln>
        </p:spPr>
      </p:sp>
      <p:sp>
        <p:nvSpPr>
          <p:cNvPr id="7" name="Text 5"/>
          <p:cNvSpPr/>
          <p:nvPr/>
        </p:nvSpPr>
        <p:spPr>
          <a:xfrm>
            <a:off x="457200" y="1664208"/>
            <a:ext cx="10515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 only</a:t>
            </a:r>
            <a:endParaRPr lang="en-US" sz="900" dirty="0"/>
          </a:p>
        </p:txBody>
      </p:sp>
      <p:sp>
        <p:nvSpPr>
          <p:cNvPr id="8" name="Shape 6"/>
          <p:cNvSpPr/>
          <p:nvPr/>
        </p:nvSpPr>
        <p:spPr>
          <a:xfrm>
            <a:off x="1627632" y="1536192"/>
            <a:ext cx="6601968" cy="694944"/>
          </a:xfrm>
          <a:prstGeom prst="rect">
            <a:avLst/>
          </a:prstGeom>
          <a:solidFill>
            <a:srgbClr val="FFFFFF"/>
          </a:solidFill>
          <a:ln w="12700">
            <a:solidFill>
              <a:srgbClr val="E5E7EB"/>
            </a:solidFill>
            <a:prstDash val="solid"/>
          </a:ln>
          <a:effectLst>
            <a:outerShdw sx="100000" sy="100000" kx="0" ky="0" algn="bl" rotWithShape="0" blurRad="38100" dist="12700" dir="8100000">
              <a:srgbClr val="000000">
                <a:alpha val="5000"/>
              </a:srgbClr>
            </a:outerShdw>
          </a:effectLst>
        </p:spPr>
      </p:sp>
      <p:sp>
        <p:nvSpPr>
          <p:cNvPr id="9" name="Shape 7"/>
          <p:cNvSpPr/>
          <p:nvPr/>
        </p:nvSpPr>
        <p:spPr>
          <a:xfrm>
            <a:off x="1627632" y="1536192"/>
            <a:ext cx="73152" cy="694944"/>
          </a:xfrm>
          <a:prstGeom prst="rect">
            <a:avLst/>
          </a:prstGeom>
          <a:solidFill>
            <a:srgbClr val="9CA3AF"/>
          </a:solidFill>
          <a:ln w="12700">
            <a:solidFill>
              <a:srgbClr val="9CA3AF"/>
            </a:solidFill>
            <a:prstDash val="solid"/>
          </a:ln>
        </p:spPr>
      </p:sp>
      <p:sp>
        <p:nvSpPr>
          <p:cNvPr id="10" name="Text 8"/>
          <p:cNvSpPr/>
          <p:nvPr/>
        </p:nvSpPr>
        <p:spPr>
          <a:xfrm>
            <a:off x="1792224" y="1591056"/>
            <a:ext cx="6291072" cy="58521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Write a summary.</a:t>
            </a:r>
            <a:endParaRPr lang="en-US" sz="1150" dirty="0"/>
          </a:p>
        </p:txBody>
      </p:sp>
      <p:sp>
        <p:nvSpPr>
          <p:cNvPr id="11" name="Shape 9"/>
          <p:cNvSpPr/>
          <p:nvPr/>
        </p:nvSpPr>
        <p:spPr>
          <a:xfrm>
            <a:off x="7973568" y="1682496"/>
            <a:ext cx="713232" cy="237744"/>
          </a:xfrm>
          <a:prstGeom prst="rect">
            <a:avLst/>
          </a:prstGeom>
          <a:solidFill>
            <a:srgbClr val="E07B39"/>
          </a:solidFill>
          <a:ln w="12700">
            <a:solidFill>
              <a:srgbClr val="E07B39"/>
            </a:solidFill>
            <a:prstDash val="solid"/>
          </a:ln>
        </p:spPr>
      </p:sp>
      <p:sp>
        <p:nvSpPr>
          <p:cNvPr id="12" name="Text 10"/>
          <p:cNvSpPr/>
          <p:nvPr/>
        </p:nvSpPr>
        <p:spPr>
          <a:xfrm>
            <a:off x="7973568" y="1682496"/>
            <a:ext cx="7132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Weak</a:t>
            </a:r>
            <a:endParaRPr lang="en-US" sz="900" dirty="0"/>
          </a:p>
        </p:txBody>
      </p:sp>
      <p:sp>
        <p:nvSpPr>
          <p:cNvPr id="13" name="Shape 11"/>
          <p:cNvSpPr/>
          <p:nvPr/>
        </p:nvSpPr>
        <p:spPr>
          <a:xfrm>
            <a:off x="457200" y="2505456"/>
            <a:ext cx="1051560" cy="274320"/>
          </a:xfrm>
          <a:prstGeom prst="rect">
            <a:avLst/>
          </a:prstGeom>
          <a:solidFill>
            <a:srgbClr val="028090"/>
          </a:solidFill>
          <a:ln w="12700">
            <a:solidFill>
              <a:srgbClr val="028090"/>
            </a:solidFill>
            <a:prstDash val="solid"/>
          </a:ln>
        </p:spPr>
      </p:sp>
      <p:sp>
        <p:nvSpPr>
          <p:cNvPr id="14" name="Text 12"/>
          <p:cNvSpPr/>
          <p:nvPr/>
        </p:nvSpPr>
        <p:spPr>
          <a:xfrm>
            <a:off x="457200" y="2505456"/>
            <a:ext cx="10515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 + C</a:t>
            </a:r>
            <a:endParaRPr lang="en-US" sz="900" dirty="0"/>
          </a:p>
        </p:txBody>
      </p:sp>
      <p:sp>
        <p:nvSpPr>
          <p:cNvPr id="15" name="Shape 13"/>
          <p:cNvSpPr/>
          <p:nvPr/>
        </p:nvSpPr>
        <p:spPr>
          <a:xfrm>
            <a:off x="1627632" y="2377440"/>
            <a:ext cx="6601968" cy="694944"/>
          </a:xfrm>
          <a:prstGeom prst="rect">
            <a:avLst/>
          </a:prstGeom>
          <a:solidFill>
            <a:srgbClr val="FFFFFF"/>
          </a:solidFill>
          <a:ln w="12700">
            <a:solidFill>
              <a:srgbClr val="E5E7EB"/>
            </a:solidFill>
            <a:prstDash val="solid"/>
          </a:ln>
          <a:effectLst>
            <a:outerShdw sx="100000" sy="100000" kx="0" ky="0" algn="bl" rotWithShape="0" blurRad="38100" dist="12700" dir="8100000">
              <a:srgbClr val="000000">
                <a:alpha val="5000"/>
              </a:srgbClr>
            </a:outerShdw>
          </a:effectLst>
        </p:spPr>
      </p:sp>
      <p:sp>
        <p:nvSpPr>
          <p:cNvPr id="16" name="Shape 14"/>
          <p:cNvSpPr/>
          <p:nvPr/>
        </p:nvSpPr>
        <p:spPr>
          <a:xfrm>
            <a:off x="1627632" y="2377440"/>
            <a:ext cx="73152" cy="694944"/>
          </a:xfrm>
          <a:prstGeom prst="rect">
            <a:avLst/>
          </a:prstGeom>
          <a:solidFill>
            <a:srgbClr val="028090"/>
          </a:solidFill>
          <a:ln w="12700">
            <a:solidFill>
              <a:srgbClr val="028090"/>
            </a:solidFill>
            <a:prstDash val="solid"/>
          </a:ln>
        </p:spPr>
      </p:sp>
      <p:sp>
        <p:nvSpPr>
          <p:cNvPr id="17" name="Text 15"/>
          <p:cNvSpPr/>
          <p:nvPr/>
        </p:nvSpPr>
        <p:spPr>
          <a:xfrm>
            <a:off x="1792224" y="2432304"/>
            <a:ext cx="6291072" cy="58521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Write a summary for a team of non-technical staff.</a:t>
            </a:r>
            <a:endParaRPr lang="en-US" sz="1150" dirty="0"/>
          </a:p>
        </p:txBody>
      </p:sp>
      <p:sp>
        <p:nvSpPr>
          <p:cNvPr id="18" name="Shape 16"/>
          <p:cNvSpPr/>
          <p:nvPr/>
        </p:nvSpPr>
        <p:spPr>
          <a:xfrm>
            <a:off x="457200" y="3346704"/>
            <a:ext cx="1051560" cy="274320"/>
          </a:xfrm>
          <a:prstGeom prst="rect">
            <a:avLst/>
          </a:prstGeom>
          <a:solidFill>
            <a:srgbClr val="5558AF"/>
          </a:solidFill>
          <a:ln w="12700">
            <a:solidFill>
              <a:srgbClr val="5558AF"/>
            </a:solidFill>
            <a:prstDash val="solid"/>
          </a:ln>
        </p:spPr>
      </p:sp>
      <p:sp>
        <p:nvSpPr>
          <p:cNvPr id="19" name="Text 17"/>
          <p:cNvSpPr/>
          <p:nvPr/>
        </p:nvSpPr>
        <p:spPr>
          <a:xfrm>
            <a:off x="457200" y="3346704"/>
            <a:ext cx="10515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 + C + S</a:t>
            </a:r>
            <a:endParaRPr lang="en-US" sz="900" dirty="0"/>
          </a:p>
        </p:txBody>
      </p:sp>
      <p:sp>
        <p:nvSpPr>
          <p:cNvPr id="20" name="Shape 18"/>
          <p:cNvSpPr/>
          <p:nvPr/>
        </p:nvSpPr>
        <p:spPr>
          <a:xfrm>
            <a:off x="1627632" y="3218688"/>
            <a:ext cx="6601968" cy="694944"/>
          </a:xfrm>
          <a:prstGeom prst="rect">
            <a:avLst/>
          </a:prstGeom>
          <a:solidFill>
            <a:srgbClr val="FFFFFF"/>
          </a:solidFill>
          <a:ln w="12700">
            <a:solidFill>
              <a:srgbClr val="E5E7EB"/>
            </a:solidFill>
            <a:prstDash val="solid"/>
          </a:ln>
          <a:effectLst>
            <a:outerShdw sx="100000" sy="100000" kx="0" ky="0" algn="bl" rotWithShape="0" blurRad="38100" dist="12700" dir="8100000">
              <a:srgbClr val="000000">
                <a:alpha val="5000"/>
              </a:srgbClr>
            </a:outerShdw>
          </a:effectLst>
        </p:spPr>
      </p:sp>
      <p:sp>
        <p:nvSpPr>
          <p:cNvPr id="21" name="Shape 19"/>
          <p:cNvSpPr/>
          <p:nvPr/>
        </p:nvSpPr>
        <p:spPr>
          <a:xfrm>
            <a:off x="1627632" y="3218688"/>
            <a:ext cx="73152" cy="694944"/>
          </a:xfrm>
          <a:prstGeom prst="rect">
            <a:avLst/>
          </a:prstGeom>
          <a:solidFill>
            <a:srgbClr val="5558AF"/>
          </a:solidFill>
          <a:ln w="12700">
            <a:solidFill>
              <a:srgbClr val="5558AF"/>
            </a:solidFill>
            <a:prstDash val="solid"/>
          </a:ln>
        </p:spPr>
      </p:sp>
      <p:sp>
        <p:nvSpPr>
          <p:cNvPr id="22" name="Text 20"/>
          <p:cNvSpPr/>
          <p:nvPr/>
        </p:nvSpPr>
        <p:spPr>
          <a:xfrm>
            <a:off x="1792224" y="3273552"/>
            <a:ext cx="6291072" cy="58521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Write a summary for a team of non-technical staff based on the attached AI Usage Guideline document.</a:t>
            </a:r>
            <a:endParaRPr lang="en-US" sz="1150" dirty="0"/>
          </a:p>
        </p:txBody>
      </p:sp>
      <p:sp>
        <p:nvSpPr>
          <p:cNvPr id="23" name="Shape 21"/>
          <p:cNvSpPr/>
          <p:nvPr/>
        </p:nvSpPr>
        <p:spPr>
          <a:xfrm>
            <a:off x="457200" y="4187952"/>
            <a:ext cx="1051560" cy="274320"/>
          </a:xfrm>
          <a:prstGeom prst="rect">
            <a:avLst/>
          </a:prstGeom>
          <a:solidFill>
            <a:srgbClr val="1D6F42"/>
          </a:solidFill>
          <a:ln w="12700">
            <a:solidFill>
              <a:srgbClr val="1D6F42"/>
            </a:solidFill>
            <a:prstDash val="solid"/>
          </a:ln>
        </p:spPr>
      </p:sp>
      <p:sp>
        <p:nvSpPr>
          <p:cNvPr id="24" name="Text 22"/>
          <p:cNvSpPr/>
          <p:nvPr/>
        </p:nvSpPr>
        <p:spPr>
          <a:xfrm>
            <a:off x="457200" y="4187952"/>
            <a:ext cx="105156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 + C + S + E</a:t>
            </a:r>
            <a:endParaRPr lang="en-US" sz="900" dirty="0"/>
          </a:p>
        </p:txBody>
      </p:sp>
      <p:sp>
        <p:nvSpPr>
          <p:cNvPr id="25" name="Shape 23"/>
          <p:cNvSpPr/>
          <p:nvPr/>
        </p:nvSpPr>
        <p:spPr>
          <a:xfrm>
            <a:off x="1627632" y="4059936"/>
            <a:ext cx="6601968" cy="694944"/>
          </a:xfrm>
          <a:prstGeom prst="rect">
            <a:avLst/>
          </a:prstGeom>
          <a:solidFill>
            <a:srgbClr val="FFFFFF"/>
          </a:solidFill>
          <a:ln w="12700">
            <a:solidFill>
              <a:srgbClr val="E5E7EB"/>
            </a:solidFill>
            <a:prstDash val="solid"/>
          </a:ln>
          <a:effectLst>
            <a:outerShdw sx="100000" sy="100000" kx="0" ky="0" algn="bl" rotWithShape="0" blurRad="38100" dist="12700" dir="8100000">
              <a:srgbClr val="000000">
                <a:alpha val="5000"/>
              </a:srgbClr>
            </a:outerShdw>
          </a:effectLst>
        </p:spPr>
      </p:sp>
      <p:sp>
        <p:nvSpPr>
          <p:cNvPr id="26" name="Shape 24"/>
          <p:cNvSpPr/>
          <p:nvPr/>
        </p:nvSpPr>
        <p:spPr>
          <a:xfrm>
            <a:off x="1627632" y="4059936"/>
            <a:ext cx="73152" cy="694944"/>
          </a:xfrm>
          <a:prstGeom prst="rect">
            <a:avLst/>
          </a:prstGeom>
          <a:solidFill>
            <a:srgbClr val="1D6F42"/>
          </a:solidFill>
          <a:ln w="12700">
            <a:solidFill>
              <a:srgbClr val="1D6F42"/>
            </a:solidFill>
            <a:prstDash val="solid"/>
          </a:ln>
        </p:spPr>
      </p:sp>
      <p:sp>
        <p:nvSpPr>
          <p:cNvPr id="27" name="Text 25"/>
          <p:cNvSpPr/>
          <p:nvPr/>
        </p:nvSpPr>
        <p:spPr>
          <a:xfrm>
            <a:off x="1792224" y="4114800"/>
            <a:ext cx="6291072" cy="58521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Write a summary of the attached AI Usage Guideline for a team of non-technical staff. Cover the 3 most important rules they need to follow. Use plain language, bullet points, and keep it under 150 words.</a:t>
            </a:r>
            <a:endParaRPr lang="en-US" sz="1150" dirty="0"/>
          </a:p>
        </p:txBody>
      </p:sp>
      <p:sp>
        <p:nvSpPr>
          <p:cNvPr id="28" name="Shape 26"/>
          <p:cNvSpPr/>
          <p:nvPr/>
        </p:nvSpPr>
        <p:spPr>
          <a:xfrm>
            <a:off x="7973568" y="4206240"/>
            <a:ext cx="713232" cy="237744"/>
          </a:xfrm>
          <a:prstGeom prst="rect">
            <a:avLst/>
          </a:prstGeom>
          <a:solidFill>
            <a:srgbClr val="1D6F42"/>
          </a:solidFill>
          <a:ln w="12700">
            <a:solidFill>
              <a:srgbClr val="1D6F42"/>
            </a:solidFill>
            <a:prstDash val="solid"/>
          </a:ln>
        </p:spPr>
      </p:sp>
      <p:sp>
        <p:nvSpPr>
          <p:cNvPr id="29" name="Text 27"/>
          <p:cNvSpPr/>
          <p:nvPr/>
        </p:nvSpPr>
        <p:spPr>
          <a:xfrm>
            <a:off x="7973568" y="4206240"/>
            <a:ext cx="71323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Strong</a:t>
            </a:r>
            <a:endParaRPr lang="en-US" sz="900" dirty="0"/>
          </a:p>
        </p:txBody>
      </p:sp>
      <p:sp>
        <p:nvSpPr>
          <p:cNvPr id="30" name="Shape 28"/>
          <p:cNvSpPr/>
          <p:nvPr/>
        </p:nvSpPr>
        <p:spPr>
          <a:xfrm>
            <a:off x="457200" y="4846320"/>
            <a:ext cx="8229600" cy="164592"/>
          </a:xfrm>
          <a:prstGeom prst="rect">
            <a:avLst/>
          </a:prstGeom>
          <a:solidFill>
            <a:srgbClr val="E0F4F7"/>
          </a:solidFill>
          <a:ln w="12700">
            <a:solidFill>
              <a:srgbClr val="028090"/>
            </a:solidFill>
            <a:prstDash val="solid"/>
          </a:ln>
        </p:spPr>
      </p:sp>
      <p:sp>
        <p:nvSpPr>
          <p:cNvPr id="31" name="Text 29"/>
          <p:cNvSpPr/>
          <p:nvPr/>
        </p:nvSpPr>
        <p:spPr>
          <a:xfrm>
            <a:off x="594360" y="4864608"/>
            <a:ext cx="7955280" cy="128016"/>
          </a:xfrm>
          <a:prstGeom prst="rect">
            <a:avLst/>
          </a:prstGeom>
          <a:noFill/>
          <a:ln/>
        </p:spPr>
        <p:txBody>
          <a:bodyPr wrap="square" lIns="0" tIns="0" rIns="0" bIns="0" rtlCol="0" anchor="ctr"/>
          <a:lstStyle/>
          <a:p>
            <a:pPr indent="0" marL="0">
              <a:buNone/>
            </a:pPr>
            <a:r>
              <a:rPr lang="en-US" sz="1000" b="1" i="1" dirty="0">
                <a:solidFill>
                  <a:srgbClr val="028090"/>
                </a:solidFill>
                <a:latin typeface="Calibri" pitchFamily="34" charset="0"/>
                <a:ea typeface="Calibri" pitchFamily="34" charset="-122"/>
                <a:cs typeface="Calibri" pitchFamily="34" charset="-120"/>
              </a:rPr>
              <a:t>The content request never changed — only the structure around it. That structure is what makes the response usable.</a:t>
            </a:r>
            <a:endParaRPr lang="en-US" sz="1000" dirty="0"/>
          </a:p>
        </p:txBody>
      </p:sp>
      <p:sp>
        <p:nvSpPr>
          <p:cNvPr id="32" name="Text 30"/>
          <p:cNvSpPr/>
          <p:nvPr/>
        </p:nvSpPr>
        <p:spPr>
          <a:xfrm>
            <a:off x="8595360" y="4754880"/>
            <a:ext cx="365760" cy="228600"/>
          </a:xfrm>
          <a:prstGeom prst="rect">
            <a:avLst/>
          </a:prstGeom>
          <a:noFill/>
          <a:ln/>
        </p:spPr>
        <p:txBody>
          <a:bodyPr wrap="square"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57200" y="164592"/>
            <a:ext cx="2377440" cy="256032"/>
          </a:xfrm>
          <a:prstGeom prst="rect">
            <a:avLst/>
          </a:prstGeom>
          <a:solidFill>
            <a:srgbClr val="028090"/>
          </a:solidFill>
          <a:ln w="12700">
            <a:solidFill>
              <a:srgbClr val="028090"/>
            </a:solidFill>
            <a:prstDash val="solid"/>
          </a:ln>
        </p:spPr>
      </p:sp>
      <p:sp>
        <p:nvSpPr>
          <p:cNvPr id="3" name="Text 1"/>
          <p:cNvSpPr/>
          <p:nvPr/>
        </p:nvSpPr>
        <p:spPr>
          <a:xfrm>
            <a:off x="457200" y="164592"/>
            <a:ext cx="23774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WEAK VS STRONG PROMPTS</a:t>
            </a:r>
            <a:endParaRPr lang="en-US" sz="900" dirty="0"/>
          </a:p>
        </p:txBody>
      </p:sp>
      <p:sp>
        <p:nvSpPr>
          <p:cNvPr id="4" name="Text 2"/>
          <p:cNvSpPr/>
          <p:nvPr/>
        </p:nvSpPr>
        <p:spPr>
          <a:xfrm>
            <a:off x="457200" y="530352"/>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Trebuchet MS" pitchFamily="34" charset="0"/>
                <a:ea typeface="Trebuchet MS" pitchFamily="34" charset="-122"/>
                <a:cs typeface="Trebuchet MS" pitchFamily="34" charset="-120"/>
              </a:rPr>
              <a:t>Examples 1 and 2</a:t>
            </a:r>
            <a:endParaRPr lang="en-US" sz="2800" dirty="0"/>
          </a:p>
        </p:txBody>
      </p:sp>
      <p:sp>
        <p:nvSpPr>
          <p:cNvPr id="5" name="Shape 3"/>
          <p:cNvSpPr/>
          <p:nvPr/>
        </p:nvSpPr>
        <p:spPr>
          <a:xfrm>
            <a:off x="457200" y="1417320"/>
            <a:ext cx="8229600" cy="22860"/>
          </a:xfrm>
          <a:prstGeom prst="rect">
            <a:avLst/>
          </a:prstGeom>
          <a:solidFill>
            <a:srgbClr val="CADCFC"/>
          </a:solidFill>
          <a:ln w="12700">
            <a:solidFill>
              <a:srgbClr val="CADCFC"/>
            </a:solidFill>
            <a:prstDash val="solid"/>
          </a:ln>
        </p:spPr>
      </p:sp>
      <p:sp>
        <p:nvSpPr>
          <p:cNvPr id="6" name="Text 4"/>
          <p:cNvSpPr/>
          <p:nvPr/>
        </p:nvSpPr>
        <p:spPr>
          <a:xfrm>
            <a:off x="457200" y="1554480"/>
            <a:ext cx="8229600" cy="256032"/>
          </a:xfrm>
          <a:prstGeom prst="rect">
            <a:avLst/>
          </a:prstGeom>
          <a:noFill/>
          <a:ln/>
        </p:spPr>
        <p:txBody>
          <a:bodyPr wrap="square" lIns="0" tIns="0" rIns="0" bIns="0" rtlCol="0" anchor="ctr"/>
          <a:lstStyle/>
          <a:p>
            <a:pPr indent="0" marL="0">
              <a:buNone/>
            </a:pPr>
            <a:r>
              <a:rPr lang="en-US" sz="1300" b="1" dirty="0">
                <a:solidFill>
                  <a:srgbClr val="1E2761"/>
                </a:solidFill>
                <a:latin typeface="Trebuchet MS" pitchFamily="34" charset="0"/>
                <a:ea typeface="Trebuchet MS" pitchFamily="34" charset="-122"/>
                <a:cs typeface="Trebuchet MS" pitchFamily="34" charset="-120"/>
              </a:rPr>
              <a:t>Writing an email</a:t>
            </a:r>
            <a:endParaRPr lang="en-US" sz="1300" dirty="0"/>
          </a:p>
        </p:txBody>
      </p:sp>
      <p:sp>
        <p:nvSpPr>
          <p:cNvPr id="7" name="Shape 5"/>
          <p:cNvSpPr/>
          <p:nvPr/>
        </p:nvSpPr>
        <p:spPr>
          <a:xfrm>
            <a:off x="457200" y="1847088"/>
            <a:ext cx="3840480" cy="1243584"/>
          </a:xfrm>
          <a:prstGeom prst="rect">
            <a:avLst/>
          </a:prstGeom>
          <a:solidFill>
            <a:srgbClr val="FEF3C7"/>
          </a:solidFill>
          <a:ln w="12700">
            <a:solidFill>
              <a:srgbClr val="E07B39"/>
            </a:solidFill>
            <a:prstDash val="solid"/>
          </a:ln>
        </p:spPr>
      </p:sp>
      <p:sp>
        <p:nvSpPr>
          <p:cNvPr id="8" name="Shape 6"/>
          <p:cNvSpPr/>
          <p:nvPr/>
        </p:nvSpPr>
        <p:spPr>
          <a:xfrm>
            <a:off x="457200" y="1847088"/>
            <a:ext cx="73152" cy="1243584"/>
          </a:xfrm>
          <a:prstGeom prst="rect">
            <a:avLst/>
          </a:prstGeom>
          <a:solidFill>
            <a:srgbClr val="E07B39"/>
          </a:solidFill>
          <a:ln w="12700">
            <a:solidFill>
              <a:srgbClr val="E07B39"/>
            </a:solidFill>
            <a:prstDash val="solid"/>
          </a:ln>
        </p:spPr>
      </p:sp>
      <p:sp>
        <p:nvSpPr>
          <p:cNvPr id="9" name="Text 7"/>
          <p:cNvSpPr/>
          <p:nvPr/>
        </p:nvSpPr>
        <p:spPr>
          <a:xfrm>
            <a:off x="594360" y="1874520"/>
            <a:ext cx="548640" cy="182880"/>
          </a:xfrm>
          <a:prstGeom prst="rect">
            <a:avLst/>
          </a:prstGeom>
          <a:noFill/>
          <a:ln/>
        </p:spPr>
        <p:txBody>
          <a:bodyPr wrap="square" lIns="0" tIns="0" rIns="0" bIns="0" rtlCol="0" anchor="ctr"/>
          <a:lstStyle/>
          <a:p>
            <a:pPr indent="0" marL="0">
              <a:buNone/>
            </a:pPr>
            <a:r>
              <a:rPr lang="en-US" sz="900" b="1" dirty="0">
                <a:solidFill>
                  <a:srgbClr val="E07B39"/>
                </a:solidFill>
                <a:latin typeface="Calibri" pitchFamily="34" charset="0"/>
                <a:ea typeface="Calibri" pitchFamily="34" charset="-122"/>
                <a:cs typeface="Calibri" pitchFamily="34" charset="-120"/>
              </a:rPr>
              <a:t>Weak</a:t>
            </a:r>
            <a:endParaRPr lang="en-US" sz="900" dirty="0"/>
          </a:p>
        </p:txBody>
      </p:sp>
      <p:sp>
        <p:nvSpPr>
          <p:cNvPr id="10" name="Text 8"/>
          <p:cNvSpPr/>
          <p:nvPr/>
        </p:nvSpPr>
        <p:spPr>
          <a:xfrm>
            <a:off x="594360" y="2075688"/>
            <a:ext cx="3566160" cy="804672"/>
          </a:xfrm>
          <a:prstGeom prst="rect">
            <a:avLst/>
          </a:prstGeom>
          <a:noFill/>
          <a:ln/>
        </p:spPr>
        <p:txBody>
          <a:bodyPr wrap="square" rtlCol="0" anchor="ctr"/>
          <a:lstStyle/>
          <a:p>
            <a:pPr indent="0" marL="0">
              <a:buNone/>
            </a:pPr>
            <a:r>
              <a:rPr lang="en-US" sz="1150" i="1" dirty="0">
                <a:solidFill>
                  <a:srgbClr val="1A1A2E"/>
                </a:solidFill>
                <a:latin typeface="Calibri" pitchFamily="34" charset="0"/>
                <a:ea typeface="Calibri" pitchFamily="34" charset="-122"/>
                <a:cs typeface="Calibri" pitchFamily="34" charset="-120"/>
              </a:rPr>
              <a:t>Write me an email about the AI guideline.</a:t>
            </a:r>
            <a:endParaRPr lang="en-US" sz="1150" dirty="0"/>
          </a:p>
        </p:txBody>
      </p:sp>
      <p:sp>
        <p:nvSpPr>
          <p:cNvPr id="11" name="Shape 9"/>
          <p:cNvSpPr/>
          <p:nvPr/>
        </p:nvSpPr>
        <p:spPr>
          <a:xfrm>
            <a:off x="4572000" y="1847088"/>
            <a:ext cx="4114800" cy="1243584"/>
          </a:xfrm>
          <a:prstGeom prst="rect">
            <a:avLst/>
          </a:prstGeom>
          <a:solidFill>
            <a:srgbClr val="ECFDF5"/>
          </a:solidFill>
          <a:ln w="12700">
            <a:solidFill>
              <a:srgbClr val="1D6F42"/>
            </a:solidFill>
            <a:prstDash val="solid"/>
          </a:ln>
        </p:spPr>
      </p:sp>
      <p:sp>
        <p:nvSpPr>
          <p:cNvPr id="12" name="Shape 10"/>
          <p:cNvSpPr/>
          <p:nvPr/>
        </p:nvSpPr>
        <p:spPr>
          <a:xfrm>
            <a:off x="4572000" y="1847088"/>
            <a:ext cx="73152" cy="1243584"/>
          </a:xfrm>
          <a:prstGeom prst="rect">
            <a:avLst/>
          </a:prstGeom>
          <a:solidFill>
            <a:srgbClr val="1D6F42"/>
          </a:solidFill>
          <a:ln w="12700">
            <a:solidFill>
              <a:srgbClr val="1D6F42"/>
            </a:solidFill>
            <a:prstDash val="solid"/>
          </a:ln>
        </p:spPr>
      </p:sp>
      <p:sp>
        <p:nvSpPr>
          <p:cNvPr id="13" name="Text 11"/>
          <p:cNvSpPr/>
          <p:nvPr/>
        </p:nvSpPr>
        <p:spPr>
          <a:xfrm>
            <a:off x="4709160" y="1874520"/>
            <a:ext cx="640080" cy="182880"/>
          </a:xfrm>
          <a:prstGeom prst="rect">
            <a:avLst/>
          </a:prstGeom>
          <a:noFill/>
          <a:ln/>
        </p:spPr>
        <p:txBody>
          <a:bodyPr wrap="square" lIns="0" tIns="0" rIns="0" bIns="0" rtlCol="0" anchor="ctr"/>
          <a:lstStyle/>
          <a:p>
            <a:pPr indent="0" marL="0">
              <a:buNone/>
            </a:pPr>
            <a:r>
              <a:rPr lang="en-US" sz="900" b="1" dirty="0">
                <a:solidFill>
                  <a:srgbClr val="1D6F42"/>
                </a:solidFill>
                <a:latin typeface="Calibri" pitchFamily="34" charset="0"/>
                <a:ea typeface="Calibri" pitchFamily="34" charset="-122"/>
                <a:cs typeface="Calibri" pitchFamily="34" charset="-120"/>
              </a:rPr>
              <a:t>Strong</a:t>
            </a:r>
            <a:endParaRPr lang="en-US" sz="900" dirty="0"/>
          </a:p>
        </p:txBody>
      </p:sp>
      <p:sp>
        <p:nvSpPr>
          <p:cNvPr id="14" name="Text 12"/>
          <p:cNvSpPr/>
          <p:nvPr/>
        </p:nvSpPr>
        <p:spPr>
          <a:xfrm>
            <a:off x="4709160" y="2075688"/>
            <a:ext cx="3858768" cy="804672"/>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Write a professional email to my department head requesting approval for a new AI Usage Guideline. The guideline was developed by my team over the past two weeks and covers responsible AI use, dos and don'ts, and recommended tools. Keep it under 150 words and use a formal but approachable tone.</a:t>
            </a:r>
            <a:endParaRPr lang="en-US" sz="1050" dirty="0"/>
          </a:p>
        </p:txBody>
      </p:sp>
      <p:sp>
        <p:nvSpPr>
          <p:cNvPr id="15" name="Text 13"/>
          <p:cNvSpPr/>
          <p:nvPr/>
        </p:nvSpPr>
        <p:spPr>
          <a:xfrm>
            <a:off x="457200" y="3291840"/>
            <a:ext cx="8229600" cy="256032"/>
          </a:xfrm>
          <a:prstGeom prst="rect">
            <a:avLst/>
          </a:prstGeom>
          <a:noFill/>
          <a:ln/>
        </p:spPr>
        <p:txBody>
          <a:bodyPr wrap="square" lIns="0" tIns="0" rIns="0" bIns="0" rtlCol="0" anchor="ctr"/>
          <a:lstStyle/>
          <a:p>
            <a:pPr indent="0" marL="0">
              <a:buNone/>
            </a:pPr>
            <a:r>
              <a:rPr lang="en-US" sz="1300" b="1" dirty="0">
                <a:solidFill>
                  <a:srgbClr val="1E2761"/>
                </a:solidFill>
                <a:latin typeface="Trebuchet MS" pitchFamily="34" charset="0"/>
                <a:ea typeface="Trebuchet MS" pitchFamily="34" charset="-122"/>
                <a:cs typeface="Trebuchet MS" pitchFamily="34" charset="-120"/>
              </a:rPr>
              <a:t>Summarising a document</a:t>
            </a:r>
            <a:endParaRPr lang="en-US" sz="1300" dirty="0"/>
          </a:p>
        </p:txBody>
      </p:sp>
      <p:sp>
        <p:nvSpPr>
          <p:cNvPr id="16" name="Shape 14"/>
          <p:cNvSpPr/>
          <p:nvPr/>
        </p:nvSpPr>
        <p:spPr>
          <a:xfrm>
            <a:off x="457200" y="3584448"/>
            <a:ext cx="3840480" cy="1243584"/>
          </a:xfrm>
          <a:prstGeom prst="rect">
            <a:avLst/>
          </a:prstGeom>
          <a:solidFill>
            <a:srgbClr val="FEF3C7"/>
          </a:solidFill>
          <a:ln w="12700">
            <a:solidFill>
              <a:srgbClr val="E07B39"/>
            </a:solidFill>
            <a:prstDash val="solid"/>
          </a:ln>
        </p:spPr>
      </p:sp>
      <p:sp>
        <p:nvSpPr>
          <p:cNvPr id="17" name="Shape 15"/>
          <p:cNvSpPr/>
          <p:nvPr/>
        </p:nvSpPr>
        <p:spPr>
          <a:xfrm>
            <a:off x="457200" y="3584448"/>
            <a:ext cx="73152" cy="1243584"/>
          </a:xfrm>
          <a:prstGeom prst="rect">
            <a:avLst/>
          </a:prstGeom>
          <a:solidFill>
            <a:srgbClr val="E07B39"/>
          </a:solidFill>
          <a:ln w="12700">
            <a:solidFill>
              <a:srgbClr val="E07B39"/>
            </a:solidFill>
            <a:prstDash val="solid"/>
          </a:ln>
        </p:spPr>
      </p:sp>
      <p:sp>
        <p:nvSpPr>
          <p:cNvPr id="18" name="Text 16"/>
          <p:cNvSpPr/>
          <p:nvPr/>
        </p:nvSpPr>
        <p:spPr>
          <a:xfrm>
            <a:off x="594360" y="3611880"/>
            <a:ext cx="548640" cy="182880"/>
          </a:xfrm>
          <a:prstGeom prst="rect">
            <a:avLst/>
          </a:prstGeom>
          <a:noFill/>
          <a:ln/>
        </p:spPr>
        <p:txBody>
          <a:bodyPr wrap="square" lIns="0" tIns="0" rIns="0" bIns="0" rtlCol="0" anchor="ctr"/>
          <a:lstStyle/>
          <a:p>
            <a:pPr indent="0" marL="0">
              <a:buNone/>
            </a:pPr>
            <a:r>
              <a:rPr lang="en-US" sz="900" b="1" dirty="0">
                <a:solidFill>
                  <a:srgbClr val="E07B39"/>
                </a:solidFill>
                <a:latin typeface="Calibri" pitchFamily="34" charset="0"/>
                <a:ea typeface="Calibri" pitchFamily="34" charset="-122"/>
                <a:cs typeface="Calibri" pitchFamily="34" charset="-120"/>
              </a:rPr>
              <a:t>Weak</a:t>
            </a:r>
            <a:endParaRPr lang="en-US" sz="900" dirty="0"/>
          </a:p>
        </p:txBody>
      </p:sp>
      <p:sp>
        <p:nvSpPr>
          <p:cNvPr id="19" name="Text 17"/>
          <p:cNvSpPr/>
          <p:nvPr/>
        </p:nvSpPr>
        <p:spPr>
          <a:xfrm>
            <a:off x="594360" y="3813048"/>
            <a:ext cx="3566160" cy="804672"/>
          </a:xfrm>
          <a:prstGeom prst="rect">
            <a:avLst/>
          </a:prstGeom>
          <a:noFill/>
          <a:ln/>
        </p:spPr>
        <p:txBody>
          <a:bodyPr wrap="square" rtlCol="0" anchor="ctr"/>
          <a:lstStyle/>
          <a:p>
            <a:pPr indent="0" marL="0">
              <a:buNone/>
            </a:pPr>
            <a:r>
              <a:rPr lang="en-US" sz="1150" i="1" dirty="0">
                <a:solidFill>
                  <a:srgbClr val="1A1A2E"/>
                </a:solidFill>
                <a:latin typeface="Calibri" pitchFamily="34" charset="0"/>
                <a:ea typeface="Calibri" pitchFamily="34" charset="-122"/>
                <a:cs typeface="Calibri" pitchFamily="34" charset="-120"/>
              </a:rPr>
              <a:t>Summarise this document.</a:t>
            </a:r>
            <a:endParaRPr lang="en-US" sz="1150" dirty="0"/>
          </a:p>
        </p:txBody>
      </p:sp>
      <p:sp>
        <p:nvSpPr>
          <p:cNvPr id="20" name="Shape 18"/>
          <p:cNvSpPr/>
          <p:nvPr/>
        </p:nvSpPr>
        <p:spPr>
          <a:xfrm>
            <a:off x="4572000" y="3584448"/>
            <a:ext cx="4114800" cy="1243584"/>
          </a:xfrm>
          <a:prstGeom prst="rect">
            <a:avLst/>
          </a:prstGeom>
          <a:solidFill>
            <a:srgbClr val="ECFDF5"/>
          </a:solidFill>
          <a:ln w="12700">
            <a:solidFill>
              <a:srgbClr val="1D6F42"/>
            </a:solidFill>
            <a:prstDash val="solid"/>
          </a:ln>
        </p:spPr>
      </p:sp>
      <p:sp>
        <p:nvSpPr>
          <p:cNvPr id="21" name="Shape 19"/>
          <p:cNvSpPr/>
          <p:nvPr/>
        </p:nvSpPr>
        <p:spPr>
          <a:xfrm>
            <a:off x="4572000" y="3584448"/>
            <a:ext cx="73152" cy="1243584"/>
          </a:xfrm>
          <a:prstGeom prst="rect">
            <a:avLst/>
          </a:prstGeom>
          <a:solidFill>
            <a:srgbClr val="1D6F42"/>
          </a:solidFill>
          <a:ln w="12700">
            <a:solidFill>
              <a:srgbClr val="1D6F42"/>
            </a:solidFill>
            <a:prstDash val="solid"/>
          </a:ln>
        </p:spPr>
      </p:sp>
      <p:sp>
        <p:nvSpPr>
          <p:cNvPr id="22" name="Text 20"/>
          <p:cNvSpPr/>
          <p:nvPr/>
        </p:nvSpPr>
        <p:spPr>
          <a:xfrm>
            <a:off x="4709160" y="3611880"/>
            <a:ext cx="640080" cy="182880"/>
          </a:xfrm>
          <a:prstGeom prst="rect">
            <a:avLst/>
          </a:prstGeom>
          <a:noFill/>
          <a:ln/>
        </p:spPr>
        <p:txBody>
          <a:bodyPr wrap="square" lIns="0" tIns="0" rIns="0" bIns="0" rtlCol="0" anchor="ctr"/>
          <a:lstStyle/>
          <a:p>
            <a:pPr indent="0" marL="0">
              <a:buNone/>
            </a:pPr>
            <a:r>
              <a:rPr lang="en-US" sz="900" b="1" dirty="0">
                <a:solidFill>
                  <a:srgbClr val="1D6F42"/>
                </a:solidFill>
                <a:latin typeface="Calibri" pitchFamily="34" charset="0"/>
                <a:ea typeface="Calibri" pitchFamily="34" charset="-122"/>
                <a:cs typeface="Calibri" pitchFamily="34" charset="-120"/>
              </a:rPr>
              <a:t>Strong</a:t>
            </a:r>
            <a:endParaRPr lang="en-US" sz="900" dirty="0"/>
          </a:p>
        </p:txBody>
      </p:sp>
      <p:sp>
        <p:nvSpPr>
          <p:cNvPr id="23" name="Text 21"/>
          <p:cNvSpPr/>
          <p:nvPr/>
        </p:nvSpPr>
        <p:spPr>
          <a:xfrm>
            <a:off x="4709160" y="3813048"/>
            <a:ext cx="3858768" cy="804672"/>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Summarise this AI Usage Guideline in 5 key points. Focus on the practical dos and don'ts. Write it so a team member with no AI background can understand it quickly.</a:t>
            </a:r>
            <a:endParaRPr lang="en-US" sz="1050" dirty="0"/>
          </a:p>
        </p:txBody>
      </p:sp>
      <p:sp>
        <p:nvSpPr>
          <p:cNvPr id="24" name="Text 22"/>
          <p:cNvSpPr/>
          <p:nvPr/>
        </p:nvSpPr>
        <p:spPr>
          <a:xfrm>
            <a:off x="8595360" y="4754880"/>
            <a:ext cx="365760" cy="228600"/>
          </a:xfrm>
          <a:prstGeom prst="rect">
            <a:avLst/>
          </a:prstGeom>
          <a:noFill/>
          <a:ln/>
        </p:spPr>
        <p:txBody>
          <a:bodyPr wrap="square"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57200" y="164592"/>
            <a:ext cx="2377440" cy="256032"/>
          </a:xfrm>
          <a:prstGeom prst="rect">
            <a:avLst/>
          </a:prstGeom>
          <a:solidFill>
            <a:srgbClr val="028090"/>
          </a:solidFill>
          <a:ln w="12700">
            <a:solidFill>
              <a:srgbClr val="028090"/>
            </a:solidFill>
            <a:prstDash val="solid"/>
          </a:ln>
        </p:spPr>
      </p:sp>
      <p:sp>
        <p:nvSpPr>
          <p:cNvPr id="3" name="Text 1"/>
          <p:cNvSpPr/>
          <p:nvPr/>
        </p:nvSpPr>
        <p:spPr>
          <a:xfrm>
            <a:off x="457200" y="164592"/>
            <a:ext cx="23774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WEAK VS STRONG PROMPTS</a:t>
            </a:r>
            <a:endParaRPr lang="en-US" sz="900" dirty="0"/>
          </a:p>
        </p:txBody>
      </p:sp>
      <p:sp>
        <p:nvSpPr>
          <p:cNvPr id="4" name="Text 2"/>
          <p:cNvSpPr/>
          <p:nvPr/>
        </p:nvSpPr>
        <p:spPr>
          <a:xfrm>
            <a:off x="457200" y="530352"/>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Trebuchet MS" pitchFamily="34" charset="0"/>
                <a:ea typeface="Trebuchet MS" pitchFamily="34" charset="-122"/>
                <a:cs typeface="Trebuchet MS" pitchFamily="34" charset="-120"/>
              </a:rPr>
              <a:t>Examples 3 and 4</a:t>
            </a:r>
            <a:endParaRPr lang="en-US" sz="2800" dirty="0"/>
          </a:p>
        </p:txBody>
      </p:sp>
      <p:sp>
        <p:nvSpPr>
          <p:cNvPr id="5" name="Shape 3"/>
          <p:cNvSpPr/>
          <p:nvPr/>
        </p:nvSpPr>
        <p:spPr>
          <a:xfrm>
            <a:off x="457200" y="1417320"/>
            <a:ext cx="8229600" cy="22860"/>
          </a:xfrm>
          <a:prstGeom prst="rect">
            <a:avLst/>
          </a:prstGeom>
          <a:solidFill>
            <a:srgbClr val="CADCFC"/>
          </a:solidFill>
          <a:ln w="12700">
            <a:solidFill>
              <a:srgbClr val="CADCFC"/>
            </a:solidFill>
            <a:prstDash val="solid"/>
          </a:ln>
        </p:spPr>
      </p:sp>
      <p:sp>
        <p:nvSpPr>
          <p:cNvPr id="6" name="Text 4"/>
          <p:cNvSpPr/>
          <p:nvPr/>
        </p:nvSpPr>
        <p:spPr>
          <a:xfrm>
            <a:off x="457200" y="1554480"/>
            <a:ext cx="8229600" cy="256032"/>
          </a:xfrm>
          <a:prstGeom prst="rect">
            <a:avLst/>
          </a:prstGeom>
          <a:noFill/>
          <a:ln/>
        </p:spPr>
        <p:txBody>
          <a:bodyPr wrap="square" lIns="0" tIns="0" rIns="0" bIns="0" rtlCol="0" anchor="ctr"/>
          <a:lstStyle/>
          <a:p>
            <a:pPr indent="0" marL="0">
              <a:buNone/>
            </a:pPr>
            <a:r>
              <a:rPr lang="en-US" sz="1300" b="1" dirty="0">
                <a:solidFill>
                  <a:srgbClr val="1E2761"/>
                </a:solidFill>
                <a:latin typeface="Trebuchet MS" pitchFamily="34" charset="0"/>
                <a:ea typeface="Trebuchet MS" pitchFamily="34" charset="-122"/>
                <a:cs typeface="Trebuchet MS" pitchFamily="34" charset="-120"/>
              </a:rPr>
              <a:t>Analysing data</a:t>
            </a:r>
            <a:endParaRPr lang="en-US" sz="1300" dirty="0"/>
          </a:p>
        </p:txBody>
      </p:sp>
      <p:sp>
        <p:nvSpPr>
          <p:cNvPr id="7" name="Shape 5"/>
          <p:cNvSpPr/>
          <p:nvPr/>
        </p:nvSpPr>
        <p:spPr>
          <a:xfrm>
            <a:off x="457200" y="1847088"/>
            <a:ext cx="3840480" cy="1243584"/>
          </a:xfrm>
          <a:prstGeom prst="rect">
            <a:avLst/>
          </a:prstGeom>
          <a:solidFill>
            <a:srgbClr val="FEF3C7"/>
          </a:solidFill>
          <a:ln w="12700">
            <a:solidFill>
              <a:srgbClr val="E07B39"/>
            </a:solidFill>
            <a:prstDash val="solid"/>
          </a:ln>
        </p:spPr>
      </p:sp>
      <p:sp>
        <p:nvSpPr>
          <p:cNvPr id="8" name="Shape 6"/>
          <p:cNvSpPr/>
          <p:nvPr/>
        </p:nvSpPr>
        <p:spPr>
          <a:xfrm>
            <a:off x="457200" y="1847088"/>
            <a:ext cx="73152" cy="1243584"/>
          </a:xfrm>
          <a:prstGeom prst="rect">
            <a:avLst/>
          </a:prstGeom>
          <a:solidFill>
            <a:srgbClr val="E07B39"/>
          </a:solidFill>
          <a:ln w="12700">
            <a:solidFill>
              <a:srgbClr val="E07B39"/>
            </a:solidFill>
            <a:prstDash val="solid"/>
          </a:ln>
        </p:spPr>
      </p:sp>
      <p:sp>
        <p:nvSpPr>
          <p:cNvPr id="9" name="Text 7"/>
          <p:cNvSpPr/>
          <p:nvPr/>
        </p:nvSpPr>
        <p:spPr>
          <a:xfrm>
            <a:off x="594360" y="1874520"/>
            <a:ext cx="548640" cy="182880"/>
          </a:xfrm>
          <a:prstGeom prst="rect">
            <a:avLst/>
          </a:prstGeom>
          <a:noFill/>
          <a:ln/>
        </p:spPr>
        <p:txBody>
          <a:bodyPr wrap="square" lIns="0" tIns="0" rIns="0" bIns="0" rtlCol="0" anchor="ctr"/>
          <a:lstStyle/>
          <a:p>
            <a:pPr indent="0" marL="0">
              <a:buNone/>
            </a:pPr>
            <a:r>
              <a:rPr lang="en-US" sz="900" b="1" dirty="0">
                <a:solidFill>
                  <a:srgbClr val="E07B39"/>
                </a:solidFill>
                <a:latin typeface="Calibri" pitchFamily="34" charset="0"/>
                <a:ea typeface="Calibri" pitchFamily="34" charset="-122"/>
                <a:cs typeface="Calibri" pitchFamily="34" charset="-120"/>
              </a:rPr>
              <a:t>Weak</a:t>
            </a:r>
            <a:endParaRPr lang="en-US" sz="900" dirty="0"/>
          </a:p>
        </p:txBody>
      </p:sp>
      <p:sp>
        <p:nvSpPr>
          <p:cNvPr id="10" name="Text 8"/>
          <p:cNvSpPr/>
          <p:nvPr/>
        </p:nvSpPr>
        <p:spPr>
          <a:xfrm>
            <a:off x="594360" y="2075688"/>
            <a:ext cx="3566160" cy="804672"/>
          </a:xfrm>
          <a:prstGeom prst="rect">
            <a:avLst/>
          </a:prstGeom>
          <a:noFill/>
          <a:ln/>
        </p:spPr>
        <p:txBody>
          <a:bodyPr wrap="square" rtlCol="0" anchor="ctr"/>
          <a:lstStyle/>
          <a:p>
            <a:pPr indent="0" marL="0">
              <a:buNone/>
            </a:pPr>
            <a:r>
              <a:rPr lang="en-US" sz="1150" i="1" dirty="0">
                <a:solidFill>
                  <a:srgbClr val="1A1A2E"/>
                </a:solidFill>
                <a:latin typeface="Calibri" pitchFamily="34" charset="0"/>
                <a:ea typeface="Calibri" pitchFamily="34" charset="-122"/>
                <a:cs typeface="Calibri" pitchFamily="34" charset="-120"/>
              </a:rPr>
              <a:t>What does this data show?</a:t>
            </a:r>
            <a:endParaRPr lang="en-US" sz="1150" dirty="0"/>
          </a:p>
        </p:txBody>
      </p:sp>
      <p:sp>
        <p:nvSpPr>
          <p:cNvPr id="11" name="Shape 9"/>
          <p:cNvSpPr/>
          <p:nvPr/>
        </p:nvSpPr>
        <p:spPr>
          <a:xfrm>
            <a:off x="4572000" y="1847088"/>
            <a:ext cx="4114800" cy="1243584"/>
          </a:xfrm>
          <a:prstGeom prst="rect">
            <a:avLst/>
          </a:prstGeom>
          <a:solidFill>
            <a:srgbClr val="ECFDF5"/>
          </a:solidFill>
          <a:ln w="12700">
            <a:solidFill>
              <a:srgbClr val="1D6F42"/>
            </a:solidFill>
            <a:prstDash val="solid"/>
          </a:ln>
        </p:spPr>
      </p:sp>
      <p:sp>
        <p:nvSpPr>
          <p:cNvPr id="12" name="Shape 10"/>
          <p:cNvSpPr/>
          <p:nvPr/>
        </p:nvSpPr>
        <p:spPr>
          <a:xfrm>
            <a:off x="4572000" y="1847088"/>
            <a:ext cx="73152" cy="1243584"/>
          </a:xfrm>
          <a:prstGeom prst="rect">
            <a:avLst/>
          </a:prstGeom>
          <a:solidFill>
            <a:srgbClr val="1D6F42"/>
          </a:solidFill>
          <a:ln w="12700">
            <a:solidFill>
              <a:srgbClr val="1D6F42"/>
            </a:solidFill>
            <a:prstDash val="solid"/>
          </a:ln>
        </p:spPr>
      </p:sp>
      <p:sp>
        <p:nvSpPr>
          <p:cNvPr id="13" name="Text 11"/>
          <p:cNvSpPr/>
          <p:nvPr/>
        </p:nvSpPr>
        <p:spPr>
          <a:xfrm>
            <a:off x="4709160" y="1874520"/>
            <a:ext cx="640080" cy="182880"/>
          </a:xfrm>
          <a:prstGeom prst="rect">
            <a:avLst/>
          </a:prstGeom>
          <a:noFill/>
          <a:ln/>
        </p:spPr>
        <p:txBody>
          <a:bodyPr wrap="square" lIns="0" tIns="0" rIns="0" bIns="0" rtlCol="0" anchor="ctr"/>
          <a:lstStyle/>
          <a:p>
            <a:pPr indent="0" marL="0">
              <a:buNone/>
            </a:pPr>
            <a:r>
              <a:rPr lang="en-US" sz="900" b="1" dirty="0">
                <a:solidFill>
                  <a:srgbClr val="1D6F42"/>
                </a:solidFill>
                <a:latin typeface="Calibri" pitchFamily="34" charset="0"/>
                <a:ea typeface="Calibri" pitchFamily="34" charset="-122"/>
                <a:cs typeface="Calibri" pitchFamily="34" charset="-120"/>
              </a:rPr>
              <a:t>Strong</a:t>
            </a:r>
            <a:endParaRPr lang="en-US" sz="900" dirty="0"/>
          </a:p>
        </p:txBody>
      </p:sp>
      <p:sp>
        <p:nvSpPr>
          <p:cNvPr id="14" name="Text 12"/>
          <p:cNvSpPr/>
          <p:nvPr/>
        </p:nvSpPr>
        <p:spPr>
          <a:xfrm>
            <a:off x="4709160" y="2075688"/>
            <a:ext cx="3858768" cy="804672"/>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I have survey responses from 30 staff members about how they have been using AI tools over the past month. Analyse this data and highlight the top 3 trends, any concerns raised, and recommend one action based on the findings.</a:t>
            </a:r>
            <a:endParaRPr lang="en-US" sz="1050" dirty="0"/>
          </a:p>
        </p:txBody>
      </p:sp>
      <p:sp>
        <p:nvSpPr>
          <p:cNvPr id="15" name="Text 13"/>
          <p:cNvSpPr/>
          <p:nvPr/>
        </p:nvSpPr>
        <p:spPr>
          <a:xfrm>
            <a:off x="457200" y="3291840"/>
            <a:ext cx="8229600" cy="256032"/>
          </a:xfrm>
          <a:prstGeom prst="rect">
            <a:avLst/>
          </a:prstGeom>
          <a:noFill/>
          <a:ln/>
        </p:spPr>
        <p:txBody>
          <a:bodyPr wrap="square" lIns="0" tIns="0" rIns="0" bIns="0" rtlCol="0" anchor="ctr"/>
          <a:lstStyle/>
          <a:p>
            <a:pPr indent="0" marL="0">
              <a:buNone/>
            </a:pPr>
            <a:r>
              <a:rPr lang="en-US" sz="1300" b="1" dirty="0">
                <a:solidFill>
                  <a:srgbClr val="1E2761"/>
                </a:solidFill>
                <a:latin typeface="Trebuchet MS" pitchFamily="34" charset="0"/>
                <a:ea typeface="Trebuchet MS" pitchFamily="34" charset="-122"/>
                <a:cs typeface="Trebuchet MS" pitchFamily="34" charset="-120"/>
              </a:rPr>
              <a:t>Preparing for a meeting</a:t>
            </a:r>
            <a:endParaRPr lang="en-US" sz="1300" dirty="0"/>
          </a:p>
        </p:txBody>
      </p:sp>
      <p:sp>
        <p:nvSpPr>
          <p:cNvPr id="16" name="Shape 14"/>
          <p:cNvSpPr/>
          <p:nvPr/>
        </p:nvSpPr>
        <p:spPr>
          <a:xfrm>
            <a:off x="457200" y="3584448"/>
            <a:ext cx="3840480" cy="1243584"/>
          </a:xfrm>
          <a:prstGeom prst="rect">
            <a:avLst/>
          </a:prstGeom>
          <a:solidFill>
            <a:srgbClr val="FEF3C7"/>
          </a:solidFill>
          <a:ln w="12700">
            <a:solidFill>
              <a:srgbClr val="E07B39"/>
            </a:solidFill>
            <a:prstDash val="solid"/>
          </a:ln>
        </p:spPr>
      </p:sp>
      <p:sp>
        <p:nvSpPr>
          <p:cNvPr id="17" name="Shape 15"/>
          <p:cNvSpPr/>
          <p:nvPr/>
        </p:nvSpPr>
        <p:spPr>
          <a:xfrm>
            <a:off x="457200" y="3584448"/>
            <a:ext cx="73152" cy="1243584"/>
          </a:xfrm>
          <a:prstGeom prst="rect">
            <a:avLst/>
          </a:prstGeom>
          <a:solidFill>
            <a:srgbClr val="E07B39"/>
          </a:solidFill>
          <a:ln w="12700">
            <a:solidFill>
              <a:srgbClr val="E07B39"/>
            </a:solidFill>
            <a:prstDash val="solid"/>
          </a:ln>
        </p:spPr>
      </p:sp>
      <p:sp>
        <p:nvSpPr>
          <p:cNvPr id="18" name="Text 16"/>
          <p:cNvSpPr/>
          <p:nvPr/>
        </p:nvSpPr>
        <p:spPr>
          <a:xfrm>
            <a:off x="594360" y="3611880"/>
            <a:ext cx="548640" cy="182880"/>
          </a:xfrm>
          <a:prstGeom prst="rect">
            <a:avLst/>
          </a:prstGeom>
          <a:noFill/>
          <a:ln/>
        </p:spPr>
        <p:txBody>
          <a:bodyPr wrap="square" lIns="0" tIns="0" rIns="0" bIns="0" rtlCol="0" anchor="ctr"/>
          <a:lstStyle/>
          <a:p>
            <a:pPr indent="0" marL="0">
              <a:buNone/>
            </a:pPr>
            <a:r>
              <a:rPr lang="en-US" sz="900" b="1" dirty="0">
                <a:solidFill>
                  <a:srgbClr val="E07B39"/>
                </a:solidFill>
                <a:latin typeface="Calibri" pitchFamily="34" charset="0"/>
                <a:ea typeface="Calibri" pitchFamily="34" charset="-122"/>
                <a:cs typeface="Calibri" pitchFamily="34" charset="-120"/>
              </a:rPr>
              <a:t>Weak</a:t>
            </a:r>
            <a:endParaRPr lang="en-US" sz="900" dirty="0"/>
          </a:p>
        </p:txBody>
      </p:sp>
      <p:sp>
        <p:nvSpPr>
          <p:cNvPr id="19" name="Text 17"/>
          <p:cNvSpPr/>
          <p:nvPr/>
        </p:nvSpPr>
        <p:spPr>
          <a:xfrm>
            <a:off x="594360" y="3813048"/>
            <a:ext cx="3566160" cy="804672"/>
          </a:xfrm>
          <a:prstGeom prst="rect">
            <a:avLst/>
          </a:prstGeom>
          <a:noFill/>
          <a:ln/>
        </p:spPr>
        <p:txBody>
          <a:bodyPr wrap="square" rtlCol="0" anchor="ctr"/>
          <a:lstStyle/>
          <a:p>
            <a:pPr indent="0" marL="0">
              <a:buNone/>
            </a:pPr>
            <a:r>
              <a:rPr lang="en-US" sz="1150" i="1" dirty="0">
                <a:solidFill>
                  <a:srgbClr val="1A1A2E"/>
                </a:solidFill>
                <a:latin typeface="Calibri" pitchFamily="34" charset="0"/>
                <a:ea typeface="Calibri" pitchFamily="34" charset="-122"/>
                <a:cs typeface="Calibri" pitchFamily="34" charset="-120"/>
              </a:rPr>
              <a:t>Help me prepare for my meeting.</a:t>
            </a:r>
            <a:endParaRPr lang="en-US" sz="1150" dirty="0"/>
          </a:p>
        </p:txBody>
      </p:sp>
      <p:sp>
        <p:nvSpPr>
          <p:cNvPr id="20" name="Shape 18"/>
          <p:cNvSpPr/>
          <p:nvPr/>
        </p:nvSpPr>
        <p:spPr>
          <a:xfrm>
            <a:off x="4572000" y="3584448"/>
            <a:ext cx="4114800" cy="1243584"/>
          </a:xfrm>
          <a:prstGeom prst="rect">
            <a:avLst/>
          </a:prstGeom>
          <a:solidFill>
            <a:srgbClr val="ECFDF5"/>
          </a:solidFill>
          <a:ln w="12700">
            <a:solidFill>
              <a:srgbClr val="1D6F42"/>
            </a:solidFill>
            <a:prstDash val="solid"/>
          </a:ln>
        </p:spPr>
      </p:sp>
      <p:sp>
        <p:nvSpPr>
          <p:cNvPr id="21" name="Shape 19"/>
          <p:cNvSpPr/>
          <p:nvPr/>
        </p:nvSpPr>
        <p:spPr>
          <a:xfrm>
            <a:off x="4572000" y="3584448"/>
            <a:ext cx="73152" cy="1243584"/>
          </a:xfrm>
          <a:prstGeom prst="rect">
            <a:avLst/>
          </a:prstGeom>
          <a:solidFill>
            <a:srgbClr val="1D6F42"/>
          </a:solidFill>
          <a:ln w="12700">
            <a:solidFill>
              <a:srgbClr val="1D6F42"/>
            </a:solidFill>
            <a:prstDash val="solid"/>
          </a:ln>
        </p:spPr>
      </p:sp>
      <p:sp>
        <p:nvSpPr>
          <p:cNvPr id="22" name="Text 20"/>
          <p:cNvSpPr/>
          <p:nvPr/>
        </p:nvSpPr>
        <p:spPr>
          <a:xfrm>
            <a:off x="4709160" y="3611880"/>
            <a:ext cx="640080" cy="182880"/>
          </a:xfrm>
          <a:prstGeom prst="rect">
            <a:avLst/>
          </a:prstGeom>
          <a:noFill/>
          <a:ln/>
        </p:spPr>
        <p:txBody>
          <a:bodyPr wrap="square" lIns="0" tIns="0" rIns="0" bIns="0" rtlCol="0" anchor="ctr"/>
          <a:lstStyle/>
          <a:p>
            <a:pPr indent="0" marL="0">
              <a:buNone/>
            </a:pPr>
            <a:r>
              <a:rPr lang="en-US" sz="900" b="1" dirty="0">
                <a:solidFill>
                  <a:srgbClr val="1D6F42"/>
                </a:solidFill>
                <a:latin typeface="Calibri" pitchFamily="34" charset="0"/>
                <a:ea typeface="Calibri" pitchFamily="34" charset="-122"/>
                <a:cs typeface="Calibri" pitchFamily="34" charset="-120"/>
              </a:rPr>
              <a:t>Strong</a:t>
            </a:r>
            <a:endParaRPr lang="en-US" sz="900" dirty="0"/>
          </a:p>
        </p:txBody>
      </p:sp>
      <p:sp>
        <p:nvSpPr>
          <p:cNvPr id="23" name="Text 21"/>
          <p:cNvSpPr/>
          <p:nvPr/>
        </p:nvSpPr>
        <p:spPr>
          <a:xfrm>
            <a:off x="4709160" y="3813048"/>
            <a:ext cx="3858768" cy="804672"/>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I have a 30-minute meeting tomorrow with my department head to present the AI Usage Guideline for approval. Prepare 5 talking points I should cover, 3 objections she might raise, and a suggested response for each objection. My department head is detail-oriented and will focus on compliance and risk.</a:t>
            </a:r>
            <a:endParaRPr lang="en-US" sz="1050" dirty="0"/>
          </a:p>
        </p:txBody>
      </p:sp>
      <p:sp>
        <p:nvSpPr>
          <p:cNvPr id="24" name="Text 22"/>
          <p:cNvSpPr/>
          <p:nvPr/>
        </p:nvSpPr>
        <p:spPr>
          <a:xfrm>
            <a:off x="8595360" y="4754880"/>
            <a:ext cx="365760" cy="228600"/>
          </a:xfrm>
          <a:prstGeom prst="rect">
            <a:avLst/>
          </a:prstGeom>
          <a:noFill/>
          <a:ln/>
        </p:spPr>
        <p:txBody>
          <a:bodyPr wrap="square"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57200" y="164592"/>
            <a:ext cx="2286000" cy="256032"/>
          </a:xfrm>
          <a:prstGeom prst="rect">
            <a:avLst/>
          </a:prstGeom>
          <a:solidFill>
            <a:srgbClr val="028090"/>
          </a:solidFill>
          <a:ln w="12700">
            <a:solidFill>
              <a:srgbClr val="028090"/>
            </a:solidFill>
            <a:prstDash val="solid"/>
          </a:ln>
        </p:spPr>
      </p:sp>
      <p:sp>
        <p:nvSpPr>
          <p:cNvPr id="3" name="Text 1"/>
          <p:cNvSpPr/>
          <p:nvPr/>
        </p:nvSpPr>
        <p:spPr>
          <a:xfrm>
            <a:off x="457200" y="164592"/>
            <a:ext cx="228600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PROMPTING IN M365 APPS</a:t>
            </a:r>
            <a:endParaRPr lang="en-US" sz="900" dirty="0"/>
          </a:p>
        </p:txBody>
      </p:sp>
      <p:sp>
        <p:nvSpPr>
          <p:cNvPr id="4" name="Text 2"/>
          <p:cNvSpPr/>
          <p:nvPr/>
        </p:nvSpPr>
        <p:spPr>
          <a:xfrm>
            <a:off x="457200" y="530352"/>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Trebuchet MS" pitchFamily="34" charset="0"/>
                <a:ea typeface="Trebuchet MS" pitchFamily="34" charset="-122"/>
                <a:cs typeface="Trebuchet MS" pitchFamily="34" charset="-120"/>
              </a:rPr>
              <a:t>Location Changes How You Prompt</a:t>
            </a:r>
            <a:endParaRPr lang="en-US" sz="2800" dirty="0"/>
          </a:p>
        </p:txBody>
      </p:sp>
      <p:sp>
        <p:nvSpPr>
          <p:cNvPr id="5" name="Text 3"/>
          <p:cNvSpPr/>
          <p:nvPr/>
        </p:nvSpPr>
        <p:spPr>
          <a:xfrm>
            <a:off x="457200" y="1078992"/>
            <a:ext cx="8229600" cy="320040"/>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In M365 apps, Copilot already has context — your prompts can be shorter and more direct</a:t>
            </a:r>
            <a:endParaRPr lang="en-US" sz="1400" dirty="0"/>
          </a:p>
        </p:txBody>
      </p:sp>
      <p:sp>
        <p:nvSpPr>
          <p:cNvPr id="6" name="Shape 4"/>
          <p:cNvSpPr/>
          <p:nvPr/>
        </p:nvSpPr>
        <p:spPr>
          <a:xfrm>
            <a:off x="457200" y="1536192"/>
            <a:ext cx="2011680" cy="292608"/>
          </a:xfrm>
          <a:prstGeom prst="rect">
            <a:avLst/>
          </a:prstGeom>
          <a:solidFill>
            <a:srgbClr val="1E2761"/>
          </a:solidFill>
          <a:ln w="12700">
            <a:solidFill>
              <a:srgbClr val="1E2761"/>
            </a:solidFill>
            <a:prstDash val="solid"/>
          </a:ln>
        </p:spPr>
      </p:sp>
      <p:sp>
        <p:nvSpPr>
          <p:cNvPr id="7" name="Shape 5"/>
          <p:cNvSpPr/>
          <p:nvPr/>
        </p:nvSpPr>
        <p:spPr>
          <a:xfrm>
            <a:off x="2542032" y="1536192"/>
            <a:ext cx="3017520" cy="292608"/>
          </a:xfrm>
          <a:prstGeom prst="rect">
            <a:avLst/>
          </a:prstGeom>
          <a:solidFill>
            <a:srgbClr val="1E2761"/>
          </a:solidFill>
          <a:ln w="12700">
            <a:solidFill>
              <a:srgbClr val="1E2761"/>
            </a:solidFill>
            <a:prstDash val="solid"/>
          </a:ln>
        </p:spPr>
      </p:sp>
      <p:sp>
        <p:nvSpPr>
          <p:cNvPr id="8" name="Shape 6"/>
          <p:cNvSpPr/>
          <p:nvPr/>
        </p:nvSpPr>
        <p:spPr>
          <a:xfrm>
            <a:off x="5632704" y="1536192"/>
            <a:ext cx="3054096" cy="292608"/>
          </a:xfrm>
          <a:prstGeom prst="rect">
            <a:avLst/>
          </a:prstGeom>
          <a:solidFill>
            <a:srgbClr val="1E2761"/>
          </a:solidFill>
          <a:ln w="12700">
            <a:solidFill>
              <a:srgbClr val="1E2761"/>
            </a:solidFill>
            <a:prstDash val="solid"/>
          </a:ln>
        </p:spPr>
      </p:sp>
      <p:sp>
        <p:nvSpPr>
          <p:cNvPr id="9" name="Text 7"/>
          <p:cNvSpPr/>
          <p:nvPr/>
        </p:nvSpPr>
        <p:spPr>
          <a:xfrm>
            <a:off x="566928" y="1554480"/>
            <a:ext cx="1828800" cy="256032"/>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App</a:t>
            </a:r>
            <a:endParaRPr lang="en-US" sz="1100" dirty="0"/>
          </a:p>
        </p:txBody>
      </p:sp>
      <p:sp>
        <p:nvSpPr>
          <p:cNvPr id="10" name="Text 8"/>
          <p:cNvSpPr/>
          <p:nvPr/>
        </p:nvSpPr>
        <p:spPr>
          <a:xfrm>
            <a:off x="2651760" y="1554480"/>
            <a:ext cx="2834640" cy="256032"/>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What context Copilot already has</a:t>
            </a:r>
            <a:endParaRPr lang="en-US" sz="1100" dirty="0"/>
          </a:p>
        </p:txBody>
      </p:sp>
      <p:sp>
        <p:nvSpPr>
          <p:cNvPr id="11" name="Text 9"/>
          <p:cNvSpPr/>
          <p:nvPr/>
        </p:nvSpPr>
        <p:spPr>
          <a:xfrm>
            <a:off x="5742432" y="1554480"/>
            <a:ext cx="2834640" cy="256032"/>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Best for</a:t>
            </a:r>
            <a:endParaRPr lang="en-US" sz="1100" dirty="0"/>
          </a:p>
        </p:txBody>
      </p:sp>
      <p:sp>
        <p:nvSpPr>
          <p:cNvPr id="12" name="Shape 10"/>
          <p:cNvSpPr/>
          <p:nvPr/>
        </p:nvSpPr>
        <p:spPr>
          <a:xfrm>
            <a:off x="457200" y="1901952"/>
            <a:ext cx="8229600" cy="512064"/>
          </a:xfrm>
          <a:prstGeom prst="rect">
            <a:avLst/>
          </a:prstGeom>
          <a:solidFill>
            <a:srgbClr val="F7F9FC"/>
          </a:solidFill>
          <a:ln w="12700">
            <a:solidFill>
              <a:srgbClr val="E5E7EB"/>
            </a:solidFill>
            <a:prstDash val="solid"/>
          </a:ln>
        </p:spPr>
      </p:sp>
      <p:sp>
        <p:nvSpPr>
          <p:cNvPr id="13" name="Shape 11"/>
          <p:cNvSpPr/>
          <p:nvPr/>
        </p:nvSpPr>
        <p:spPr>
          <a:xfrm>
            <a:off x="530352" y="1993392"/>
            <a:ext cx="1371600" cy="274320"/>
          </a:xfrm>
          <a:prstGeom prst="rect">
            <a:avLst/>
          </a:prstGeom>
          <a:solidFill>
            <a:srgbClr val="028090"/>
          </a:solidFill>
          <a:ln w="12700">
            <a:solidFill>
              <a:srgbClr val="028090"/>
            </a:solidFill>
            <a:prstDash val="solid"/>
          </a:ln>
        </p:spPr>
      </p:sp>
      <p:sp>
        <p:nvSpPr>
          <p:cNvPr id="14" name="Text 12"/>
          <p:cNvSpPr/>
          <p:nvPr/>
        </p:nvSpPr>
        <p:spPr>
          <a:xfrm>
            <a:off x="530352" y="1993392"/>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Copilot Chat</a:t>
            </a:r>
            <a:endParaRPr lang="en-US" sz="1000" dirty="0"/>
          </a:p>
        </p:txBody>
      </p:sp>
      <p:sp>
        <p:nvSpPr>
          <p:cNvPr id="15" name="Text 13"/>
          <p:cNvSpPr/>
          <p:nvPr/>
        </p:nvSpPr>
        <p:spPr>
          <a:xfrm>
            <a:off x="2651760" y="1956816"/>
            <a:ext cx="2834640" cy="402336"/>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You provide all context in the chat</a:t>
            </a:r>
            <a:endParaRPr lang="en-US" sz="1050" dirty="0"/>
          </a:p>
        </p:txBody>
      </p:sp>
      <p:sp>
        <p:nvSpPr>
          <p:cNvPr id="16" name="Text 14"/>
          <p:cNvSpPr/>
          <p:nvPr/>
        </p:nvSpPr>
        <p:spPr>
          <a:xfrm>
            <a:off x="5742432" y="1956816"/>
            <a:ext cx="2834640" cy="402336"/>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Research, drafting from scratch, multi-turn tasks</a:t>
            </a:r>
            <a:endParaRPr lang="en-US" sz="1050" dirty="0"/>
          </a:p>
        </p:txBody>
      </p:sp>
      <p:sp>
        <p:nvSpPr>
          <p:cNvPr id="17" name="Shape 15"/>
          <p:cNvSpPr/>
          <p:nvPr/>
        </p:nvSpPr>
        <p:spPr>
          <a:xfrm>
            <a:off x="457200" y="2468880"/>
            <a:ext cx="8229600" cy="512064"/>
          </a:xfrm>
          <a:prstGeom prst="rect">
            <a:avLst/>
          </a:prstGeom>
          <a:solidFill>
            <a:srgbClr val="FFFFFF"/>
          </a:solidFill>
          <a:ln w="12700">
            <a:solidFill>
              <a:srgbClr val="E5E7EB"/>
            </a:solidFill>
            <a:prstDash val="solid"/>
          </a:ln>
        </p:spPr>
      </p:sp>
      <p:sp>
        <p:nvSpPr>
          <p:cNvPr id="18" name="Shape 16"/>
          <p:cNvSpPr/>
          <p:nvPr/>
        </p:nvSpPr>
        <p:spPr>
          <a:xfrm>
            <a:off x="530352" y="2560320"/>
            <a:ext cx="1371600" cy="274320"/>
          </a:xfrm>
          <a:prstGeom prst="rect">
            <a:avLst/>
          </a:prstGeom>
          <a:solidFill>
            <a:srgbClr val="1E2761"/>
          </a:solidFill>
          <a:ln w="12700">
            <a:solidFill>
              <a:srgbClr val="1E2761"/>
            </a:solidFill>
            <a:prstDash val="solid"/>
          </a:ln>
        </p:spPr>
      </p:sp>
      <p:sp>
        <p:nvSpPr>
          <p:cNvPr id="19" name="Text 17"/>
          <p:cNvSpPr/>
          <p:nvPr/>
        </p:nvSpPr>
        <p:spPr>
          <a:xfrm>
            <a:off x="530352" y="256032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Word</a:t>
            </a:r>
            <a:endParaRPr lang="en-US" sz="1000" dirty="0"/>
          </a:p>
        </p:txBody>
      </p:sp>
      <p:sp>
        <p:nvSpPr>
          <p:cNvPr id="20" name="Text 18"/>
          <p:cNvSpPr/>
          <p:nvPr/>
        </p:nvSpPr>
        <p:spPr>
          <a:xfrm>
            <a:off x="2651760" y="2523744"/>
            <a:ext cx="2834640" cy="402336"/>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Has the open document — reference with /</a:t>
            </a:r>
            <a:endParaRPr lang="en-US" sz="1050" dirty="0"/>
          </a:p>
        </p:txBody>
      </p:sp>
      <p:sp>
        <p:nvSpPr>
          <p:cNvPr id="21" name="Text 19"/>
          <p:cNvSpPr/>
          <p:nvPr/>
        </p:nvSpPr>
        <p:spPr>
          <a:xfrm>
            <a:off x="5742432" y="2523744"/>
            <a:ext cx="2834640" cy="402336"/>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Rewriting, summarising, reformatting existing content</a:t>
            </a:r>
            <a:endParaRPr lang="en-US" sz="1050" dirty="0"/>
          </a:p>
        </p:txBody>
      </p:sp>
      <p:sp>
        <p:nvSpPr>
          <p:cNvPr id="22" name="Shape 20"/>
          <p:cNvSpPr/>
          <p:nvPr/>
        </p:nvSpPr>
        <p:spPr>
          <a:xfrm>
            <a:off x="457200" y="3035808"/>
            <a:ext cx="8229600" cy="512064"/>
          </a:xfrm>
          <a:prstGeom prst="rect">
            <a:avLst/>
          </a:prstGeom>
          <a:solidFill>
            <a:srgbClr val="F7F9FC"/>
          </a:solidFill>
          <a:ln w="12700">
            <a:solidFill>
              <a:srgbClr val="E5E7EB"/>
            </a:solidFill>
            <a:prstDash val="solid"/>
          </a:ln>
        </p:spPr>
      </p:sp>
      <p:sp>
        <p:nvSpPr>
          <p:cNvPr id="23" name="Shape 21"/>
          <p:cNvSpPr/>
          <p:nvPr/>
        </p:nvSpPr>
        <p:spPr>
          <a:xfrm>
            <a:off x="530352" y="3127248"/>
            <a:ext cx="1371600" cy="274320"/>
          </a:xfrm>
          <a:prstGeom prst="rect">
            <a:avLst/>
          </a:prstGeom>
          <a:solidFill>
            <a:srgbClr val="0078D4"/>
          </a:solidFill>
          <a:ln w="12700">
            <a:solidFill>
              <a:srgbClr val="0078D4"/>
            </a:solidFill>
            <a:prstDash val="solid"/>
          </a:ln>
        </p:spPr>
      </p:sp>
      <p:sp>
        <p:nvSpPr>
          <p:cNvPr id="24" name="Text 22"/>
          <p:cNvSpPr/>
          <p:nvPr/>
        </p:nvSpPr>
        <p:spPr>
          <a:xfrm>
            <a:off x="530352" y="312724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Outlook</a:t>
            </a:r>
            <a:endParaRPr lang="en-US" sz="1000" dirty="0"/>
          </a:p>
        </p:txBody>
      </p:sp>
      <p:sp>
        <p:nvSpPr>
          <p:cNvPr id="25" name="Text 23"/>
          <p:cNvSpPr/>
          <p:nvPr/>
        </p:nvSpPr>
        <p:spPr>
          <a:xfrm>
            <a:off x="2651760" y="3090672"/>
            <a:ext cx="2834640" cy="402336"/>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Sees the email thread you have open</a:t>
            </a:r>
            <a:endParaRPr lang="en-US" sz="1050" dirty="0"/>
          </a:p>
        </p:txBody>
      </p:sp>
      <p:sp>
        <p:nvSpPr>
          <p:cNvPr id="26" name="Text 24"/>
          <p:cNvSpPr/>
          <p:nvPr/>
        </p:nvSpPr>
        <p:spPr>
          <a:xfrm>
            <a:off x="5742432" y="3090672"/>
            <a:ext cx="2834640" cy="402336"/>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Drafting replies, summarising threads, adjusting tone</a:t>
            </a:r>
            <a:endParaRPr lang="en-US" sz="1050" dirty="0"/>
          </a:p>
        </p:txBody>
      </p:sp>
      <p:sp>
        <p:nvSpPr>
          <p:cNvPr id="27" name="Shape 25"/>
          <p:cNvSpPr/>
          <p:nvPr/>
        </p:nvSpPr>
        <p:spPr>
          <a:xfrm>
            <a:off x="457200" y="3602736"/>
            <a:ext cx="8229600" cy="512064"/>
          </a:xfrm>
          <a:prstGeom prst="rect">
            <a:avLst/>
          </a:prstGeom>
          <a:solidFill>
            <a:srgbClr val="FFFFFF"/>
          </a:solidFill>
          <a:ln w="12700">
            <a:solidFill>
              <a:srgbClr val="E5E7EB"/>
            </a:solidFill>
            <a:prstDash val="solid"/>
          </a:ln>
        </p:spPr>
      </p:sp>
      <p:sp>
        <p:nvSpPr>
          <p:cNvPr id="28" name="Shape 26"/>
          <p:cNvSpPr/>
          <p:nvPr/>
        </p:nvSpPr>
        <p:spPr>
          <a:xfrm>
            <a:off x="530352" y="3694176"/>
            <a:ext cx="1371600" cy="274320"/>
          </a:xfrm>
          <a:prstGeom prst="rect">
            <a:avLst/>
          </a:prstGeom>
          <a:solidFill>
            <a:srgbClr val="1D6F42"/>
          </a:solidFill>
          <a:ln w="12700">
            <a:solidFill>
              <a:srgbClr val="1D6F42"/>
            </a:solidFill>
            <a:prstDash val="solid"/>
          </a:ln>
        </p:spPr>
      </p:sp>
      <p:sp>
        <p:nvSpPr>
          <p:cNvPr id="29" name="Text 27"/>
          <p:cNvSpPr/>
          <p:nvPr/>
        </p:nvSpPr>
        <p:spPr>
          <a:xfrm>
            <a:off x="530352" y="3694176"/>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Excel</a:t>
            </a:r>
            <a:endParaRPr lang="en-US" sz="1000" dirty="0"/>
          </a:p>
        </p:txBody>
      </p:sp>
      <p:sp>
        <p:nvSpPr>
          <p:cNvPr id="30" name="Text 28"/>
          <p:cNvSpPr/>
          <p:nvPr/>
        </p:nvSpPr>
        <p:spPr>
          <a:xfrm>
            <a:off x="2651760" y="3657600"/>
            <a:ext cx="2834640" cy="402336"/>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Reads the active table or data range</a:t>
            </a:r>
            <a:endParaRPr lang="en-US" sz="1050" dirty="0"/>
          </a:p>
        </p:txBody>
      </p:sp>
      <p:sp>
        <p:nvSpPr>
          <p:cNvPr id="31" name="Text 29"/>
          <p:cNvSpPr/>
          <p:nvPr/>
        </p:nvSpPr>
        <p:spPr>
          <a:xfrm>
            <a:off x="5742432" y="3657600"/>
            <a:ext cx="2834640" cy="402336"/>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Analysing data, creating charts, writing formulas</a:t>
            </a:r>
            <a:endParaRPr lang="en-US" sz="1050" dirty="0"/>
          </a:p>
        </p:txBody>
      </p:sp>
      <p:sp>
        <p:nvSpPr>
          <p:cNvPr id="32" name="Shape 30"/>
          <p:cNvSpPr/>
          <p:nvPr/>
        </p:nvSpPr>
        <p:spPr>
          <a:xfrm>
            <a:off x="457200" y="4169664"/>
            <a:ext cx="8229600" cy="512064"/>
          </a:xfrm>
          <a:prstGeom prst="rect">
            <a:avLst/>
          </a:prstGeom>
          <a:solidFill>
            <a:srgbClr val="F7F9FC"/>
          </a:solidFill>
          <a:ln w="12700">
            <a:solidFill>
              <a:srgbClr val="E5E7EB"/>
            </a:solidFill>
            <a:prstDash val="solid"/>
          </a:ln>
        </p:spPr>
      </p:sp>
      <p:sp>
        <p:nvSpPr>
          <p:cNvPr id="33" name="Shape 31"/>
          <p:cNvSpPr/>
          <p:nvPr/>
        </p:nvSpPr>
        <p:spPr>
          <a:xfrm>
            <a:off x="530352" y="4261104"/>
            <a:ext cx="1371600" cy="274320"/>
          </a:xfrm>
          <a:prstGeom prst="rect">
            <a:avLst/>
          </a:prstGeom>
          <a:solidFill>
            <a:srgbClr val="C43E1C"/>
          </a:solidFill>
          <a:ln w="12700">
            <a:solidFill>
              <a:srgbClr val="C43E1C"/>
            </a:solidFill>
            <a:prstDash val="solid"/>
          </a:ln>
        </p:spPr>
      </p:sp>
      <p:sp>
        <p:nvSpPr>
          <p:cNvPr id="34" name="Text 32"/>
          <p:cNvSpPr/>
          <p:nvPr/>
        </p:nvSpPr>
        <p:spPr>
          <a:xfrm>
            <a:off x="530352" y="4261104"/>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PowerPoint</a:t>
            </a:r>
            <a:endParaRPr lang="en-US" sz="1000" dirty="0"/>
          </a:p>
        </p:txBody>
      </p:sp>
      <p:sp>
        <p:nvSpPr>
          <p:cNvPr id="35" name="Text 33"/>
          <p:cNvSpPr/>
          <p:nvPr/>
        </p:nvSpPr>
        <p:spPr>
          <a:xfrm>
            <a:off x="2651760" y="4224528"/>
            <a:ext cx="2834640" cy="402336"/>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References a Word doc via Create from file</a:t>
            </a:r>
            <a:endParaRPr lang="en-US" sz="1050" dirty="0"/>
          </a:p>
        </p:txBody>
      </p:sp>
      <p:sp>
        <p:nvSpPr>
          <p:cNvPr id="36" name="Text 34"/>
          <p:cNvSpPr/>
          <p:nvPr/>
        </p:nvSpPr>
        <p:spPr>
          <a:xfrm>
            <a:off x="5742432" y="4224528"/>
            <a:ext cx="2834640" cy="402336"/>
          </a:xfrm>
          <a:prstGeom prst="rect">
            <a:avLst/>
          </a:prstGeom>
          <a:noFill/>
          <a:ln/>
        </p:spPr>
        <p:txBody>
          <a:bodyPr wrap="square" rtlCol="0" anchor="ctr"/>
          <a:lstStyle/>
          <a:p>
            <a:pPr indent="0" marL="0">
              <a:buNone/>
            </a:pPr>
            <a:r>
              <a:rPr lang="en-US" sz="1050" dirty="0">
                <a:solidFill>
                  <a:srgbClr val="4A5568"/>
                </a:solidFill>
                <a:latin typeface="Calibri" pitchFamily="34" charset="0"/>
                <a:ea typeface="Calibri" pitchFamily="34" charset="-122"/>
                <a:cs typeface="Calibri" pitchFamily="34" charset="-120"/>
              </a:rPr>
              <a:t>Building slide decks from existing documents</a:t>
            </a:r>
            <a:endParaRPr lang="en-US" sz="1050" dirty="0"/>
          </a:p>
        </p:txBody>
      </p:sp>
      <p:sp>
        <p:nvSpPr>
          <p:cNvPr id="37" name="Shape 35"/>
          <p:cNvSpPr/>
          <p:nvPr/>
        </p:nvSpPr>
        <p:spPr>
          <a:xfrm>
            <a:off x="457200" y="4736592"/>
            <a:ext cx="8229600" cy="237744"/>
          </a:xfrm>
          <a:prstGeom prst="rect">
            <a:avLst/>
          </a:prstGeom>
          <a:solidFill>
            <a:srgbClr val="E0F4F7"/>
          </a:solidFill>
          <a:ln w="12700">
            <a:solidFill>
              <a:srgbClr val="028090"/>
            </a:solidFill>
            <a:prstDash val="solid"/>
          </a:ln>
        </p:spPr>
      </p:sp>
      <p:sp>
        <p:nvSpPr>
          <p:cNvPr id="38" name="Text 36"/>
          <p:cNvSpPr/>
          <p:nvPr/>
        </p:nvSpPr>
        <p:spPr>
          <a:xfrm>
            <a:off x="594360" y="4754880"/>
            <a:ext cx="7955280" cy="201168"/>
          </a:xfrm>
          <a:prstGeom prst="rect">
            <a:avLst/>
          </a:prstGeom>
          <a:noFill/>
          <a:ln/>
        </p:spPr>
        <p:txBody>
          <a:bodyPr wrap="square" lIns="0" tIns="0" rIns="0" bIns="0" rtlCol="0" anchor="ctr"/>
          <a:lstStyle/>
          <a:p>
            <a:pPr indent="0" marL="0">
              <a:buNone/>
            </a:pPr>
            <a:r>
              <a:rPr lang="en-US" sz="1100" b="1" i="1" dirty="0">
                <a:solidFill>
                  <a:srgbClr val="028090"/>
                </a:solidFill>
                <a:latin typeface="Calibri" pitchFamily="34" charset="0"/>
                <a:ea typeface="Calibri" pitchFamily="34" charset="-122"/>
                <a:cs typeface="Calibri" pitchFamily="34" charset="-120"/>
              </a:rPr>
              <a:t>Key point: In M365 apps, Copilot already sees the document — your prompt can be shorter and more direct.</a:t>
            </a:r>
            <a:endParaRPr lang="en-US" sz="1100" dirty="0"/>
          </a:p>
        </p:txBody>
      </p:sp>
      <p:sp>
        <p:nvSpPr>
          <p:cNvPr id="39" name="Text 37"/>
          <p:cNvSpPr/>
          <p:nvPr/>
        </p:nvSpPr>
        <p:spPr>
          <a:xfrm>
            <a:off x="8595360" y="4754880"/>
            <a:ext cx="365760" cy="228600"/>
          </a:xfrm>
          <a:prstGeom prst="rect">
            <a:avLst/>
          </a:prstGeom>
          <a:noFill/>
          <a:ln/>
        </p:spPr>
        <p:txBody>
          <a:bodyPr wrap="square"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57200" y="164592"/>
            <a:ext cx="2286000" cy="256032"/>
          </a:xfrm>
          <a:prstGeom prst="rect">
            <a:avLst/>
          </a:prstGeom>
          <a:solidFill>
            <a:srgbClr val="028090"/>
          </a:solidFill>
          <a:ln w="12700">
            <a:solidFill>
              <a:srgbClr val="028090"/>
            </a:solidFill>
            <a:prstDash val="solid"/>
          </a:ln>
        </p:spPr>
      </p:sp>
      <p:sp>
        <p:nvSpPr>
          <p:cNvPr id="3" name="Text 1"/>
          <p:cNvSpPr/>
          <p:nvPr/>
        </p:nvSpPr>
        <p:spPr>
          <a:xfrm>
            <a:off x="457200" y="164592"/>
            <a:ext cx="228600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PROMPTING IN M365 APPS</a:t>
            </a:r>
            <a:endParaRPr lang="en-US" sz="900" dirty="0"/>
          </a:p>
        </p:txBody>
      </p:sp>
      <p:sp>
        <p:nvSpPr>
          <p:cNvPr id="4" name="Text 2"/>
          <p:cNvSpPr/>
          <p:nvPr/>
        </p:nvSpPr>
        <p:spPr>
          <a:xfrm>
            <a:off x="457200" y="530352"/>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Trebuchet MS" pitchFamily="34" charset="0"/>
                <a:ea typeface="Trebuchet MS" pitchFamily="34" charset="-122"/>
                <a:cs typeface="Trebuchet MS" pitchFamily="34" charset="-120"/>
              </a:rPr>
              <a:t>Same Task, Different Location, Different Prompt Length</a:t>
            </a:r>
            <a:endParaRPr lang="en-US" sz="2800" dirty="0"/>
          </a:p>
        </p:txBody>
      </p:sp>
      <p:sp>
        <p:nvSpPr>
          <p:cNvPr id="5" name="Shape 3"/>
          <p:cNvSpPr/>
          <p:nvPr/>
        </p:nvSpPr>
        <p:spPr>
          <a:xfrm>
            <a:off x="457200" y="1417320"/>
            <a:ext cx="8229600" cy="22860"/>
          </a:xfrm>
          <a:prstGeom prst="rect">
            <a:avLst/>
          </a:prstGeom>
          <a:solidFill>
            <a:srgbClr val="CADCFC"/>
          </a:solidFill>
          <a:ln w="12700">
            <a:solidFill>
              <a:srgbClr val="CADCFC"/>
            </a:solidFill>
            <a:prstDash val="solid"/>
          </a:ln>
        </p:spPr>
      </p:sp>
      <p:sp>
        <p:nvSpPr>
          <p:cNvPr id="6" name="Shape 4"/>
          <p:cNvSpPr/>
          <p:nvPr/>
        </p:nvSpPr>
        <p:spPr>
          <a:xfrm>
            <a:off x="457200" y="1572768"/>
            <a:ext cx="3931920" cy="2468880"/>
          </a:xfrm>
          <a:prstGeom prst="rect">
            <a:avLst/>
          </a:prstGeom>
          <a:solidFill>
            <a:srgbClr val="FFFFFF"/>
          </a:solidFill>
          <a:ln w="12700">
            <a:solidFill>
              <a:srgbClr val="E5E7EB"/>
            </a:solidFill>
            <a:prstDash val="solid"/>
          </a:ln>
          <a:effectLst>
            <a:outerShdw sx="100000" sy="100000" kx="0" ky="0" algn="bl" rotWithShape="0" blurRad="50800" dist="12700" dir="8100000">
              <a:srgbClr val="000000">
                <a:alpha val="7000"/>
              </a:srgbClr>
            </a:outerShdw>
          </a:effectLst>
        </p:spPr>
      </p:sp>
      <p:sp>
        <p:nvSpPr>
          <p:cNvPr id="7" name="Shape 5"/>
          <p:cNvSpPr/>
          <p:nvPr/>
        </p:nvSpPr>
        <p:spPr>
          <a:xfrm>
            <a:off x="457200" y="1572768"/>
            <a:ext cx="3931920" cy="384048"/>
          </a:xfrm>
          <a:prstGeom prst="rect">
            <a:avLst/>
          </a:prstGeom>
          <a:solidFill>
            <a:srgbClr val="028090"/>
          </a:solidFill>
          <a:ln w="12700">
            <a:solidFill>
              <a:srgbClr val="028090"/>
            </a:solidFill>
            <a:prstDash val="solid"/>
          </a:ln>
        </p:spPr>
      </p:sp>
      <p:sp>
        <p:nvSpPr>
          <p:cNvPr id="8" name="Text 6"/>
          <p:cNvSpPr/>
          <p:nvPr/>
        </p:nvSpPr>
        <p:spPr>
          <a:xfrm>
            <a:off x="566928" y="1591056"/>
            <a:ext cx="3749040" cy="347472"/>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In Copilot Chat</a:t>
            </a:r>
            <a:endParaRPr lang="en-US" sz="1400" dirty="0"/>
          </a:p>
        </p:txBody>
      </p:sp>
      <p:sp>
        <p:nvSpPr>
          <p:cNvPr id="9" name="Text 7"/>
          <p:cNvSpPr/>
          <p:nvPr/>
        </p:nvSpPr>
        <p:spPr>
          <a:xfrm>
            <a:off x="566928" y="2029968"/>
            <a:ext cx="3712464" cy="329184"/>
          </a:xfrm>
          <a:prstGeom prst="rect">
            <a:avLst/>
          </a:prstGeom>
          <a:noFill/>
          <a:ln/>
        </p:spPr>
        <p:txBody>
          <a:bodyPr wrap="square" lIns="0" tIns="0" rIns="0" bIns="0" rtlCol="0" anchor="ctr"/>
          <a:lstStyle/>
          <a:p>
            <a:pPr indent="0" marL="0">
              <a:buNone/>
            </a:pPr>
            <a:r>
              <a:rPr lang="en-US" sz="1050" i="1" dirty="0">
                <a:solidFill>
                  <a:srgbClr val="4A5568"/>
                </a:solidFill>
                <a:latin typeface="Calibri" pitchFamily="34" charset="0"/>
                <a:ea typeface="Calibri" pitchFamily="34" charset="-122"/>
                <a:cs typeface="Calibri" pitchFamily="34" charset="-120"/>
              </a:rPr>
              <a:t>You must describe the document because Copilot cannot see it</a:t>
            </a:r>
            <a:endParaRPr lang="en-US" sz="1050" dirty="0"/>
          </a:p>
        </p:txBody>
      </p:sp>
      <p:sp>
        <p:nvSpPr>
          <p:cNvPr id="10" name="Shape 8"/>
          <p:cNvSpPr/>
          <p:nvPr/>
        </p:nvSpPr>
        <p:spPr>
          <a:xfrm>
            <a:off x="566928" y="2414016"/>
            <a:ext cx="3712464" cy="1481328"/>
          </a:xfrm>
          <a:prstGeom prst="rect">
            <a:avLst/>
          </a:prstGeom>
          <a:solidFill>
            <a:srgbClr val="F7F9FC"/>
          </a:solidFill>
          <a:ln w="12700">
            <a:solidFill>
              <a:srgbClr val="D1D5DB"/>
            </a:solidFill>
            <a:prstDash val="solid"/>
          </a:ln>
        </p:spPr>
      </p:sp>
      <p:sp>
        <p:nvSpPr>
          <p:cNvPr id="11" name="Text 9"/>
          <p:cNvSpPr/>
          <p:nvPr/>
        </p:nvSpPr>
        <p:spPr>
          <a:xfrm>
            <a:off x="676656" y="2468880"/>
            <a:ext cx="3493008" cy="13716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I have an AI Usage Guideline document. It has 7 sections including an introduction, approved tools, dos and don'ts, and a data privacy section. Suggest 3 ways I could make the Dos and Don'ts section clearer for non-technical readers.</a:t>
            </a:r>
            <a:endParaRPr lang="en-US" sz="1100" dirty="0"/>
          </a:p>
        </p:txBody>
      </p:sp>
      <p:sp>
        <p:nvSpPr>
          <p:cNvPr id="12" name="Shape 10"/>
          <p:cNvSpPr/>
          <p:nvPr/>
        </p:nvSpPr>
        <p:spPr>
          <a:xfrm>
            <a:off x="4754880" y="1572768"/>
            <a:ext cx="3931920" cy="2468880"/>
          </a:xfrm>
          <a:prstGeom prst="rect">
            <a:avLst/>
          </a:prstGeom>
          <a:solidFill>
            <a:srgbClr val="FFFFFF"/>
          </a:solidFill>
          <a:ln w="12700">
            <a:solidFill>
              <a:srgbClr val="E5E7EB"/>
            </a:solidFill>
            <a:prstDash val="solid"/>
          </a:ln>
          <a:effectLst>
            <a:outerShdw sx="100000" sy="100000" kx="0" ky="0" algn="bl" rotWithShape="0" blurRad="50800" dist="12700" dir="8100000">
              <a:srgbClr val="000000">
                <a:alpha val="7000"/>
              </a:srgbClr>
            </a:outerShdw>
          </a:effectLst>
        </p:spPr>
      </p:sp>
      <p:sp>
        <p:nvSpPr>
          <p:cNvPr id="13" name="Shape 11"/>
          <p:cNvSpPr/>
          <p:nvPr/>
        </p:nvSpPr>
        <p:spPr>
          <a:xfrm>
            <a:off x="4754880" y="1572768"/>
            <a:ext cx="3931920" cy="384048"/>
          </a:xfrm>
          <a:prstGeom prst="rect">
            <a:avLst/>
          </a:prstGeom>
          <a:solidFill>
            <a:srgbClr val="1E2761"/>
          </a:solidFill>
          <a:ln w="12700">
            <a:solidFill>
              <a:srgbClr val="1E2761"/>
            </a:solidFill>
            <a:prstDash val="solid"/>
          </a:ln>
        </p:spPr>
      </p:sp>
      <p:sp>
        <p:nvSpPr>
          <p:cNvPr id="14" name="Text 12"/>
          <p:cNvSpPr/>
          <p:nvPr/>
        </p:nvSpPr>
        <p:spPr>
          <a:xfrm>
            <a:off x="4864608" y="1591056"/>
            <a:ext cx="3712464" cy="347472"/>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In Copilot in Word</a:t>
            </a:r>
            <a:endParaRPr lang="en-US" sz="1400" dirty="0"/>
          </a:p>
        </p:txBody>
      </p:sp>
      <p:sp>
        <p:nvSpPr>
          <p:cNvPr id="15" name="Text 13"/>
          <p:cNvSpPr/>
          <p:nvPr/>
        </p:nvSpPr>
        <p:spPr>
          <a:xfrm>
            <a:off x="4864608" y="2029968"/>
            <a:ext cx="3712464" cy="329184"/>
          </a:xfrm>
          <a:prstGeom prst="rect">
            <a:avLst/>
          </a:prstGeom>
          <a:noFill/>
          <a:ln/>
        </p:spPr>
        <p:txBody>
          <a:bodyPr wrap="square" lIns="0" tIns="0" rIns="0" bIns="0" rtlCol="0" anchor="ctr"/>
          <a:lstStyle/>
          <a:p>
            <a:pPr indent="0" marL="0">
              <a:buNone/>
            </a:pPr>
            <a:r>
              <a:rPr lang="en-US" sz="1050" i="1" dirty="0">
                <a:solidFill>
                  <a:srgbClr val="4A5568"/>
                </a:solidFill>
                <a:latin typeface="Calibri" pitchFamily="34" charset="0"/>
                <a:ea typeface="Calibri" pitchFamily="34" charset="-122"/>
                <a:cs typeface="Calibri" pitchFamily="34" charset="-120"/>
              </a:rPr>
              <a:t>Copilot already sees the open document — no description needed</a:t>
            </a:r>
            <a:endParaRPr lang="en-US" sz="1050" dirty="0"/>
          </a:p>
        </p:txBody>
      </p:sp>
      <p:sp>
        <p:nvSpPr>
          <p:cNvPr id="16" name="Shape 14"/>
          <p:cNvSpPr/>
          <p:nvPr/>
        </p:nvSpPr>
        <p:spPr>
          <a:xfrm>
            <a:off x="4864608" y="2414016"/>
            <a:ext cx="3712464" cy="1481328"/>
          </a:xfrm>
          <a:prstGeom prst="rect">
            <a:avLst/>
          </a:prstGeom>
          <a:solidFill>
            <a:srgbClr val="F7F9FC"/>
          </a:solidFill>
          <a:ln w="12700">
            <a:solidFill>
              <a:srgbClr val="D1D5DB"/>
            </a:solidFill>
            <a:prstDash val="solid"/>
          </a:ln>
        </p:spPr>
      </p:sp>
      <p:sp>
        <p:nvSpPr>
          <p:cNvPr id="17" name="Text 15"/>
          <p:cNvSpPr/>
          <p:nvPr/>
        </p:nvSpPr>
        <p:spPr>
          <a:xfrm>
            <a:off x="4974336" y="2468880"/>
            <a:ext cx="3493008" cy="13716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Suggest 3 ways to make the Dos and Don'ts section clearer for non-technical readers.</a:t>
            </a:r>
            <a:endParaRPr lang="en-US" sz="1100" dirty="0"/>
          </a:p>
        </p:txBody>
      </p:sp>
      <p:sp>
        <p:nvSpPr>
          <p:cNvPr id="18" name="Shape 16"/>
          <p:cNvSpPr/>
          <p:nvPr/>
        </p:nvSpPr>
        <p:spPr>
          <a:xfrm>
            <a:off x="2926080" y="4206240"/>
            <a:ext cx="3291840" cy="292608"/>
          </a:xfrm>
          <a:prstGeom prst="rect">
            <a:avLst/>
          </a:prstGeom>
          <a:solidFill>
            <a:srgbClr val="02C39A"/>
          </a:solidFill>
          <a:ln w="12700">
            <a:solidFill>
              <a:srgbClr val="02C39A"/>
            </a:solidFill>
            <a:prstDash val="solid"/>
          </a:ln>
        </p:spPr>
      </p:sp>
      <p:sp>
        <p:nvSpPr>
          <p:cNvPr id="19" name="Text 17"/>
          <p:cNvSpPr/>
          <p:nvPr/>
        </p:nvSpPr>
        <p:spPr>
          <a:xfrm>
            <a:off x="2926080" y="4206240"/>
            <a:ext cx="32918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Same outcome — completely different prompt length</a:t>
            </a:r>
            <a:endParaRPr lang="en-US" sz="1100" dirty="0"/>
          </a:p>
        </p:txBody>
      </p:sp>
      <p:sp>
        <p:nvSpPr>
          <p:cNvPr id="20" name="Text 18"/>
          <p:cNvSpPr/>
          <p:nvPr/>
        </p:nvSpPr>
        <p:spPr>
          <a:xfrm>
            <a:off x="8595360" y="4754880"/>
            <a:ext cx="365760" cy="228600"/>
          </a:xfrm>
          <a:prstGeom prst="rect">
            <a:avLst/>
          </a:prstGeom>
          <a:noFill/>
          <a:ln/>
        </p:spPr>
        <p:txBody>
          <a:bodyPr wrap="square"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57200" y="164592"/>
            <a:ext cx="2560320" cy="256032"/>
          </a:xfrm>
          <a:prstGeom prst="rect">
            <a:avLst/>
          </a:prstGeom>
          <a:solidFill>
            <a:srgbClr val="028090"/>
          </a:solidFill>
          <a:ln w="12700">
            <a:solidFill>
              <a:srgbClr val="028090"/>
            </a:solidFill>
            <a:prstDash val="solid"/>
          </a:ln>
        </p:spPr>
      </p:sp>
      <p:sp>
        <p:nvSpPr>
          <p:cNvPr id="3" name="Text 1"/>
          <p:cNvSpPr/>
          <p:nvPr/>
        </p:nvSpPr>
        <p:spPr>
          <a:xfrm>
            <a:off x="457200" y="164592"/>
            <a:ext cx="25603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ITERATION</a:t>
            </a:r>
            <a:endParaRPr lang="en-US" sz="900" dirty="0"/>
          </a:p>
        </p:txBody>
      </p:sp>
      <p:sp>
        <p:nvSpPr>
          <p:cNvPr id="4" name="Text 2"/>
          <p:cNvSpPr/>
          <p:nvPr/>
        </p:nvSpPr>
        <p:spPr>
          <a:xfrm>
            <a:off x="457200" y="530352"/>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Trebuchet MS" pitchFamily="34" charset="0"/>
                <a:ea typeface="Trebuchet MS" pitchFamily="34" charset="-122"/>
                <a:cs typeface="Trebuchet MS" pitchFamily="34" charset="-120"/>
              </a:rPr>
              <a:t>The First Response Is Rarely the Final Response</a:t>
            </a:r>
            <a:endParaRPr lang="en-US" sz="2800" dirty="0"/>
          </a:p>
        </p:txBody>
      </p:sp>
      <p:sp>
        <p:nvSpPr>
          <p:cNvPr id="5" name="Shape 3"/>
          <p:cNvSpPr/>
          <p:nvPr/>
        </p:nvSpPr>
        <p:spPr>
          <a:xfrm>
            <a:off x="457200" y="1417320"/>
            <a:ext cx="8229600" cy="22860"/>
          </a:xfrm>
          <a:prstGeom prst="rect">
            <a:avLst/>
          </a:prstGeom>
          <a:solidFill>
            <a:srgbClr val="CADCFC"/>
          </a:solidFill>
          <a:ln w="12700">
            <a:solidFill>
              <a:srgbClr val="CADCFC"/>
            </a:solidFill>
            <a:prstDash val="solid"/>
          </a:ln>
        </p:spPr>
      </p:sp>
      <p:sp>
        <p:nvSpPr>
          <p:cNvPr id="6" name="Shape 4"/>
          <p:cNvSpPr/>
          <p:nvPr/>
        </p:nvSpPr>
        <p:spPr>
          <a:xfrm>
            <a:off x="457200" y="1664208"/>
            <a:ext cx="475488" cy="475488"/>
          </a:xfrm>
          <a:prstGeom prst="ellipse">
            <a:avLst/>
          </a:prstGeom>
          <a:solidFill>
            <a:srgbClr val="1E2761"/>
          </a:solidFill>
          <a:ln w="12700">
            <a:solidFill>
              <a:srgbClr val="1E2761"/>
            </a:solidFill>
            <a:prstDash val="solid"/>
          </a:ln>
        </p:spPr>
      </p:sp>
      <p:sp>
        <p:nvSpPr>
          <p:cNvPr id="7" name="Text 5"/>
          <p:cNvSpPr/>
          <p:nvPr/>
        </p:nvSpPr>
        <p:spPr>
          <a:xfrm>
            <a:off x="457200" y="166420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1</a:t>
            </a:r>
            <a:endParaRPr lang="en-US" sz="1500" dirty="0"/>
          </a:p>
        </p:txBody>
      </p:sp>
      <p:sp>
        <p:nvSpPr>
          <p:cNvPr id="8" name="Text 6"/>
          <p:cNvSpPr/>
          <p:nvPr/>
        </p:nvSpPr>
        <p:spPr>
          <a:xfrm>
            <a:off x="1078992" y="1627632"/>
            <a:ext cx="1554480" cy="274320"/>
          </a:xfrm>
          <a:prstGeom prst="rect">
            <a:avLst/>
          </a:prstGeom>
          <a:noFill/>
          <a:ln/>
        </p:spPr>
        <p:txBody>
          <a:bodyPr wrap="square" lIns="0" tIns="0" rIns="0" bIns="0" rtlCol="0" anchor="ctr"/>
          <a:lstStyle/>
          <a:p>
            <a:pPr indent="0" marL="0">
              <a:buNone/>
            </a:pPr>
            <a:r>
              <a:rPr lang="en-US" sz="1200" b="1" dirty="0">
                <a:solidFill>
                  <a:srgbClr val="1E2761"/>
                </a:solidFill>
                <a:latin typeface="Trebuchet MS" pitchFamily="34" charset="0"/>
                <a:ea typeface="Trebuchet MS" pitchFamily="34" charset="-122"/>
                <a:cs typeface="Trebuchet MS" pitchFamily="34" charset="-120"/>
              </a:rPr>
              <a:t>Get a first draft</a:t>
            </a:r>
            <a:endParaRPr lang="en-US" sz="1200" dirty="0"/>
          </a:p>
        </p:txBody>
      </p:sp>
      <p:sp>
        <p:nvSpPr>
          <p:cNvPr id="9" name="Shape 7"/>
          <p:cNvSpPr/>
          <p:nvPr/>
        </p:nvSpPr>
        <p:spPr>
          <a:xfrm>
            <a:off x="2724912" y="1572768"/>
            <a:ext cx="5961888" cy="676656"/>
          </a:xfrm>
          <a:prstGeom prst="rect">
            <a:avLst/>
          </a:prstGeom>
          <a:solidFill>
            <a:srgbClr val="FFFFFF"/>
          </a:solidFill>
          <a:ln w="12700">
            <a:solidFill>
              <a:srgbClr val="E5E7EB"/>
            </a:solidFill>
            <a:prstDash val="solid"/>
          </a:ln>
        </p:spPr>
      </p:sp>
      <p:sp>
        <p:nvSpPr>
          <p:cNvPr id="10" name="Shape 8"/>
          <p:cNvSpPr/>
          <p:nvPr/>
        </p:nvSpPr>
        <p:spPr>
          <a:xfrm>
            <a:off x="2724912" y="1572768"/>
            <a:ext cx="64008" cy="676656"/>
          </a:xfrm>
          <a:prstGeom prst="rect">
            <a:avLst/>
          </a:prstGeom>
          <a:solidFill>
            <a:srgbClr val="1E2761"/>
          </a:solidFill>
          <a:ln w="12700">
            <a:solidFill>
              <a:srgbClr val="1E2761"/>
            </a:solidFill>
            <a:prstDash val="solid"/>
          </a:ln>
        </p:spPr>
      </p:sp>
      <p:sp>
        <p:nvSpPr>
          <p:cNvPr id="11" name="Text 9"/>
          <p:cNvSpPr/>
          <p:nvPr/>
        </p:nvSpPr>
        <p:spPr>
          <a:xfrm>
            <a:off x="2852928" y="1627632"/>
            <a:ext cx="5724144" cy="566928"/>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Draft an introduction for an AI Usage Guideline. Audience: non-technical corporate staff. Tone: professional but approachable. Length: 2 short paragraphs.</a:t>
            </a:r>
            <a:endParaRPr lang="en-US" sz="1050" dirty="0"/>
          </a:p>
        </p:txBody>
      </p:sp>
      <p:sp>
        <p:nvSpPr>
          <p:cNvPr id="12" name="Shape 10"/>
          <p:cNvSpPr/>
          <p:nvPr/>
        </p:nvSpPr>
        <p:spPr>
          <a:xfrm>
            <a:off x="457200" y="2468880"/>
            <a:ext cx="475488" cy="475488"/>
          </a:xfrm>
          <a:prstGeom prst="ellipse">
            <a:avLst/>
          </a:prstGeom>
          <a:solidFill>
            <a:srgbClr val="028090"/>
          </a:solidFill>
          <a:ln w="12700">
            <a:solidFill>
              <a:srgbClr val="028090"/>
            </a:solidFill>
            <a:prstDash val="solid"/>
          </a:ln>
        </p:spPr>
      </p:sp>
      <p:sp>
        <p:nvSpPr>
          <p:cNvPr id="13" name="Text 11"/>
          <p:cNvSpPr/>
          <p:nvPr/>
        </p:nvSpPr>
        <p:spPr>
          <a:xfrm>
            <a:off x="457200" y="246888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2</a:t>
            </a:r>
            <a:endParaRPr lang="en-US" sz="1500" dirty="0"/>
          </a:p>
        </p:txBody>
      </p:sp>
      <p:sp>
        <p:nvSpPr>
          <p:cNvPr id="14" name="Text 12"/>
          <p:cNvSpPr/>
          <p:nvPr/>
        </p:nvSpPr>
        <p:spPr>
          <a:xfrm>
            <a:off x="1078992" y="2432304"/>
            <a:ext cx="1554480" cy="274320"/>
          </a:xfrm>
          <a:prstGeom prst="rect">
            <a:avLst/>
          </a:prstGeom>
          <a:noFill/>
          <a:ln/>
        </p:spPr>
        <p:txBody>
          <a:bodyPr wrap="square" lIns="0" tIns="0" rIns="0" bIns="0" rtlCol="0" anchor="ctr"/>
          <a:lstStyle/>
          <a:p>
            <a:pPr indent="0" marL="0">
              <a:buNone/>
            </a:pPr>
            <a:r>
              <a:rPr lang="en-US" sz="1200" b="1" dirty="0">
                <a:solidFill>
                  <a:srgbClr val="028090"/>
                </a:solidFill>
                <a:latin typeface="Trebuchet MS" pitchFamily="34" charset="0"/>
                <a:ea typeface="Trebuchet MS" pitchFamily="34" charset="-122"/>
                <a:cs typeface="Trebuchet MS" pitchFamily="34" charset="-120"/>
              </a:rPr>
              <a:t>Adjust what is wrong</a:t>
            </a:r>
            <a:endParaRPr lang="en-US" sz="1200" dirty="0"/>
          </a:p>
        </p:txBody>
      </p:sp>
      <p:sp>
        <p:nvSpPr>
          <p:cNvPr id="15" name="Shape 13"/>
          <p:cNvSpPr/>
          <p:nvPr/>
        </p:nvSpPr>
        <p:spPr>
          <a:xfrm>
            <a:off x="2724912" y="2377440"/>
            <a:ext cx="5961888" cy="676656"/>
          </a:xfrm>
          <a:prstGeom prst="rect">
            <a:avLst/>
          </a:prstGeom>
          <a:solidFill>
            <a:srgbClr val="FFFFFF"/>
          </a:solidFill>
          <a:ln w="12700">
            <a:solidFill>
              <a:srgbClr val="E5E7EB"/>
            </a:solidFill>
            <a:prstDash val="solid"/>
          </a:ln>
        </p:spPr>
      </p:sp>
      <p:sp>
        <p:nvSpPr>
          <p:cNvPr id="16" name="Shape 14"/>
          <p:cNvSpPr/>
          <p:nvPr/>
        </p:nvSpPr>
        <p:spPr>
          <a:xfrm>
            <a:off x="2724912" y="2377440"/>
            <a:ext cx="64008" cy="676656"/>
          </a:xfrm>
          <a:prstGeom prst="rect">
            <a:avLst/>
          </a:prstGeom>
          <a:solidFill>
            <a:srgbClr val="028090"/>
          </a:solidFill>
          <a:ln w="12700">
            <a:solidFill>
              <a:srgbClr val="028090"/>
            </a:solidFill>
            <a:prstDash val="solid"/>
          </a:ln>
        </p:spPr>
      </p:sp>
      <p:sp>
        <p:nvSpPr>
          <p:cNvPr id="17" name="Text 15"/>
          <p:cNvSpPr/>
          <p:nvPr/>
        </p:nvSpPr>
        <p:spPr>
          <a:xfrm>
            <a:off x="2852928" y="2432304"/>
            <a:ext cx="5724144" cy="566928"/>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Good, but the second paragraph sounds too formal. Rewrite it to be warmer and more encouraging — staff should feel this is a helpful resource, not a compliance document.</a:t>
            </a:r>
            <a:endParaRPr lang="en-US" sz="1050" dirty="0"/>
          </a:p>
        </p:txBody>
      </p:sp>
      <p:sp>
        <p:nvSpPr>
          <p:cNvPr id="18" name="Shape 16"/>
          <p:cNvSpPr/>
          <p:nvPr/>
        </p:nvSpPr>
        <p:spPr>
          <a:xfrm>
            <a:off x="457200" y="3273552"/>
            <a:ext cx="475488" cy="475488"/>
          </a:xfrm>
          <a:prstGeom prst="ellipse">
            <a:avLst/>
          </a:prstGeom>
          <a:solidFill>
            <a:srgbClr val="5558AF"/>
          </a:solidFill>
          <a:ln w="12700">
            <a:solidFill>
              <a:srgbClr val="5558AF"/>
            </a:solidFill>
            <a:prstDash val="solid"/>
          </a:ln>
        </p:spPr>
      </p:sp>
      <p:sp>
        <p:nvSpPr>
          <p:cNvPr id="19" name="Text 17"/>
          <p:cNvSpPr/>
          <p:nvPr/>
        </p:nvSpPr>
        <p:spPr>
          <a:xfrm>
            <a:off x="457200" y="327355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3</a:t>
            </a:r>
            <a:endParaRPr lang="en-US" sz="1500" dirty="0"/>
          </a:p>
        </p:txBody>
      </p:sp>
      <p:sp>
        <p:nvSpPr>
          <p:cNvPr id="20" name="Text 18"/>
          <p:cNvSpPr/>
          <p:nvPr/>
        </p:nvSpPr>
        <p:spPr>
          <a:xfrm>
            <a:off x="1078992" y="3236976"/>
            <a:ext cx="1554480" cy="274320"/>
          </a:xfrm>
          <a:prstGeom prst="rect">
            <a:avLst/>
          </a:prstGeom>
          <a:noFill/>
          <a:ln/>
        </p:spPr>
        <p:txBody>
          <a:bodyPr wrap="square" lIns="0" tIns="0" rIns="0" bIns="0" rtlCol="0" anchor="ctr"/>
          <a:lstStyle/>
          <a:p>
            <a:pPr indent="0" marL="0">
              <a:buNone/>
            </a:pPr>
            <a:r>
              <a:rPr lang="en-US" sz="1200" b="1" dirty="0">
                <a:solidFill>
                  <a:srgbClr val="5558AF"/>
                </a:solidFill>
                <a:latin typeface="Trebuchet MS" pitchFamily="34" charset="0"/>
                <a:ea typeface="Trebuchet MS" pitchFamily="34" charset="-122"/>
                <a:cs typeface="Trebuchet MS" pitchFamily="34" charset="-120"/>
              </a:rPr>
              <a:t>Fine-tune</a:t>
            </a:r>
            <a:endParaRPr lang="en-US" sz="1200" dirty="0"/>
          </a:p>
        </p:txBody>
      </p:sp>
      <p:sp>
        <p:nvSpPr>
          <p:cNvPr id="21" name="Shape 19"/>
          <p:cNvSpPr/>
          <p:nvPr/>
        </p:nvSpPr>
        <p:spPr>
          <a:xfrm>
            <a:off x="2724912" y="3182112"/>
            <a:ext cx="5961888" cy="676656"/>
          </a:xfrm>
          <a:prstGeom prst="rect">
            <a:avLst/>
          </a:prstGeom>
          <a:solidFill>
            <a:srgbClr val="FFFFFF"/>
          </a:solidFill>
          <a:ln w="12700">
            <a:solidFill>
              <a:srgbClr val="E5E7EB"/>
            </a:solidFill>
            <a:prstDash val="solid"/>
          </a:ln>
        </p:spPr>
      </p:sp>
      <p:sp>
        <p:nvSpPr>
          <p:cNvPr id="22" name="Shape 20"/>
          <p:cNvSpPr/>
          <p:nvPr/>
        </p:nvSpPr>
        <p:spPr>
          <a:xfrm>
            <a:off x="2724912" y="3182112"/>
            <a:ext cx="64008" cy="676656"/>
          </a:xfrm>
          <a:prstGeom prst="rect">
            <a:avLst/>
          </a:prstGeom>
          <a:solidFill>
            <a:srgbClr val="5558AF"/>
          </a:solidFill>
          <a:ln w="12700">
            <a:solidFill>
              <a:srgbClr val="5558AF"/>
            </a:solidFill>
            <a:prstDash val="solid"/>
          </a:ln>
        </p:spPr>
      </p:sp>
      <p:sp>
        <p:nvSpPr>
          <p:cNvPr id="23" name="Text 21"/>
          <p:cNvSpPr/>
          <p:nvPr/>
        </p:nvSpPr>
        <p:spPr>
          <a:xfrm>
            <a:off x="2852928" y="3236976"/>
            <a:ext cx="5724144" cy="566928"/>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Shorten the whole thing to under 80 words without losing the key message.</a:t>
            </a:r>
            <a:endParaRPr lang="en-US" sz="1050" dirty="0"/>
          </a:p>
        </p:txBody>
      </p:sp>
      <p:sp>
        <p:nvSpPr>
          <p:cNvPr id="24" name="Shape 22"/>
          <p:cNvSpPr/>
          <p:nvPr/>
        </p:nvSpPr>
        <p:spPr>
          <a:xfrm>
            <a:off x="457200" y="4078224"/>
            <a:ext cx="475488" cy="475488"/>
          </a:xfrm>
          <a:prstGeom prst="ellipse">
            <a:avLst/>
          </a:prstGeom>
          <a:solidFill>
            <a:srgbClr val="1D6F42"/>
          </a:solidFill>
          <a:ln w="12700">
            <a:solidFill>
              <a:srgbClr val="1D6F42"/>
            </a:solidFill>
            <a:prstDash val="solid"/>
          </a:ln>
        </p:spPr>
      </p:sp>
      <p:sp>
        <p:nvSpPr>
          <p:cNvPr id="25" name="Text 23"/>
          <p:cNvSpPr/>
          <p:nvPr/>
        </p:nvSpPr>
        <p:spPr>
          <a:xfrm>
            <a:off x="457200" y="40782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4</a:t>
            </a:r>
            <a:endParaRPr lang="en-US" sz="1500" dirty="0"/>
          </a:p>
        </p:txBody>
      </p:sp>
      <p:sp>
        <p:nvSpPr>
          <p:cNvPr id="26" name="Text 24"/>
          <p:cNvSpPr/>
          <p:nvPr/>
        </p:nvSpPr>
        <p:spPr>
          <a:xfrm>
            <a:off x="1078992" y="4041648"/>
            <a:ext cx="1554480" cy="274320"/>
          </a:xfrm>
          <a:prstGeom prst="rect">
            <a:avLst/>
          </a:prstGeom>
          <a:noFill/>
          <a:ln/>
        </p:spPr>
        <p:txBody>
          <a:bodyPr wrap="square" lIns="0" tIns="0" rIns="0" bIns="0" rtlCol="0" anchor="ctr"/>
          <a:lstStyle/>
          <a:p>
            <a:pPr indent="0" marL="0">
              <a:buNone/>
            </a:pPr>
            <a:r>
              <a:rPr lang="en-US" sz="1200" b="1" dirty="0">
                <a:solidFill>
                  <a:srgbClr val="1D6F42"/>
                </a:solidFill>
                <a:latin typeface="Trebuchet MS" pitchFamily="34" charset="0"/>
                <a:ea typeface="Trebuchet MS" pitchFamily="34" charset="-122"/>
                <a:cs typeface="Trebuchet MS" pitchFamily="34" charset="-120"/>
              </a:rPr>
              <a:t>Sanity check</a:t>
            </a:r>
            <a:endParaRPr lang="en-US" sz="1200" dirty="0"/>
          </a:p>
        </p:txBody>
      </p:sp>
      <p:sp>
        <p:nvSpPr>
          <p:cNvPr id="27" name="Shape 25"/>
          <p:cNvSpPr/>
          <p:nvPr/>
        </p:nvSpPr>
        <p:spPr>
          <a:xfrm>
            <a:off x="2724912" y="3986784"/>
            <a:ext cx="5961888" cy="676656"/>
          </a:xfrm>
          <a:prstGeom prst="rect">
            <a:avLst/>
          </a:prstGeom>
          <a:solidFill>
            <a:srgbClr val="FFFFFF"/>
          </a:solidFill>
          <a:ln w="12700">
            <a:solidFill>
              <a:srgbClr val="E5E7EB"/>
            </a:solidFill>
            <a:prstDash val="solid"/>
          </a:ln>
        </p:spPr>
      </p:sp>
      <p:sp>
        <p:nvSpPr>
          <p:cNvPr id="28" name="Shape 26"/>
          <p:cNvSpPr/>
          <p:nvPr/>
        </p:nvSpPr>
        <p:spPr>
          <a:xfrm>
            <a:off x="2724912" y="3986784"/>
            <a:ext cx="64008" cy="676656"/>
          </a:xfrm>
          <a:prstGeom prst="rect">
            <a:avLst/>
          </a:prstGeom>
          <a:solidFill>
            <a:srgbClr val="1D6F42"/>
          </a:solidFill>
          <a:ln w="12700">
            <a:solidFill>
              <a:srgbClr val="1D6F42"/>
            </a:solidFill>
            <a:prstDash val="solid"/>
          </a:ln>
        </p:spPr>
      </p:sp>
      <p:sp>
        <p:nvSpPr>
          <p:cNvPr id="29" name="Text 27"/>
          <p:cNvSpPr/>
          <p:nvPr/>
        </p:nvSpPr>
        <p:spPr>
          <a:xfrm>
            <a:off x="2852928" y="4041648"/>
            <a:ext cx="5724144" cy="566928"/>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Does this introduction clearly tell the reader what the guideline is for and why it matters? What is missing?</a:t>
            </a:r>
            <a:endParaRPr lang="en-US" sz="1050" dirty="0"/>
          </a:p>
        </p:txBody>
      </p:sp>
      <p:sp>
        <p:nvSpPr>
          <p:cNvPr id="30" name="Shape 28"/>
          <p:cNvSpPr/>
          <p:nvPr/>
        </p:nvSpPr>
        <p:spPr>
          <a:xfrm>
            <a:off x="457200" y="4809744"/>
            <a:ext cx="8229600" cy="182880"/>
          </a:xfrm>
          <a:prstGeom prst="rect">
            <a:avLst/>
          </a:prstGeom>
          <a:solidFill>
            <a:srgbClr val="E0F4F7"/>
          </a:solidFill>
          <a:ln w="12700">
            <a:solidFill>
              <a:srgbClr val="028090"/>
            </a:solidFill>
            <a:prstDash val="solid"/>
          </a:ln>
        </p:spPr>
      </p:sp>
      <p:sp>
        <p:nvSpPr>
          <p:cNvPr id="31" name="Text 29"/>
          <p:cNvSpPr/>
          <p:nvPr/>
        </p:nvSpPr>
        <p:spPr>
          <a:xfrm>
            <a:off x="594360" y="4828032"/>
            <a:ext cx="7955280" cy="146304"/>
          </a:xfrm>
          <a:prstGeom prst="rect">
            <a:avLst/>
          </a:prstGeom>
          <a:noFill/>
          <a:ln/>
        </p:spPr>
        <p:txBody>
          <a:bodyPr wrap="square" lIns="0" tIns="0" rIns="0" bIns="0" rtlCol="0" anchor="ctr"/>
          <a:lstStyle/>
          <a:p>
            <a:pPr indent="0" marL="0">
              <a:buNone/>
            </a:pPr>
            <a:r>
              <a:rPr lang="en-US" sz="1050" b="1" i="1" dirty="0">
                <a:solidFill>
                  <a:srgbClr val="028090"/>
                </a:solidFill>
                <a:latin typeface="Calibri" pitchFamily="34" charset="0"/>
                <a:ea typeface="Calibri" pitchFamily="34" charset="-122"/>
                <a:cs typeface="Calibri" pitchFamily="34" charset="-120"/>
              </a:rPr>
              <a:t>Each follow-up builds on what Copilot produced. You are editing collaboratively — not starting from scratch.</a:t>
            </a:r>
            <a:endParaRPr lang="en-US" sz="1050" dirty="0"/>
          </a:p>
        </p:txBody>
      </p:sp>
      <p:sp>
        <p:nvSpPr>
          <p:cNvPr id="32" name="Text 30"/>
          <p:cNvSpPr/>
          <p:nvPr/>
        </p:nvSpPr>
        <p:spPr>
          <a:xfrm>
            <a:off x="8595360" y="4754880"/>
            <a:ext cx="365760" cy="228600"/>
          </a:xfrm>
          <a:prstGeom prst="rect">
            <a:avLst/>
          </a:prstGeom>
          <a:noFill/>
          <a:ln/>
        </p:spPr>
        <p:txBody>
          <a:bodyPr wrap="square"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57200" y="164592"/>
            <a:ext cx="2560320" cy="256032"/>
          </a:xfrm>
          <a:prstGeom prst="rect">
            <a:avLst/>
          </a:prstGeom>
          <a:solidFill>
            <a:srgbClr val="028090"/>
          </a:solidFill>
          <a:ln w="12700">
            <a:solidFill>
              <a:srgbClr val="028090"/>
            </a:solidFill>
            <a:prstDash val="solid"/>
          </a:ln>
        </p:spPr>
      </p:sp>
      <p:sp>
        <p:nvSpPr>
          <p:cNvPr id="3" name="Text 1"/>
          <p:cNvSpPr/>
          <p:nvPr/>
        </p:nvSpPr>
        <p:spPr>
          <a:xfrm>
            <a:off x="457200" y="164592"/>
            <a:ext cx="25603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COMMON MISTAKES</a:t>
            </a:r>
            <a:endParaRPr lang="en-US" sz="900" dirty="0"/>
          </a:p>
        </p:txBody>
      </p:sp>
      <p:sp>
        <p:nvSpPr>
          <p:cNvPr id="4" name="Text 2"/>
          <p:cNvSpPr/>
          <p:nvPr/>
        </p:nvSpPr>
        <p:spPr>
          <a:xfrm>
            <a:off x="457200" y="530352"/>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Trebuchet MS" pitchFamily="34" charset="0"/>
                <a:ea typeface="Trebuchet MS" pitchFamily="34" charset="-122"/>
                <a:cs typeface="Trebuchet MS" pitchFamily="34" charset="-120"/>
              </a:rPr>
              <a:t>Six Mistakes Most People Make</a:t>
            </a:r>
            <a:endParaRPr lang="en-US" sz="2800" dirty="0"/>
          </a:p>
        </p:txBody>
      </p:sp>
      <p:sp>
        <p:nvSpPr>
          <p:cNvPr id="5" name="Shape 3"/>
          <p:cNvSpPr/>
          <p:nvPr/>
        </p:nvSpPr>
        <p:spPr>
          <a:xfrm>
            <a:off x="457200" y="1417320"/>
            <a:ext cx="8229600" cy="22860"/>
          </a:xfrm>
          <a:prstGeom prst="rect">
            <a:avLst/>
          </a:prstGeom>
          <a:solidFill>
            <a:srgbClr val="CADCFC"/>
          </a:solidFill>
          <a:ln w="12700">
            <a:solidFill>
              <a:srgbClr val="CADCFC"/>
            </a:solidFill>
            <a:prstDash val="solid"/>
          </a:ln>
        </p:spPr>
      </p:sp>
      <p:sp>
        <p:nvSpPr>
          <p:cNvPr id="6" name="Shape 4"/>
          <p:cNvSpPr/>
          <p:nvPr/>
        </p:nvSpPr>
        <p:spPr>
          <a:xfrm>
            <a:off x="457200" y="1572768"/>
            <a:ext cx="2633472" cy="1481328"/>
          </a:xfrm>
          <a:prstGeom prst="rect">
            <a:avLst/>
          </a:prstGeom>
          <a:solidFill>
            <a:srgbClr val="FFFFFF"/>
          </a:solidFill>
          <a:ln w="12700">
            <a:solidFill>
              <a:srgbClr val="E5E7EB"/>
            </a:solidFill>
            <a:prstDash val="solid"/>
          </a:ln>
          <a:effectLst>
            <a:outerShdw sx="100000" sy="100000" kx="0" ky="0" algn="bl" rotWithShape="0" blurRad="38100" dist="12700" dir="8100000">
              <a:srgbClr val="000000">
                <a:alpha val="6000"/>
              </a:srgbClr>
            </a:outerShdw>
          </a:effectLst>
        </p:spPr>
      </p:sp>
      <p:sp>
        <p:nvSpPr>
          <p:cNvPr id="7" name="Shape 5"/>
          <p:cNvSpPr/>
          <p:nvPr/>
        </p:nvSpPr>
        <p:spPr>
          <a:xfrm>
            <a:off x="457200" y="1572768"/>
            <a:ext cx="2633472" cy="347472"/>
          </a:xfrm>
          <a:prstGeom prst="rect">
            <a:avLst/>
          </a:prstGeom>
          <a:solidFill>
            <a:srgbClr val="E07B39"/>
          </a:solidFill>
          <a:ln w="12700">
            <a:solidFill>
              <a:srgbClr val="E07B39"/>
            </a:solidFill>
            <a:prstDash val="solid"/>
          </a:ln>
        </p:spPr>
      </p:sp>
      <p:sp>
        <p:nvSpPr>
          <p:cNvPr id="8" name="Text 6"/>
          <p:cNvSpPr/>
          <p:nvPr/>
        </p:nvSpPr>
        <p:spPr>
          <a:xfrm>
            <a:off x="566928" y="1609344"/>
            <a:ext cx="2432304"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Too vague on format</a:t>
            </a:r>
            <a:endParaRPr lang="en-US" sz="1200" dirty="0"/>
          </a:p>
        </p:txBody>
      </p:sp>
      <p:sp>
        <p:nvSpPr>
          <p:cNvPr id="9" name="Text 7"/>
          <p:cNvSpPr/>
          <p:nvPr/>
        </p:nvSpPr>
        <p:spPr>
          <a:xfrm>
            <a:off x="566928" y="1984248"/>
            <a:ext cx="2432304" cy="987552"/>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If you don't specify a format, Copilot picks one — and it may not be what you wanted. Always state: table, bullets, paragraph, or word count.</a:t>
            </a:r>
            <a:endParaRPr lang="en-US" sz="1050" dirty="0"/>
          </a:p>
        </p:txBody>
      </p:sp>
      <p:sp>
        <p:nvSpPr>
          <p:cNvPr id="10" name="Shape 8"/>
          <p:cNvSpPr/>
          <p:nvPr/>
        </p:nvSpPr>
        <p:spPr>
          <a:xfrm>
            <a:off x="3273552" y="1572768"/>
            <a:ext cx="2633472" cy="1481328"/>
          </a:xfrm>
          <a:prstGeom prst="rect">
            <a:avLst/>
          </a:prstGeom>
          <a:solidFill>
            <a:srgbClr val="FFFFFF"/>
          </a:solidFill>
          <a:ln w="12700">
            <a:solidFill>
              <a:srgbClr val="E5E7EB"/>
            </a:solidFill>
            <a:prstDash val="solid"/>
          </a:ln>
          <a:effectLst>
            <a:outerShdw sx="100000" sy="100000" kx="0" ky="0" algn="bl" rotWithShape="0" blurRad="38100" dist="12700" dir="8100000">
              <a:srgbClr val="000000">
                <a:alpha val="6000"/>
              </a:srgbClr>
            </a:outerShdw>
          </a:effectLst>
        </p:spPr>
      </p:sp>
      <p:sp>
        <p:nvSpPr>
          <p:cNvPr id="11" name="Shape 9"/>
          <p:cNvSpPr/>
          <p:nvPr/>
        </p:nvSpPr>
        <p:spPr>
          <a:xfrm>
            <a:off x="3273552" y="1572768"/>
            <a:ext cx="2633472" cy="347472"/>
          </a:xfrm>
          <a:prstGeom prst="rect">
            <a:avLst/>
          </a:prstGeom>
          <a:solidFill>
            <a:srgbClr val="E07B39"/>
          </a:solidFill>
          <a:ln w="12700">
            <a:solidFill>
              <a:srgbClr val="E07B39"/>
            </a:solidFill>
            <a:prstDash val="solid"/>
          </a:ln>
        </p:spPr>
      </p:sp>
      <p:sp>
        <p:nvSpPr>
          <p:cNvPr id="12" name="Text 10"/>
          <p:cNvSpPr/>
          <p:nvPr/>
        </p:nvSpPr>
        <p:spPr>
          <a:xfrm>
            <a:off x="3383280" y="1609344"/>
            <a:ext cx="2432304"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Too much in one prompt</a:t>
            </a:r>
            <a:endParaRPr lang="en-US" sz="1200" dirty="0"/>
          </a:p>
        </p:txBody>
      </p:sp>
      <p:sp>
        <p:nvSpPr>
          <p:cNvPr id="13" name="Text 11"/>
          <p:cNvSpPr/>
          <p:nvPr/>
        </p:nvSpPr>
        <p:spPr>
          <a:xfrm>
            <a:off x="3383280" y="1984248"/>
            <a:ext cx="2432304" cy="987552"/>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Asking for a "full proposal with executive summary, risk analysis, and budget" produces shallow content. Break big tasks into smaller prompts.</a:t>
            </a:r>
            <a:endParaRPr lang="en-US" sz="1050" dirty="0"/>
          </a:p>
        </p:txBody>
      </p:sp>
      <p:sp>
        <p:nvSpPr>
          <p:cNvPr id="14" name="Shape 12"/>
          <p:cNvSpPr/>
          <p:nvPr/>
        </p:nvSpPr>
        <p:spPr>
          <a:xfrm>
            <a:off x="6089904" y="1572768"/>
            <a:ext cx="2633472" cy="1481328"/>
          </a:xfrm>
          <a:prstGeom prst="rect">
            <a:avLst/>
          </a:prstGeom>
          <a:solidFill>
            <a:srgbClr val="FFFFFF"/>
          </a:solidFill>
          <a:ln w="12700">
            <a:solidFill>
              <a:srgbClr val="E5E7EB"/>
            </a:solidFill>
            <a:prstDash val="solid"/>
          </a:ln>
          <a:effectLst>
            <a:outerShdw sx="100000" sy="100000" kx="0" ky="0" algn="bl" rotWithShape="0" blurRad="38100" dist="12700" dir="8100000">
              <a:srgbClr val="000000">
                <a:alpha val="6000"/>
              </a:srgbClr>
            </a:outerShdw>
          </a:effectLst>
        </p:spPr>
      </p:sp>
      <p:sp>
        <p:nvSpPr>
          <p:cNvPr id="15" name="Shape 13"/>
          <p:cNvSpPr/>
          <p:nvPr/>
        </p:nvSpPr>
        <p:spPr>
          <a:xfrm>
            <a:off x="6089904" y="1572768"/>
            <a:ext cx="2633472" cy="347472"/>
          </a:xfrm>
          <a:prstGeom prst="rect">
            <a:avLst/>
          </a:prstGeom>
          <a:solidFill>
            <a:srgbClr val="E07B39"/>
          </a:solidFill>
          <a:ln w="12700">
            <a:solidFill>
              <a:srgbClr val="E07B39"/>
            </a:solidFill>
            <a:prstDash val="solid"/>
          </a:ln>
        </p:spPr>
      </p:sp>
      <p:sp>
        <p:nvSpPr>
          <p:cNvPr id="16" name="Text 14"/>
          <p:cNvSpPr/>
          <p:nvPr/>
        </p:nvSpPr>
        <p:spPr>
          <a:xfrm>
            <a:off x="6199632" y="1609344"/>
            <a:ext cx="2432304"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Accepting the first draft</a:t>
            </a:r>
            <a:endParaRPr lang="en-US" sz="1200" dirty="0"/>
          </a:p>
        </p:txBody>
      </p:sp>
      <p:sp>
        <p:nvSpPr>
          <p:cNvPr id="17" name="Text 15"/>
          <p:cNvSpPr/>
          <p:nvPr/>
        </p:nvSpPr>
        <p:spPr>
          <a:xfrm>
            <a:off x="6199632" y="1984248"/>
            <a:ext cx="2432304" cy="987552"/>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Copilot sounds confident even when it is wrong. Always read the output critically — especially facts, figures, names, and dates.</a:t>
            </a:r>
            <a:endParaRPr lang="en-US" sz="1050" dirty="0"/>
          </a:p>
        </p:txBody>
      </p:sp>
      <p:sp>
        <p:nvSpPr>
          <p:cNvPr id="18" name="Shape 16"/>
          <p:cNvSpPr/>
          <p:nvPr/>
        </p:nvSpPr>
        <p:spPr>
          <a:xfrm>
            <a:off x="457200" y="3200400"/>
            <a:ext cx="2633472" cy="1481328"/>
          </a:xfrm>
          <a:prstGeom prst="rect">
            <a:avLst/>
          </a:prstGeom>
          <a:solidFill>
            <a:srgbClr val="FFFFFF"/>
          </a:solidFill>
          <a:ln w="12700">
            <a:solidFill>
              <a:srgbClr val="E5E7EB"/>
            </a:solidFill>
            <a:prstDash val="solid"/>
          </a:ln>
          <a:effectLst>
            <a:outerShdw sx="100000" sy="100000" kx="0" ky="0" algn="bl" rotWithShape="0" blurRad="38100" dist="12700" dir="8100000">
              <a:srgbClr val="000000">
                <a:alpha val="6000"/>
              </a:srgbClr>
            </a:outerShdw>
          </a:effectLst>
        </p:spPr>
      </p:sp>
      <p:sp>
        <p:nvSpPr>
          <p:cNvPr id="19" name="Shape 17"/>
          <p:cNvSpPr/>
          <p:nvPr/>
        </p:nvSpPr>
        <p:spPr>
          <a:xfrm>
            <a:off x="457200" y="3200400"/>
            <a:ext cx="2633472" cy="347472"/>
          </a:xfrm>
          <a:prstGeom prst="rect">
            <a:avLst/>
          </a:prstGeom>
          <a:solidFill>
            <a:srgbClr val="1E2761"/>
          </a:solidFill>
          <a:ln w="12700">
            <a:solidFill>
              <a:srgbClr val="1E2761"/>
            </a:solidFill>
            <a:prstDash val="solid"/>
          </a:ln>
        </p:spPr>
      </p:sp>
      <p:sp>
        <p:nvSpPr>
          <p:cNvPr id="20" name="Text 18"/>
          <p:cNvSpPr/>
          <p:nvPr/>
        </p:nvSpPr>
        <p:spPr>
          <a:xfrm>
            <a:off x="566928" y="3236976"/>
            <a:ext cx="2432304"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No role or perspective</a:t>
            </a:r>
            <a:endParaRPr lang="en-US" sz="1200" dirty="0"/>
          </a:p>
        </p:txBody>
      </p:sp>
      <p:sp>
        <p:nvSpPr>
          <p:cNvPr id="21" name="Text 19"/>
          <p:cNvSpPr/>
          <p:nvPr/>
        </p:nvSpPr>
        <p:spPr>
          <a:xfrm>
            <a:off x="566928" y="3611880"/>
            <a:ext cx="2432304" cy="987552"/>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"Summarise this" vs "Summarise this as a senior manager with 2 minutes to read it" produce very different outputs. Perspective sharpens results.</a:t>
            </a:r>
            <a:endParaRPr lang="en-US" sz="1050" dirty="0"/>
          </a:p>
        </p:txBody>
      </p:sp>
      <p:sp>
        <p:nvSpPr>
          <p:cNvPr id="22" name="Shape 20"/>
          <p:cNvSpPr/>
          <p:nvPr/>
        </p:nvSpPr>
        <p:spPr>
          <a:xfrm>
            <a:off x="3273552" y="3200400"/>
            <a:ext cx="2633472" cy="1481328"/>
          </a:xfrm>
          <a:prstGeom prst="rect">
            <a:avLst/>
          </a:prstGeom>
          <a:solidFill>
            <a:srgbClr val="FFFFFF"/>
          </a:solidFill>
          <a:ln w="12700">
            <a:solidFill>
              <a:srgbClr val="E5E7EB"/>
            </a:solidFill>
            <a:prstDash val="solid"/>
          </a:ln>
          <a:effectLst>
            <a:outerShdw sx="100000" sy="100000" kx="0" ky="0" algn="bl" rotWithShape="0" blurRad="38100" dist="12700" dir="8100000">
              <a:srgbClr val="000000">
                <a:alpha val="6000"/>
              </a:srgbClr>
            </a:outerShdw>
          </a:effectLst>
        </p:spPr>
      </p:sp>
      <p:sp>
        <p:nvSpPr>
          <p:cNvPr id="23" name="Shape 21"/>
          <p:cNvSpPr/>
          <p:nvPr/>
        </p:nvSpPr>
        <p:spPr>
          <a:xfrm>
            <a:off x="3273552" y="3200400"/>
            <a:ext cx="2633472" cy="347472"/>
          </a:xfrm>
          <a:prstGeom prst="rect">
            <a:avLst/>
          </a:prstGeom>
          <a:solidFill>
            <a:srgbClr val="1E2761"/>
          </a:solidFill>
          <a:ln w="12700">
            <a:solidFill>
              <a:srgbClr val="1E2761"/>
            </a:solidFill>
            <a:prstDash val="solid"/>
          </a:ln>
        </p:spPr>
      </p:sp>
      <p:sp>
        <p:nvSpPr>
          <p:cNvPr id="24" name="Text 22"/>
          <p:cNvSpPr/>
          <p:nvPr/>
        </p:nvSpPr>
        <p:spPr>
          <a:xfrm>
            <a:off x="3383280" y="3236976"/>
            <a:ext cx="2432304"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Restarting vs iterating</a:t>
            </a:r>
            <a:endParaRPr lang="en-US" sz="1200" dirty="0"/>
          </a:p>
        </p:txBody>
      </p:sp>
      <p:sp>
        <p:nvSpPr>
          <p:cNvPr id="25" name="Text 23"/>
          <p:cNvSpPr/>
          <p:nvPr/>
        </p:nvSpPr>
        <p:spPr>
          <a:xfrm>
            <a:off x="3383280" y="3611880"/>
            <a:ext cx="2432304" cy="987552"/>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If the response is 80% right, don't delete it. Tell Copilot exactly what to fix: "Keep the structure but rewrite the third paragraph."</a:t>
            </a:r>
            <a:endParaRPr lang="en-US" sz="1050" dirty="0"/>
          </a:p>
        </p:txBody>
      </p:sp>
      <p:sp>
        <p:nvSpPr>
          <p:cNvPr id="26" name="Shape 24"/>
          <p:cNvSpPr/>
          <p:nvPr/>
        </p:nvSpPr>
        <p:spPr>
          <a:xfrm>
            <a:off x="6089904" y="3200400"/>
            <a:ext cx="2633472" cy="1481328"/>
          </a:xfrm>
          <a:prstGeom prst="rect">
            <a:avLst/>
          </a:prstGeom>
          <a:solidFill>
            <a:srgbClr val="FFFFFF"/>
          </a:solidFill>
          <a:ln w="12700">
            <a:solidFill>
              <a:srgbClr val="E5E7EB"/>
            </a:solidFill>
            <a:prstDash val="solid"/>
          </a:ln>
          <a:effectLst>
            <a:outerShdw sx="100000" sy="100000" kx="0" ky="0" algn="bl" rotWithShape="0" blurRad="38100" dist="12700" dir="8100000">
              <a:srgbClr val="000000">
                <a:alpha val="6000"/>
              </a:srgbClr>
            </a:outerShdw>
          </a:effectLst>
        </p:spPr>
      </p:sp>
      <p:sp>
        <p:nvSpPr>
          <p:cNvPr id="27" name="Shape 25"/>
          <p:cNvSpPr/>
          <p:nvPr/>
        </p:nvSpPr>
        <p:spPr>
          <a:xfrm>
            <a:off x="6089904" y="3200400"/>
            <a:ext cx="2633472" cy="347472"/>
          </a:xfrm>
          <a:prstGeom prst="rect">
            <a:avLst/>
          </a:prstGeom>
          <a:solidFill>
            <a:srgbClr val="9C0006"/>
          </a:solidFill>
          <a:ln w="12700">
            <a:solidFill>
              <a:srgbClr val="9C0006"/>
            </a:solidFill>
            <a:prstDash val="solid"/>
          </a:ln>
        </p:spPr>
      </p:sp>
      <p:sp>
        <p:nvSpPr>
          <p:cNvPr id="28" name="Text 26"/>
          <p:cNvSpPr/>
          <p:nvPr/>
        </p:nvSpPr>
        <p:spPr>
          <a:xfrm>
            <a:off x="6199632" y="3236976"/>
            <a:ext cx="2432304" cy="27432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Pasting sensitive data</a:t>
            </a:r>
            <a:endParaRPr lang="en-US" sz="1200" dirty="0"/>
          </a:p>
        </p:txBody>
      </p:sp>
      <p:sp>
        <p:nvSpPr>
          <p:cNvPr id="29" name="Text 27"/>
          <p:cNvSpPr/>
          <p:nvPr/>
        </p:nvSpPr>
        <p:spPr>
          <a:xfrm>
            <a:off x="6199632" y="3611880"/>
            <a:ext cx="2432304" cy="987552"/>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Never paste employee names, IC numbers, salary figures, or client contracts into a prompt — even in a work Copilot session. Anonymise first.</a:t>
            </a:r>
            <a:endParaRPr lang="en-US" sz="1050" dirty="0"/>
          </a:p>
        </p:txBody>
      </p:sp>
      <p:sp>
        <p:nvSpPr>
          <p:cNvPr id="30" name="Text 28"/>
          <p:cNvSpPr/>
          <p:nvPr/>
        </p:nvSpPr>
        <p:spPr>
          <a:xfrm>
            <a:off x="8595360" y="4754880"/>
            <a:ext cx="365760" cy="228600"/>
          </a:xfrm>
          <a:prstGeom prst="rect">
            <a:avLst/>
          </a:prstGeom>
          <a:noFill/>
          <a:ln/>
        </p:spPr>
        <p:txBody>
          <a:bodyPr wrap="square"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57200" y="164592"/>
            <a:ext cx="2560320" cy="256032"/>
          </a:xfrm>
          <a:prstGeom prst="rect">
            <a:avLst/>
          </a:prstGeom>
          <a:solidFill>
            <a:srgbClr val="028090"/>
          </a:solidFill>
          <a:ln w="12700">
            <a:solidFill>
              <a:srgbClr val="028090"/>
            </a:solidFill>
            <a:prstDash val="solid"/>
          </a:ln>
        </p:spPr>
      </p:sp>
      <p:sp>
        <p:nvSpPr>
          <p:cNvPr id="3" name="Text 1"/>
          <p:cNvSpPr/>
          <p:nvPr/>
        </p:nvSpPr>
        <p:spPr>
          <a:xfrm>
            <a:off x="457200" y="164592"/>
            <a:ext cx="25603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QUICK REFERENCE</a:t>
            </a:r>
            <a:endParaRPr lang="en-US" sz="900" dirty="0"/>
          </a:p>
        </p:txBody>
      </p:sp>
      <p:sp>
        <p:nvSpPr>
          <p:cNvPr id="4" name="Text 2"/>
          <p:cNvSpPr/>
          <p:nvPr/>
        </p:nvSpPr>
        <p:spPr>
          <a:xfrm>
            <a:off x="457200" y="530352"/>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Trebuchet MS" pitchFamily="34" charset="0"/>
                <a:ea typeface="Trebuchet MS" pitchFamily="34" charset="-122"/>
                <a:cs typeface="Trebuchet MS" pitchFamily="34" charset="-120"/>
              </a:rPr>
              <a:t>Quick Reference: Follow-up Prompts</a:t>
            </a:r>
            <a:endParaRPr lang="en-US" sz="2800" dirty="0"/>
          </a:p>
        </p:txBody>
      </p:sp>
      <p:sp>
        <p:nvSpPr>
          <p:cNvPr id="5" name="Text 3"/>
          <p:cNvSpPr/>
          <p:nvPr/>
        </p:nvSpPr>
        <p:spPr>
          <a:xfrm>
            <a:off x="457200" y="1078992"/>
            <a:ext cx="8229600" cy="320040"/>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Use these after any Copilot response, in any context</a:t>
            </a:r>
            <a:endParaRPr lang="en-US" sz="1400" dirty="0"/>
          </a:p>
        </p:txBody>
      </p:sp>
      <p:sp>
        <p:nvSpPr>
          <p:cNvPr id="6" name="Shape 4"/>
          <p:cNvSpPr/>
          <p:nvPr/>
        </p:nvSpPr>
        <p:spPr>
          <a:xfrm>
            <a:off x="457200" y="1536192"/>
            <a:ext cx="2377440" cy="292608"/>
          </a:xfrm>
          <a:prstGeom prst="rect">
            <a:avLst/>
          </a:prstGeom>
          <a:solidFill>
            <a:srgbClr val="1E2761"/>
          </a:solidFill>
          <a:ln w="12700">
            <a:solidFill>
              <a:srgbClr val="1E2761"/>
            </a:solidFill>
            <a:prstDash val="solid"/>
          </a:ln>
        </p:spPr>
      </p:sp>
      <p:sp>
        <p:nvSpPr>
          <p:cNvPr id="7" name="Shape 5"/>
          <p:cNvSpPr/>
          <p:nvPr/>
        </p:nvSpPr>
        <p:spPr>
          <a:xfrm>
            <a:off x="2907792" y="1536192"/>
            <a:ext cx="5779008" cy="292608"/>
          </a:xfrm>
          <a:prstGeom prst="rect">
            <a:avLst/>
          </a:prstGeom>
          <a:solidFill>
            <a:srgbClr val="1E2761"/>
          </a:solidFill>
          <a:ln w="12700">
            <a:solidFill>
              <a:srgbClr val="1E2761"/>
            </a:solidFill>
            <a:prstDash val="solid"/>
          </a:ln>
        </p:spPr>
      </p:sp>
      <p:sp>
        <p:nvSpPr>
          <p:cNvPr id="8" name="Text 6"/>
          <p:cNvSpPr/>
          <p:nvPr/>
        </p:nvSpPr>
        <p:spPr>
          <a:xfrm>
            <a:off x="566928" y="1554480"/>
            <a:ext cx="2194560" cy="256032"/>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What you want</a:t>
            </a:r>
            <a:endParaRPr lang="en-US" sz="1100" dirty="0"/>
          </a:p>
        </p:txBody>
      </p:sp>
      <p:sp>
        <p:nvSpPr>
          <p:cNvPr id="9" name="Text 7"/>
          <p:cNvSpPr/>
          <p:nvPr/>
        </p:nvSpPr>
        <p:spPr>
          <a:xfrm>
            <a:off x="3017520" y="1554480"/>
            <a:ext cx="5577840" cy="256032"/>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Follow-up prompt to use</a:t>
            </a:r>
            <a:endParaRPr lang="en-US" sz="1100" dirty="0"/>
          </a:p>
        </p:txBody>
      </p:sp>
      <p:sp>
        <p:nvSpPr>
          <p:cNvPr id="10" name="Shape 8"/>
          <p:cNvSpPr/>
          <p:nvPr/>
        </p:nvSpPr>
        <p:spPr>
          <a:xfrm>
            <a:off x="457200" y="1901952"/>
            <a:ext cx="8229600" cy="347472"/>
          </a:xfrm>
          <a:prstGeom prst="rect">
            <a:avLst/>
          </a:prstGeom>
          <a:solidFill>
            <a:srgbClr val="F7F9FC"/>
          </a:solidFill>
          <a:ln w="12700">
            <a:solidFill>
              <a:srgbClr val="E5E7EB"/>
            </a:solidFill>
            <a:prstDash val="solid"/>
          </a:ln>
        </p:spPr>
      </p:sp>
      <p:sp>
        <p:nvSpPr>
          <p:cNvPr id="11" name="Text 9"/>
          <p:cNvSpPr/>
          <p:nvPr/>
        </p:nvSpPr>
        <p:spPr>
          <a:xfrm>
            <a:off x="566928" y="1938528"/>
            <a:ext cx="2194560" cy="27432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Go deeper</a:t>
            </a:r>
            <a:endParaRPr lang="en-US" sz="1100" dirty="0"/>
          </a:p>
        </p:txBody>
      </p:sp>
      <p:sp>
        <p:nvSpPr>
          <p:cNvPr id="12" name="Text 10"/>
          <p:cNvSpPr/>
          <p:nvPr/>
        </p:nvSpPr>
        <p:spPr>
          <a:xfrm>
            <a:off x="3017520" y="1938528"/>
            <a:ext cx="5577840" cy="274320"/>
          </a:xfrm>
          <a:prstGeom prst="rect">
            <a:avLst/>
          </a:prstGeom>
          <a:noFill/>
          <a:ln/>
        </p:spPr>
        <p:txBody>
          <a:bodyPr wrap="square" lIns="0" tIns="0" rIns="0" bIns="0" rtlCol="0" anchor="ctr"/>
          <a:lstStyle/>
          <a:p>
            <a:pPr indent="0" marL="0">
              <a:buNone/>
            </a:pPr>
            <a:r>
              <a:rPr lang="en-US" sz="1100" i="1" dirty="0">
                <a:solidFill>
                  <a:srgbClr val="1A1A2E"/>
                </a:solidFill>
                <a:latin typeface="Calibri" pitchFamily="34" charset="0"/>
                <a:ea typeface="Calibri" pitchFamily="34" charset="-122"/>
                <a:cs typeface="Calibri" pitchFamily="34" charset="-120"/>
              </a:rPr>
              <a:t>Expand on point 3 with a practical example.</a:t>
            </a:r>
            <a:endParaRPr lang="en-US" sz="1100" dirty="0"/>
          </a:p>
        </p:txBody>
      </p:sp>
      <p:sp>
        <p:nvSpPr>
          <p:cNvPr id="13" name="Shape 11"/>
          <p:cNvSpPr/>
          <p:nvPr/>
        </p:nvSpPr>
        <p:spPr>
          <a:xfrm>
            <a:off x="457200" y="2267712"/>
            <a:ext cx="8229600" cy="347472"/>
          </a:xfrm>
          <a:prstGeom prst="rect">
            <a:avLst/>
          </a:prstGeom>
          <a:solidFill>
            <a:srgbClr val="FFFFFF"/>
          </a:solidFill>
          <a:ln w="12700">
            <a:solidFill>
              <a:srgbClr val="E5E7EB"/>
            </a:solidFill>
            <a:prstDash val="solid"/>
          </a:ln>
        </p:spPr>
      </p:sp>
      <p:sp>
        <p:nvSpPr>
          <p:cNvPr id="14" name="Text 12"/>
          <p:cNvSpPr/>
          <p:nvPr/>
        </p:nvSpPr>
        <p:spPr>
          <a:xfrm>
            <a:off x="566928" y="2304288"/>
            <a:ext cx="2194560" cy="27432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Shorter</a:t>
            </a:r>
            <a:endParaRPr lang="en-US" sz="1100" dirty="0"/>
          </a:p>
        </p:txBody>
      </p:sp>
      <p:sp>
        <p:nvSpPr>
          <p:cNvPr id="15" name="Text 13"/>
          <p:cNvSpPr/>
          <p:nvPr/>
        </p:nvSpPr>
        <p:spPr>
          <a:xfrm>
            <a:off x="3017520" y="2304288"/>
            <a:ext cx="5577840" cy="274320"/>
          </a:xfrm>
          <a:prstGeom prst="rect">
            <a:avLst/>
          </a:prstGeom>
          <a:noFill/>
          <a:ln/>
        </p:spPr>
        <p:txBody>
          <a:bodyPr wrap="square" lIns="0" tIns="0" rIns="0" bIns="0" rtlCol="0" anchor="ctr"/>
          <a:lstStyle/>
          <a:p>
            <a:pPr indent="0" marL="0">
              <a:buNone/>
            </a:pPr>
            <a:r>
              <a:rPr lang="en-US" sz="1100" i="1" dirty="0">
                <a:solidFill>
                  <a:srgbClr val="1A1A2E"/>
                </a:solidFill>
                <a:latin typeface="Calibri" pitchFamily="34" charset="0"/>
                <a:ea typeface="Calibri" pitchFamily="34" charset="-122"/>
                <a:cs typeface="Calibri" pitchFamily="34" charset="-120"/>
              </a:rPr>
              <a:t>Shorten this to under 100 words without losing the main message.</a:t>
            </a:r>
            <a:endParaRPr lang="en-US" sz="1100" dirty="0"/>
          </a:p>
        </p:txBody>
      </p:sp>
      <p:sp>
        <p:nvSpPr>
          <p:cNvPr id="16" name="Shape 14"/>
          <p:cNvSpPr/>
          <p:nvPr/>
        </p:nvSpPr>
        <p:spPr>
          <a:xfrm>
            <a:off x="457200" y="2633472"/>
            <a:ext cx="8229600" cy="347472"/>
          </a:xfrm>
          <a:prstGeom prst="rect">
            <a:avLst/>
          </a:prstGeom>
          <a:solidFill>
            <a:srgbClr val="F7F9FC"/>
          </a:solidFill>
          <a:ln w="12700">
            <a:solidFill>
              <a:srgbClr val="E5E7EB"/>
            </a:solidFill>
            <a:prstDash val="solid"/>
          </a:ln>
        </p:spPr>
      </p:sp>
      <p:sp>
        <p:nvSpPr>
          <p:cNvPr id="17" name="Text 15"/>
          <p:cNvSpPr/>
          <p:nvPr/>
        </p:nvSpPr>
        <p:spPr>
          <a:xfrm>
            <a:off x="566928" y="2670048"/>
            <a:ext cx="2194560" cy="27432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Different tone</a:t>
            </a:r>
            <a:endParaRPr lang="en-US" sz="1100" dirty="0"/>
          </a:p>
        </p:txBody>
      </p:sp>
      <p:sp>
        <p:nvSpPr>
          <p:cNvPr id="18" name="Text 16"/>
          <p:cNvSpPr/>
          <p:nvPr/>
        </p:nvSpPr>
        <p:spPr>
          <a:xfrm>
            <a:off x="3017520" y="2670048"/>
            <a:ext cx="5577840" cy="274320"/>
          </a:xfrm>
          <a:prstGeom prst="rect">
            <a:avLst/>
          </a:prstGeom>
          <a:noFill/>
          <a:ln/>
        </p:spPr>
        <p:txBody>
          <a:bodyPr wrap="square" lIns="0" tIns="0" rIns="0" bIns="0" rtlCol="0" anchor="ctr"/>
          <a:lstStyle/>
          <a:p>
            <a:pPr indent="0" marL="0">
              <a:buNone/>
            </a:pPr>
            <a:r>
              <a:rPr lang="en-US" sz="1100" i="1" dirty="0">
                <a:solidFill>
                  <a:srgbClr val="1A1A2E"/>
                </a:solidFill>
                <a:latin typeface="Calibri" pitchFamily="34" charset="0"/>
                <a:ea typeface="Calibri" pitchFamily="34" charset="-122"/>
                <a:cs typeface="Calibri" pitchFamily="34" charset="-120"/>
              </a:rPr>
              <a:t>Rewrite this to sound less formal and more conversational.</a:t>
            </a:r>
            <a:endParaRPr lang="en-US" sz="1100" dirty="0"/>
          </a:p>
        </p:txBody>
      </p:sp>
      <p:sp>
        <p:nvSpPr>
          <p:cNvPr id="19" name="Shape 17"/>
          <p:cNvSpPr/>
          <p:nvPr/>
        </p:nvSpPr>
        <p:spPr>
          <a:xfrm>
            <a:off x="457200" y="2999232"/>
            <a:ext cx="8229600" cy="347472"/>
          </a:xfrm>
          <a:prstGeom prst="rect">
            <a:avLst/>
          </a:prstGeom>
          <a:solidFill>
            <a:srgbClr val="FFFFFF"/>
          </a:solidFill>
          <a:ln w="12700">
            <a:solidFill>
              <a:srgbClr val="E5E7EB"/>
            </a:solidFill>
            <a:prstDash val="solid"/>
          </a:ln>
        </p:spPr>
      </p:sp>
      <p:sp>
        <p:nvSpPr>
          <p:cNvPr id="20" name="Text 18"/>
          <p:cNvSpPr/>
          <p:nvPr/>
        </p:nvSpPr>
        <p:spPr>
          <a:xfrm>
            <a:off x="566928" y="3035808"/>
            <a:ext cx="2194560" cy="27432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Different format</a:t>
            </a:r>
            <a:endParaRPr lang="en-US" sz="1100" dirty="0"/>
          </a:p>
        </p:txBody>
      </p:sp>
      <p:sp>
        <p:nvSpPr>
          <p:cNvPr id="21" name="Text 19"/>
          <p:cNvSpPr/>
          <p:nvPr/>
        </p:nvSpPr>
        <p:spPr>
          <a:xfrm>
            <a:off x="3017520" y="3035808"/>
            <a:ext cx="5577840" cy="274320"/>
          </a:xfrm>
          <a:prstGeom prst="rect">
            <a:avLst/>
          </a:prstGeom>
          <a:noFill/>
          <a:ln/>
        </p:spPr>
        <p:txBody>
          <a:bodyPr wrap="square" lIns="0" tIns="0" rIns="0" bIns="0" rtlCol="0" anchor="ctr"/>
          <a:lstStyle/>
          <a:p>
            <a:pPr indent="0" marL="0">
              <a:buNone/>
            </a:pPr>
            <a:r>
              <a:rPr lang="en-US" sz="1100" i="1" dirty="0">
                <a:solidFill>
                  <a:srgbClr val="1A1A2E"/>
                </a:solidFill>
                <a:latin typeface="Calibri" pitchFamily="34" charset="0"/>
                <a:ea typeface="Calibri" pitchFamily="34" charset="-122"/>
                <a:cs typeface="Calibri" pitchFamily="34" charset="-120"/>
              </a:rPr>
              <a:t>Convert this into a table.</a:t>
            </a:r>
            <a:endParaRPr lang="en-US" sz="1100" dirty="0"/>
          </a:p>
        </p:txBody>
      </p:sp>
      <p:sp>
        <p:nvSpPr>
          <p:cNvPr id="22" name="Shape 20"/>
          <p:cNvSpPr/>
          <p:nvPr/>
        </p:nvSpPr>
        <p:spPr>
          <a:xfrm>
            <a:off x="457200" y="3364992"/>
            <a:ext cx="8229600" cy="347472"/>
          </a:xfrm>
          <a:prstGeom prst="rect">
            <a:avLst/>
          </a:prstGeom>
          <a:solidFill>
            <a:srgbClr val="F7F9FC"/>
          </a:solidFill>
          <a:ln w="12700">
            <a:solidFill>
              <a:srgbClr val="E5E7EB"/>
            </a:solidFill>
            <a:prstDash val="solid"/>
          </a:ln>
        </p:spPr>
      </p:sp>
      <p:sp>
        <p:nvSpPr>
          <p:cNvPr id="23" name="Text 21"/>
          <p:cNvSpPr/>
          <p:nvPr/>
        </p:nvSpPr>
        <p:spPr>
          <a:xfrm>
            <a:off x="566928" y="3401568"/>
            <a:ext cx="2194560" cy="27432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Check for gaps</a:t>
            </a:r>
            <a:endParaRPr lang="en-US" sz="1100" dirty="0"/>
          </a:p>
        </p:txBody>
      </p:sp>
      <p:sp>
        <p:nvSpPr>
          <p:cNvPr id="24" name="Text 22"/>
          <p:cNvSpPr/>
          <p:nvPr/>
        </p:nvSpPr>
        <p:spPr>
          <a:xfrm>
            <a:off x="3017520" y="3401568"/>
            <a:ext cx="5577840" cy="274320"/>
          </a:xfrm>
          <a:prstGeom prst="rect">
            <a:avLst/>
          </a:prstGeom>
          <a:noFill/>
          <a:ln/>
        </p:spPr>
        <p:txBody>
          <a:bodyPr wrap="square" lIns="0" tIns="0" rIns="0" bIns="0" rtlCol="0" anchor="ctr"/>
          <a:lstStyle/>
          <a:p>
            <a:pPr indent="0" marL="0">
              <a:buNone/>
            </a:pPr>
            <a:r>
              <a:rPr lang="en-US" sz="1100" i="1" dirty="0">
                <a:solidFill>
                  <a:srgbClr val="1A1A2E"/>
                </a:solidFill>
                <a:latin typeface="Calibri" pitchFamily="34" charset="0"/>
                <a:ea typeface="Calibri" pitchFamily="34" charset="-122"/>
                <a:cs typeface="Calibri" pitchFamily="34" charset="-120"/>
              </a:rPr>
              <a:t>What did you leave out that might be relevant?</a:t>
            </a:r>
            <a:endParaRPr lang="en-US" sz="1100" dirty="0"/>
          </a:p>
        </p:txBody>
      </p:sp>
      <p:sp>
        <p:nvSpPr>
          <p:cNvPr id="25" name="Shape 23"/>
          <p:cNvSpPr/>
          <p:nvPr/>
        </p:nvSpPr>
        <p:spPr>
          <a:xfrm>
            <a:off x="457200" y="3730752"/>
            <a:ext cx="8229600" cy="347472"/>
          </a:xfrm>
          <a:prstGeom prst="rect">
            <a:avLst/>
          </a:prstGeom>
          <a:solidFill>
            <a:srgbClr val="FFFFFF"/>
          </a:solidFill>
          <a:ln w="12700">
            <a:solidFill>
              <a:srgbClr val="E5E7EB"/>
            </a:solidFill>
            <a:prstDash val="solid"/>
          </a:ln>
        </p:spPr>
      </p:sp>
      <p:sp>
        <p:nvSpPr>
          <p:cNvPr id="26" name="Text 24"/>
          <p:cNvSpPr/>
          <p:nvPr/>
        </p:nvSpPr>
        <p:spPr>
          <a:xfrm>
            <a:off x="566928" y="3767328"/>
            <a:ext cx="2194560" cy="27432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Challenge it</a:t>
            </a:r>
            <a:endParaRPr lang="en-US" sz="1100" dirty="0"/>
          </a:p>
        </p:txBody>
      </p:sp>
      <p:sp>
        <p:nvSpPr>
          <p:cNvPr id="27" name="Text 25"/>
          <p:cNvSpPr/>
          <p:nvPr/>
        </p:nvSpPr>
        <p:spPr>
          <a:xfrm>
            <a:off x="3017520" y="3767328"/>
            <a:ext cx="5577840" cy="274320"/>
          </a:xfrm>
          <a:prstGeom prst="rect">
            <a:avLst/>
          </a:prstGeom>
          <a:noFill/>
          <a:ln/>
        </p:spPr>
        <p:txBody>
          <a:bodyPr wrap="square" lIns="0" tIns="0" rIns="0" bIns="0" rtlCol="0" anchor="ctr"/>
          <a:lstStyle/>
          <a:p>
            <a:pPr indent="0" marL="0">
              <a:buNone/>
            </a:pPr>
            <a:r>
              <a:rPr lang="en-US" sz="1100" i="1" dirty="0">
                <a:solidFill>
                  <a:srgbClr val="1A1A2E"/>
                </a:solidFill>
                <a:latin typeface="Calibri" pitchFamily="34" charset="0"/>
                <a:ea typeface="Calibri" pitchFamily="34" charset="-122"/>
                <a:cs typeface="Calibri" pitchFamily="34" charset="-120"/>
              </a:rPr>
              <a:t>What are the weakest parts of this response?</a:t>
            </a:r>
            <a:endParaRPr lang="en-US" sz="1100" dirty="0"/>
          </a:p>
        </p:txBody>
      </p:sp>
      <p:sp>
        <p:nvSpPr>
          <p:cNvPr id="28" name="Shape 26"/>
          <p:cNvSpPr/>
          <p:nvPr/>
        </p:nvSpPr>
        <p:spPr>
          <a:xfrm>
            <a:off x="457200" y="4096512"/>
            <a:ext cx="8229600" cy="347472"/>
          </a:xfrm>
          <a:prstGeom prst="rect">
            <a:avLst/>
          </a:prstGeom>
          <a:solidFill>
            <a:srgbClr val="F7F9FC"/>
          </a:solidFill>
          <a:ln w="12700">
            <a:solidFill>
              <a:srgbClr val="E5E7EB"/>
            </a:solidFill>
            <a:prstDash val="solid"/>
          </a:ln>
        </p:spPr>
      </p:sp>
      <p:sp>
        <p:nvSpPr>
          <p:cNvPr id="29" name="Text 27"/>
          <p:cNvSpPr/>
          <p:nvPr/>
        </p:nvSpPr>
        <p:spPr>
          <a:xfrm>
            <a:off x="566928" y="4133088"/>
            <a:ext cx="2194560" cy="27432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Alternative version</a:t>
            </a:r>
            <a:endParaRPr lang="en-US" sz="1100" dirty="0"/>
          </a:p>
        </p:txBody>
      </p:sp>
      <p:sp>
        <p:nvSpPr>
          <p:cNvPr id="30" name="Text 28"/>
          <p:cNvSpPr/>
          <p:nvPr/>
        </p:nvSpPr>
        <p:spPr>
          <a:xfrm>
            <a:off x="3017520" y="4133088"/>
            <a:ext cx="5577840" cy="274320"/>
          </a:xfrm>
          <a:prstGeom prst="rect">
            <a:avLst/>
          </a:prstGeom>
          <a:noFill/>
          <a:ln/>
        </p:spPr>
        <p:txBody>
          <a:bodyPr wrap="square" lIns="0" tIns="0" rIns="0" bIns="0" rtlCol="0" anchor="ctr"/>
          <a:lstStyle/>
          <a:p>
            <a:pPr indent="0" marL="0">
              <a:buNone/>
            </a:pPr>
            <a:r>
              <a:rPr lang="en-US" sz="1100" i="1" dirty="0">
                <a:solidFill>
                  <a:srgbClr val="1A1A2E"/>
                </a:solidFill>
                <a:latin typeface="Calibri" pitchFamily="34" charset="0"/>
                <a:ea typeface="Calibri" pitchFamily="34" charset="-122"/>
                <a:cs typeface="Calibri" pitchFamily="34" charset="-120"/>
              </a:rPr>
              <a:t>Give me a completely different approach to this.</a:t>
            </a:r>
            <a:endParaRPr lang="en-US" sz="1100" dirty="0"/>
          </a:p>
        </p:txBody>
      </p:sp>
      <p:sp>
        <p:nvSpPr>
          <p:cNvPr id="31" name="Shape 29"/>
          <p:cNvSpPr/>
          <p:nvPr/>
        </p:nvSpPr>
        <p:spPr>
          <a:xfrm>
            <a:off x="457200" y="4462272"/>
            <a:ext cx="8229600" cy="347472"/>
          </a:xfrm>
          <a:prstGeom prst="rect">
            <a:avLst/>
          </a:prstGeom>
          <a:solidFill>
            <a:srgbClr val="FFFFFF"/>
          </a:solidFill>
          <a:ln w="12700">
            <a:solidFill>
              <a:srgbClr val="E5E7EB"/>
            </a:solidFill>
            <a:prstDash val="solid"/>
          </a:ln>
        </p:spPr>
      </p:sp>
      <p:sp>
        <p:nvSpPr>
          <p:cNvPr id="32" name="Text 30"/>
          <p:cNvSpPr/>
          <p:nvPr/>
        </p:nvSpPr>
        <p:spPr>
          <a:xfrm>
            <a:off x="566928" y="4498848"/>
            <a:ext cx="2194560" cy="27432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Explain reasoning</a:t>
            </a:r>
            <a:endParaRPr lang="en-US" sz="1100" dirty="0"/>
          </a:p>
        </p:txBody>
      </p:sp>
      <p:sp>
        <p:nvSpPr>
          <p:cNvPr id="33" name="Text 31"/>
          <p:cNvSpPr/>
          <p:nvPr/>
        </p:nvSpPr>
        <p:spPr>
          <a:xfrm>
            <a:off x="3017520" y="4498848"/>
            <a:ext cx="5577840" cy="274320"/>
          </a:xfrm>
          <a:prstGeom prst="rect">
            <a:avLst/>
          </a:prstGeom>
          <a:noFill/>
          <a:ln/>
        </p:spPr>
        <p:txBody>
          <a:bodyPr wrap="square" lIns="0" tIns="0" rIns="0" bIns="0" rtlCol="0" anchor="ctr"/>
          <a:lstStyle/>
          <a:p>
            <a:pPr indent="0" marL="0">
              <a:buNone/>
            </a:pPr>
            <a:r>
              <a:rPr lang="en-US" sz="1100" i="1" dirty="0">
                <a:solidFill>
                  <a:srgbClr val="1A1A2E"/>
                </a:solidFill>
                <a:latin typeface="Calibri" pitchFamily="34" charset="0"/>
                <a:ea typeface="Calibri" pitchFamily="34" charset="-122"/>
                <a:cs typeface="Calibri" pitchFamily="34" charset="-120"/>
              </a:rPr>
              <a:t>Why did you structure it this way?</a:t>
            </a:r>
            <a:endParaRPr lang="en-US" sz="1100" dirty="0"/>
          </a:p>
        </p:txBody>
      </p:sp>
      <p:sp>
        <p:nvSpPr>
          <p:cNvPr id="34" name="Text 32"/>
          <p:cNvSpPr/>
          <p:nvPr/>
        </p:nvSpPr>
        <p:spPr>
          <a:xfrm>
            <a:off x="8595360" y="4754880"/>
            <a:ext cx="365760" cy="228600"/>
          </a:xfrm>
          <a:prstGeom prst="rect">
            <a:avLst/>
          </a:prstGeom>
          <a:noFill/>
          <a:ln/>
        </p:spPr>
        <p:txBody>
          <a:bodyPr wrap="square"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C39A"/>
          </a:solidFill>
          <a:ln w="12700">
            <a:solidFill>
              <a:srgbClr val="02C39A"/>
            </a:solidFill>
            <a:prstDash val="solid"/>
          </a:ln>
        </p:spPr>
      </p:sp>
      <p:sp>
        <p:nvSpPr>
          <p:cNvPr id="3" name="Shape 1"/>
          <p:cNvSpPr/>
          <p:nvPr/>
        </p:nvSpPr>
        <p:spPr>
          <a:xfrm>
            <a:off x="6583680" y="-731520"/>
            <a:ext cx="3657600" cy="3657600"/>
          </a:xfrm>
          <a:prstGeom prst="ellipse">
            <a:avLst/>
          </a:prstGeom>
          <a:solidFill>
            <a:srgbClr val="028090">
              <a:alpha val="15000"/>
            </a:srgbClr>
          </a:solidFill>
          <a:ln w="12700">
            <a:solidFill>
              <a:srgbClr val="028090">
                <a:alpha val="15000"/>
              </a:srgbClr>
            </a:solidFill>
            <a:prstDash val="solid"/>
          </a:ln>
        </p:spPr>
      </p:sp>
      <p:sp>
        <p:nvSpPr>
          <p:cNvPr id="4" name="Shape 2"/>
          <p:cNvSpPr/>
          <p:nvPr/>
        </p:nvSpPr>
        <p:spPr>
          <a:xfrm>
            <a:off x="-731520" y="3200400"/>
            <a:ext cx="2743200" cy="2743200"/>
          </a:xfrm>
          <a:prstGeom prst="ellipse">
            <a:avLst/>
          </a:prstGeom>
          <a:solidFill>
            <a:srgbClr val="02C39A">
              <a:alpha val="12000"/>
            </a:srgbClr>
          </a:solidFill>
          <a:ln w="12700">
            <a:solidFill>
              <a:srgbClr val="02C39A">
                <a:alpha val="12000"/>
              </a:srgbClr>
            </a:solidFill>
            <a:prstDash val="solid"/>
          </a:ln>
        </p:spPr>
      </p:sp>
      <p:sp>
        <p:nvSpPr>
          <p:cNvPr id="5" name="Text 3"/>
          <p:cNvSpPr/>
          <p:nvPr/>
        </p:nvSpPr>
        <p:spPr>
          <a:xfrm>
            <a:off x="640080" y="1097280"/>
            <a:ext cx="8229600" cy="36576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Topic 02 Complete</a:t>
            </a:r>
            <a:endParaRPr lang="en-US" sz="1400" dirty="0"/>
          </a:p>
        </p:txBody>
      </p:sp>
      <p:sp>
        <p:nvSpPr>
          <p:cNvPr id="6" name="Text 4"/>
          <p:cNvSpPr/>
          <p:nvPr/>
        </p:nvSpPr>
        <p:spPr>
          <a:xfrm>
            <a:off x="640080" y="1508760"/>
            <a:ext cx="8229600" cy="50292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Key Takeaways</a:t>
            </a:r>
            <a:endParaRPr lang="en-US" sz="3200" dirty="0"/>
          </a:p>
        </p:txBody>
      </p:sp>
      <p:sp>
        <p:nvSpPr>
          <p:cNvPr id="7" name="Shape 5"/>
          <p:cNvSpPr/>
          <p:nvPr/>
        </p:nvSpPr>
        <p:spPr>
          <a:xfrm>
            <a:off x="640080" y="2148840"/>
            <a:ext cx="201168" cy="201168"/>
          </a:xfrm>
          <a:prstGeom prst="rect">
            <a:avLst/>
          </a:prstGeom>
          <a:solidFill>
            <a:srgbClr val="02C39A"/>
          </a:solidFill>
          <a:ln w="12700">
            <a:solidFill>
              <a:srgbClr val="02C39A"/>
            </a:solidFill>
            <a:prstDash val="solid"/>
          </a:ln>
        </p:spPr>
      </p:sp>
      <p:sp>
        <p:nvSpPr>
          <p:cNvPr id="8" name="Text 6"/>
          <p:cNvSpPr/>
          <p:nvPr/>
        </p:nvSpPr>
        <p:spPr>
          <a:xfrm>
            <a:off x="960120" y="2112264"/>
            <a:ext cx="7772400" cy="402336"/>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Use GCSE — Goal, Context, Source, Expectations — to structure every prompt</a:t>
            </a:r>
            <a:endParaRPr lang="en-US" sz="1250" dirty="0"/>
          </a:p>
        </p:txBody>
      </p:sp>
      <p:sp>
        <p:nvSpPr>
          <p:cNvPr id="9" name="Shape 7"/>
          <p:cNvSpPr/>
          <p:nvPr/>
        </p:nvSpPr>
        <p:spPr>
          <a:xfrm>
            <a:off x="640080" y="2606040"/>
            <a:ext cx="201168" cy="201168"/>
          </a:xfrm>
          <a:prstGeom prst="rect">
            <a:avLst/>
          </a:prstGeom>
          <a:solidFill>
            <a:srgbClr val="02C39A"/>
          </a:solidFill>
          <a:ln w="12700">
            <a:solidFill>
              <a:srgbClr val="02C39A"/>
            </a:solidFill>
            <a:prstDash val="solid"/>
          </a:ln>
        </p:spPr>
      </p:sp>
      <p:sp>
        <p:nvSpPr>
          <p:cNvPr id="10" name="Text 8"/>
          <p:cNvSpPr/>
          <p:nvPr/>
        </p:nvSpPr>
        <p:spPr>
          <a:xfrm>
            <a:off x="960120" y="2569464"/>
            <a:ext cx="7772400" cy="402336"/>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The same request produces very different results depending on how much structure you give it</a:t>
            </a:r>
            <a:endParaRPr lang="en-US" sz="1250" dirty="0"/>
          </a:p>
        </p:txBody>
      </p:sp>
      <p:sp>
        <p:nvSpPr>
          <p:cNvPr id="11" name="Shape 9"/>
          <p:cNvSpPr/>
          <p:nvPr/>
        </p:nvSpPr>
        <p:spPr>
          <a:xfrm>
            <a:off x="640080" y="3063240"/>
            <a:ext cx="201168" cy="201168"/>
          </a:xfrm>
          <a:prstGeom prst="rect">
            <a:avLst/>
          </a:prstGeom>
          <a:solidFill>
            <a:srgbClr val="02C39A"/>
          </a:solidFill>
          <a:ln w="12700">
            <a:solidFill>
              <a:srgbClr val="02C39A"/>
            </a:solidFill>
            <a:prstDash val="solid"/>
          </a:ln>
        </p:spPr>
      </p:sp>
      <p:sp>
        <p:nvSpPr>
          <p:cNvPr id="12" name="Text 10"/>
          <p:cNvSpPr/>
          <p:nvPr/>
        </p:nvSpPr>
        <p:spPr>
          <a:xfrm>
            <a:off x="960120" y="3026664"/>
            <a:ext cx="7772400" cy="402336"/>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In M365 apps Copilot already sees your document — your prompts can be shorter and more direct</a:t>
            </a:r>
            <a:endParaRPr lang="en-US" sz="1250" dirty="0"/>
          </a:p>
        </p:txBody>
      </p:sp>
      <p:sp>
        <p:nvSpPr>
          <p:cNvPr id="13" name="Shape 11"/>
          <p:cNvSpPr/>
          <p:nvPr/>
        </p:nvSpPr>
        <p:spPr>
          <a:xfrm>
            <a:off x="640080" y="3520440"/>
            <a:ext cx="201168" cy="201168"/>
          </a:xfrm>
          <a:prstGeom prst="rect">
            <a:avLst/>
          </a:prstGeom>
          <a:solidFill>
            <a:srgbClr val="02C39A"/>
          </a:solidFill>
          <a:ln w="12700">
            <a:solidFill>
              <a:srgbClr val="02C39A"/>
            </a:solidFill>
            <a:prstDash val="solid"/>
          </a:ln>
        </p:spPr>
      </p:sp>
      <p:sp>
        <p:nvSpPr>
          <p:cNvPr id="14" name="Text 12"/>
          <p:cNvSpPr/>
          <p:nvPr/>
        </p:nvSpPr>
        <p:spPr>
          <a:xfrm>
            <a:off x="960120" y="3483864"/>
            <a:ext cx="7772400" cy="402336"/>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The first response is a starting point, not a final answer — iterate rather than restart</a:t>
            </a:r>
            <a:endParaRPr lang="en-US" sz="1250" dirty="0"/>
          </a:p>
        </p:txBody>
      </p:sp>
      <p:sp>
        <p:nvSpPr>
          <p:cNvPr id="15" name="Shape 13"/>
          <p:cNvSpPr/>
          <p:nvPr/>
        </p:nvSpPr>
        <p:spPr>
          <a:xfrm>
            <a:off x="640080" y="3977640"/>
            <a:ext cx="201168" cy="201168"/>
          </a:xfrm>
          <a:prstGeom prst="rect">
            <a:avLst/>
          </a:prstGeom>
          <a:solidFill>
            <a:srgbClr val="02C39A"/>
          </a:solidFill>
          <a:ln w="12700">
            <a:solidFill>
              <a:srgbClr val="02C39A"/>
            </a:solidFill>
            <a:prstDash val="solid"/>
          </a:ln>
        </p:spPr>
      </p:sp>
      <p:sp>
        <p:nvSpPr>
          <p:cNvPr id="16" name="Text 14"/>
          <p:cNvSpPr/>
          <p:nvPr/>
        </p:nvSpPr>
        <p:spPr>
          <a:xfrm>
            <a:off x="960120" y="3941064"/>
            <a:ext cx="7772400" cy="402336"/>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Never paste sensitive data: employee details, IC numbers, salary figures, or client contracts</a:t>
            </a:r>
            <a:endParaRPr lang="en-US" sz="1250" dirty="0"/>
          </a:p>
        </p:txBody>
      </p:sp>
      <p:sp>
        <p:nvSpPr>
          <p:cNvPr id="17" name="Shape 15"/>
          <p:cNvSpPr/>
          <p:nvPr/>
        </p:nvSpPr>
        <p:spPr>
          <a:xfrm>
            <a:off x="640080" y="4645152"/>
            <a:ext cx="7863840" cy="292608"/>
          </a:xfrm>
          <a:prstGeom prst="rect">
            <a:avLst/>
          </a:prstGeom>
          <a:solidFill>
            <a:srgbClr val="028090">
              <a:alpha val="30000"/>
            </a:srgbClr>
          </a:solidFill>
          <a:ln w="12700">
            <a:solidFill>
              <a:srgbClr val="028090">
                <a:alpha val="30000"/>
              </a:srgbClr>
            </a:solidFill>
            <a:prstDash val="solid"/>
          </a:ln>
        </p:spPr>
      </p:sp>
      <p:sp>
        <p:nvSpPr>
          <p:cNvPr id="18" name="Text 16"/>
          <p:cNvSpPr/>
          <p:nvPr/>
        </p:nvSpPr>
        <p:spPr>
          <a:xfrm>
            <a:off x="777240" y="4663440"/>
            <a:ext cx="7680960" cy="256032"/>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Next up: Topic 03 — Copilot Chat  →  Research phase for your AI Usage Guide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02 — Prompt Engineering</dc:title>
  <dc:subject>PptxGenJS Presentation</dc:subject>
  <dc:creator>Asraf</dc:creator>
  <cp:lastModifiedBy>Asraf</cp:lastModifiedBy>
  <cp:revision>1</cp:revision>
  <dcterms:created xsi:type="dcterms:W3CDTF">2026-05-01T18:29:32Z</dcterms:created>
  <dcterms:modified xsi:type="dcterms:W3CDTF">2026-05-01T18:29:32Z</dcterms:modified>
</cp:coreProperties>
</file>